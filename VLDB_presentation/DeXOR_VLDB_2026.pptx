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6" r:id="rId2"/>
    <p:sldId id="278" r:id="rId3"/>
    <p:sldId id="257" r:id="rId4"/>
    <p:sldId id="259" r:id="rId5"/>
    <p:sldId id="277" r:id="rId6"/>
    <p:sldId id="279" r:id="rId7"/>
    <p:sldId id="272" r:id="rId8"/>
    <p:sldId id="282" r:id="rId9"/>
    <p:sldId id="283" r:id="rId10"/>
    <p:sldId id="262" r:id="rId11"/>
    <p:sldId id="276" r:id="rId12"/>
    <p:sldId id="263" r:id="rId13"/>
    <p:sldId id="284" r:id="rId14"/>
    <p:sldId id="264" r:id="rId15"/>
    <p:sldId id="265" r:id="rId16"/>
    <p:sldId id="285" r:id="rId17"/>
    <p:sldId id="286" r:id="rId18"/>
    <p:sldId id="280" r:id="rId19"/>
    <p:sldId id="266" r:id="rId20"/>
    <p:sldId id="267" r:id="rId21"/>
    <p:sldId id="268" r:id="rId22"/>
    <p:sldId id="281" r:id="rId23"/>
    <p:sldId id="269" r:id="rId24"/>
    <p:sldId id="287" r:id="rId25"/>
    <p:sldId id="271" r:id="rId2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4530D"/>
    <a:srgbClr val="9C63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765" autoAdjust="0"/>
  </p:normalViewPr>
  <p:slideViewPr>
    <p:cSldViewPr snapToGrid="0" snapToObjects="1">
      <p:cViewPr varScale="1">
        <p:scale>
          <a:sx n="40" d="100"/>
          <a:sy n="40" d="100"/>
        </p:scale>
        <p:origin x="942" y="2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a:latin typeface="Arial" panose="020B0604020202020204"/>
                <a:ea typeface="Arial" panose="020B0604020202020204"/>
                <a:cs typeface="Arial" panose="020B0604020202020204"/>
              </a:rPr>
              <a:t>Good afternoon. Today I will present DeXOR, a streaming lossless compression scheme for floating-point data. Its key idea is to expose similarities directly in decimal space, instead of relying only on binary XOR, and then encode the remaining suffix efficiently.</a:t>
            </a:r>
            <a:endParaRPr sz="1800">
              <a:latin typeface="Arial" panose="020B0604020202020204"/>
              <a:ea typeface="Arial" panose="020B0604020202020204"/>
              <a:cs typeface="Arial" panose="020B0604020202020204"/>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60607"/>
                </a:solidFill>
                <a:latin typeface="-apple-system"/>
                <a:ea typeface="-apple-system"/>
                <a:cs typeface="-apple-system"/>
              </a:rPr>
              <a:t>I will begin with the motivation and existing schemes. </a:t>
            </a:r>
            <a:endParaRPr b="0" i="0" dirty="0">
              <a:solidFill>
                <a:srgbClr val="060607"/>
              </a:solidFill>
              <a:latin typeface="-apple-system"/>
              <a:ea typeface="-apple-system"/>
              <a:cs typeface="-apple-system"/>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060607"/>
                </a:solidFill>
                <a:latin typeface="-apple-system"/>
                <a:ea typeface="-apple-system"/>
                <a:cs typeface="-apple-system"/>
              </a:rPr>
              <a:t>Streaming floating-point data creates three needs. First, data volume is large, so compression matters. Second, small numerical errors can be unacceptable in industrial control, finance, or scientific measurement, so recovery must be exact. Third, new values should be compressed without decoding old data. Together, these requirements define streaming lossless compression, or SLC.</a:t>
            </a:r>
            <a:endParaRPr b="0" i="0">
              <a:solidFill>
                <a:srgbClr val="060607"/>
              </a:solidFill>
              <a:latin typeface="-apple-system"/>
              <a:ea typeface="-apple-system"/>
              <a:cs typeface="-apple-system"/>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060607"/>
                </a:solidFill>
                <a:latin typeface="-apple-system"/>
                <a:ea typeface="-apple-system"/>
                <a:cs typeface="-apple-system"/>
              </a:rPr>
              <a:t>Existing schemes exploit two sources of redundancy. Gorilla and Chimp use smoothness between adjacent values, often through XOR. PDE and ALP reduce redundancy within each value by scaling decimals to integers. Elf and Camel try to combine both ideas. However, their representation conversion can weaken the smoothness used by the next step. This interference motivates us to rethink the conversion itself.</a:t>
            </a:r>
            <a:endParaRPr b="0" i="0" dirty="0">
              <a:solidFill>
                <a:srgbClr val="060607"/>
              </a:solidFill>
              <a:latin typeface="-apple-system"/>
              <a:ea typeface="-apple-system"/>
              <a:cs typeface="-apple-system"/>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060607"/>
                </a:solidFill>
                <a:latin typeface="-apple-system"/>
                <a:ea typeface="-apple-system"/>
                <a:cs typeface="-apple-system"/>
              </a:rPr>
              <a:t>Our answer is Decimal XOR, an XOR-like operation in decimal space. It removes the shared decimal prefix and leaves a compact suffix. A practical design must still solve three problems: exact recovery despite binary-decimal rounding, low computation and metadata overhead, and robust compression when high-precision values provide little redundancy.</a:t>
            </a:r>
            <a:endParaRPr b="0" i="0" dirty="0">
              <a:solidFill>
                <a:srgbClr val="060607"/>
              </a:solidFill>
              <a:latin typeface="-apple-system"/>
              <a:ea typeface="-apple-system"/>
              <a:cs typeface="-apple-system"/>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060607"/>
                </a:solidFill>
                <a:latin typeface="-apple-system"/>
                <a:ea typeface="-apple-system"/>
                <a:cs typeface="-apple-system"/>
              </a:rPr>
              <a:t>With the motivation established, I will now explain Decimal XOR and the complete DeXOR workflow.</a:t>
            </a:r>
            <a:endParaRPr b="0" i="0">
              <a:solidFill>
                <a:srgbClr val="060607"/>
              </a:solidFill>
              <a:latin typeface="-apple-system"/>
              <a:ea typeface="-apple-system"/>
              <a:cs typeface="-apple-system"/>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060607"/>
                </a:solidFill>
                <a:latin typeface="-apple-system"/>
                <a:ea typeface="-apple-system"/>
                <a:cs typeface="-apple-system"/>
              </a:rPr>
              <a:t>DeXOR has three main components. First, the converter uses Decimal XOR to expose a shorter decimal suffix and records the coordinates needed for reconstruction.</a:t>
            </a:r>
            <a:endParaRPr b="0" i="0">
              <a:solidFill>
                <a:srgbClr val="060607"/>
              </a:solidFill>
              <a:latin typeface="-apple-system"/>
              <a:ea typeface="-apple-system"/>
              <a:cs typeface="-apple-system"/>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060607"/>
                </a:solidFill>
                <a:latin typeface="-apple-system"/>
                <a:ea typeface="-apple-system"/>
                <a:cs typeface="-apple-system"/>
              </a:rPr>
              <a:t>Second, the compressor receives only the remaining suffix. It uses the decimal length to reduce the storage cost of both the suffix and its metadata.</a:t>
            </a:r>
            <a:endParaRPr b="0" i="0">
              <a:solidFill>
                <a:srgbClr val="060607"/>
              </a:solidFill>
              <a:latin typeface="-apple-system"/>
              <a:ea typeface="-apple-system"/>
              <a:cs typeface="-apple-system"/>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060607"/>
                </a:solidFill>
                <a:latin typeface="-apple-system"/>
                <a:ea typeface="-apple-system"/>
                <a:cs typeface="-apple-system"/>
              </a:rPr>
              <a:t>Third, the Exception Handler receives values that compress poorly or fail reconstruction verification. It follows a purely binary path, which prevents compressed-size expansion and guarantees bitwise recovery.</a:t>
            </a:r>
            <a:endParaRPr b="0" i="0" dirty="0">
              <a:solidFill>
                <a:srgbClr val="060607"/>
              </a:solidFill>
              <a:latin typeface="-apple-system"/>
              <a:ea typeface="-apple-system"/>
              <a:cs typeface="-apple-system"/>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060607"/>
                </a:solidFill>
                <a:latin typeface="-apple-system"/>
                <a:ea typeface="-apple-system"/>
                <a:cs typeface="-apple-system"/>
              </a:rPr>
              <a:t>Here is the core converter operation. We compare the current value with its predecessor in decimal coordinates and find their longest common prefix. The prefix can be reconstructed from the previous value, so only the remaining decimal suffix is passed to the compressor.</a:t>
            </a:r>
            <a:endParaRPr b="0" i="0">
              <a:solidFill>
                <a:srgbClr val="060607"/>
              </a:solidFill>
              <a:latin typeface="-apple-system"/>
              <a:ea typeface="-apple-system"/>
              <a:cs typeface="-apple-system"/>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060607"/>
                </a:solidFill>
                <a:latin typeface="-apple-system"/>
                <a:ea typeface="-apple-system"/>
                <a:cs typeface="-apple-system"/>
              </a:rPr>
              <a:t>The converter also records the prefix and tail coordinates. When consecutive values use the same coordinates, DeXOR reuses them instead of writing them again. This reduces metadata while keeping the same reconstruction path.</a:t>
            </a:r>
            <a:endParaRPr b="0" i="0">
              <a:solidFill>
                <a:srgbClr val="060607"/>
              </a:solidFill>
              <a:latin typeface="-apple-system"/>
              <a:ea typeface="-apple-system"/>
              <a:cs typeface="-apple-system"/>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060607"/>
                </a:solidFill>
                <a:latin typeface="-apple-system"/>
                <a:ea typeface="-apple-system"/>
                <a:cs typeface="-apple-system"/>
              </a:rPr>
              <a:t>A vanilla variable-length encoding stores three parts: one sign bit, the binary-suffix length, and the suffix itself. When the suffix is short, the length metadata becomes a large part of the output.</a:t>
            </a:r>
            <a:endParaRPr b="0" i="0">
              <a:solidFill>
                <a:srgbClr val="060607"/>
              </a:solidFill>
              <a:latin typeface="-apple-system"/>
              <a:ea typeface="-apple-system"/>
              <a:cs typeface="-apple-system"/>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060607"/>
                </a:solidFill>
                <a:latin typeface="-apple-system"/>
                <a:ea typeface="-apple-system"/>
                <a:cs typeface="-apple-system"/>
              </a:rPr>
              <a:t>DeXOR removes this overhead in two steps. The suffix sign is consistent with the prefix difference, so it is usually omitted. Then the decimal length gives a fixed upper bound for the binary width. We pad to that width without storing a separate binary length.</a:t>
            </a:r>
            <a:endParaRPr b="0" i="0">
              <a:solidFill>
                <a:srgbClr val="060607"/>
              </a:solidFill>
              <a:latin typeface="-apple-system"/>
              <a:ea typeface="-apple-system"/>
              <a:cs typeface="-apple-system"/>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060607"/>
                </a:solidFill>
                <a:latin typeface="-apple-system"/>
                <a:ea typeface="-apple-system"/>
                <a:cs typeface="-apple-system"/>
              </a:rPr>
              <a:t>Binary-decimal conversion can create tiny rounding errors. DeXOR scales the value toward an integer at the tested coordinate. If the scaled value is within Delta of an integer, it is treated as that integer for coordinate judgment. This compensates for most rounding errors. The encoder still verifies reconstruction, and any remaining failure goes to the Exception Handler.</a:t>
            </a:r>
            <a:endParaRPr b="0" i="0">
              <a:solidFill>
                <a:srgbClr val="060607"/>
              </a:solidFill>
              <a:latin typeface="-apple-system"/>
              <a:ea typeface="-apple-system"/>
              <a:cs typeface="-apple-system"/>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060607"/>
                </a:solidFill>
                <a:latin typeface="-apple-system"/>
                <a:ea typeface="-apple-system"/>
                <a:cs typeface="-apple-system"/>
              </a:rPr>
              <a:t>For high-precision values, the fraction often has little smoothness, while the exponent is more stable. The Exception Handler therefore subtracts adjacent exponents and keeps the sign and fraction in their original binary form.</a:t>
            </a:r>
            <a:endParaRPr b="0" i="0">
              <a:solidFill>
                <a:srgbClr val="060607"/>
              </a:solidFill>
              <a:latin typeface="-apple-system"/>
              <a:ea typeface="-apple-system"/>
              <a:cs typeface="-apple-system"/>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060607"/>
                </a:solidFill>
                <a:latin typeface="-apple-system"/>
                <a:ea typeface="-apple-system"/>
                <a:cs typeface="-apple-system"/>
              </a:rPr>
              <a:t>The exponent difference is stored with an adaptive width, EL. If rho consecutive differences fit a smaller range, EL contracts by one bit. This avoids storing a separate length for every value.</a:t>
            </a:r>
            <a:endParaRPr b="0" i="0">
              <a:solidFill>
                <a:srgbClr val="060607"/>
              </a:solidFill>
              <a:latin typeface="-apple-system"/>
              <a:ea typeface="-apple-system"/>
              <a:cs typeface="-apple-system"/>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060607"/>
                </a:solidFill>
                <a:latin typeface="-apple-system"/>
                <a:ea typeface="-apple-system"/>
                <a:cs typeface="-apple-system"/>
              </a:rPr>
              <a:t>If the current difference does not fit, an all-one code signals overflow. The original IEEE754 value is stored for exact recovery, and EL expands by one bit for later values. The path is therefore adaptive and safe.</a:t>
            </a:r>
            <a:endParaRPr b="0" i="0">
              <a:solidFill>
                <a:srgbClr val="060607"/>
              </a:solidFill>
              <a:latin typeface="-apple-system"/>
              <a:ea typeface="-apple-system"/>
              <a:cs typeface="-apple-system"/>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060607"/>
                </a:solidFill>
                <a:latin typeface="-apple-system"/>
                <a:ea typeface="-apple-system"/>
                <a:cs typeface="-apple-system"/>
              </a:rPr>
              <a:t>Now I will summarize the evaluation settings and the main results.</a:t>
            </a:r>
            <a:endParaRPr b="0" i="0">
              <a:solidFill>
                <a:srgbClr val="060607"/>
              </a:solidFill>
              <a:latin typeface="-apple-system"/>
              <a:ea typeface="-apple-system"/>
              <a:cs typeface="-apple-system"/>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060607"/>
                </a:solidFill>
                <a:latin typeface="-apple-system"/>
                <a:ea typeface="-apple-system"/>
                <a:cs typeface="-apple-system"/>
              </a:rPr>
              <a:t>We evaluate DeXOR on 22 public datasets from prior work. They include time-series and non-time-series streams with different precision. The primary comparison uses five baselines plus DeXOR under the same one-predecessor setting. We also report schemes with larger buffers using the configuration recommended by their authors. The main metrics are compressed size, compression throughput, and decompression throughput.</a:t>
            </a:r>
            <a:endParaRPr b="0" i="0">
              <a:solidFill>
                <a:srgbClr val="060607"/>
              </a:solidFill>
              <a:latin typeface="-apple-system"/>
              <a:ea typeface="-apple-system"/>
              <a:cs typeface="-apple-system"/>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060607"/>
                </a:solidFill>
                <a:latin typeface="-apple-system"/>
                <a:ea typeface="-apple-system"/>
                <a:cs typeface="-apple-system"/>
              </a:rPr>
              <a:t>Across the 22 datasets, DeXOR improves compression ratio by 15 percent and decompression speed by 20 percent over the best competitors, while compression speed remains competitive. The largest gains appear when Decimal XOR leaves a short suffix. The paper reports the full per-dataset results.</a:t>
            </a:r>
            <a:endParaRPr b="0" i="0">
              <a:solidFill>
                <a:srgbClr val="060607"/>
              </a:solidFill>
              <a:latin typeface="-apple-system"/>
              <a:ea typeface="-apple-system"/>
              <a:cs typeface="-apple-system"/>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060607"/>
                </a:solidFill>
                <a:latin typeface="-apple-system"/>
                <a:ea typeface="-apple-system"/>
                <a:cs typeface="-apple-system"/>
              </a:rPr>
              <a:t>These experiments test two risks. On high-precision data, the main Decimal XOR path can exceed the 64-bit input size, but the Exception Handler keeps the final output below that baseline. Random sampling disrupts contextual continuity and weakens smoothness. DeXOR remains robust because it can still exploit representation redundancy within each value.</a:t>
            </a:r>
            <a:endParaRPr b="0" i="0">
              <a:solidFill>
                <a:srgbClr val="060607"/>
              </a:solidFill>
              <a:latin typeface="-apple-system"/>
              <a:ea typeface="-apple-system"/>
              <a:cs typeface="-apple-system"/>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060607"/>
                </a:solidFill>
                <a:latin typeface="-apple-system"/>
                <a:ea typeface="-apple-system"/>
                <a:cs typeface="-apple-system"/>
              </a:rPr>
              <a:t>Finally, I will briefly introduce the error-bounded member of the DeXOR family.</a:t>
            </a:r>
            <a:endParaRPr b="0" i="0">
              <a:solidFill>
                <a:srgbClr val="060607"/>
              </a:solidFill>
              <a:latin typeface="-apple-system"/>
              <a:ea typeface="-apple-system"/>
              <a:cs typeface="-apple-system"/>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060607"/>
                </a:solidFill>
                <a:latin typeface="-apple-system"/>
                <a:ea typeface="-apple-system"/>
                <a:cs typeface="-apple-system"/>
              </a:rPr>
              <a:t>In an updated version under preparation, we also study streaming error-bounded compression. E-DeXOR uses the global error bound as a decimal anchor, removes low-order digits, and simplifies metadata. The previous reconstructed value remains the default reference, while prediction is optional. DeXOR targets bitwise-exact SLC, and E-DeXOR extends the same Decimal XOR view to error-bounded streams.</a:t>
            </a:r>
            <a:endParaRPr b="0" i="0">
              <a:solidFill>
                <a:srgbClr val="060607"/>
              </a:solidFill>
              <a:latin typeface="-apple-system"/>
              <a:ea typeface="-apple-system"/>
              <a:cs typeface="-apple-system"/>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0F7F5-9E20-1474-168C-54D5446B9F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13AFA2-78D8-C3E8-C64B-429E6EDACE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331DB9-6243-EE6F-FA96-F7C8D9503BEE}"/>
              </a:ext>
            </a:extLst>
          </p:cNvPr>
          <p:cNvSpPr>
            <a:spLocks noGrp="1"/>
          </p:cNvSpPr>
          <p:nvPr>
            <p:ph type="body" idx="1"/>
          </p:nvPr>
        </p:nvSpPr>
        <p:spPr/>
        <p:txBody>
          <a:bodyPr/>
          <a:lstStyle/>
          <a:p>
            <a:r>
              <a:rPr lang="en-US" b="0" i="0">
                <a:solidFill>
                  <a:srgbClr val="060607"/>
                </a:solidFill>
                <a:latin typeface="-apple-system"/>
                <a:ea typeface="-apple-system"/>
                <a:cs typeface="-apple-system"/>
              </a:rPr>
              <a:t>To summarize, existing schemes exploit smoothness or representation redundancy, but conversion can interfere with using both. Decimal XOR preserves the shared decimal prefix and exposes a short suffix. DeXOR addresses the practical challenges through scaled truncation with error-tolerant rounding, coordinate reuse and tailored suffix encoding, and a binary Exception Handler. Across 22 datasets, it improves compression ratio by 15 percent and decompression speed by 20 percent.</a:t>
            </a:r>
            <a:endParaRPr b="0" i="0" dirty="0">
              <a:solidFill>
                <a:srgbClr val="060607"/>
              </a:solidFill>
              <a:latin typeface="-apple-system"/>
              <a:ea typeface="-apple-system"/>
              <a:cs typeface="-apple-system"/>
            </a:endParaRPr>
          </a:p>
        </p:txBody>
      </p:sp>
      <p:sp>
        <p:nvSpPr>
          <p:cNvPr id="4" name="Slide Number Placeholder 3">
            <a:extLst>
              <a:ext uri="{FF2B5EF4-FFF2-40B4-BE49-F238E27FC236}">
                <a16:creationId xmlns:a16="http://schemas.microsoft.com/office/drawing/2014/main" id="{BFC6D45A-FB28-6AD1-D928-0EC959FF583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9076123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a:latin typeface="Arial" panose="020B0604020202020204"/>
                <a:ea typeface="Arial" panose="020B0604020202020204"/>
                <a:cs typeface="Arial" panose="020B0604020202020204"/>
              </a:rPr>
              <a:t>Thank you for your attention. The code and complete experimental materials are available in our repository. I am happy to take questions.</a:t>
            </a:r>
            <a:endParaRPr sz="1800">
              <a:latin typeface="Arial" panose="020B0604020202020204"/>
              <a:ea typeface="Arial" panose="020B0604020202020204"/>
              <a:cs typeface="Arial" panose="020B0604020202020204"/>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标题 1"/>
          <p:cNvSpPr>
            <a:spLocks noGrp="1"/>
          </p:cNvSpPr>
          <p:nvPr/>
        </p:nvSpPr>
        <p:spPr>
          <a:xfrm>
            <a:off x="0" y="1"/>
            <a:ext cx="12192000" cy="2754629"/>
          </a:xfrm>
          <a:prstGeom prst="rect">
            <a:avLst/>
          </a:prstGeom>
          <a:solidFill>
            <a:schemeClr val="accent1">
              <a:lumMod val="40000"/>
              <a:lumOff val="60000"/>
            </a:schemeClr>
          </a:solidFill>
        </p:spPr>
        <p:txBody>
          <a:bodyPr vert="horz" lIns="91440" tIns="45720" rIns="91440" bIns="45720" anchor="ctr">
            <a:normAutofit/>
          </a:bodyPr>
          <a:lstStyle>
            <a:lvl1pPr algn="l" defTabSz="914400">
              <a:lnSpc>
                <a:spcPct val="90000"/>
              </a:lnSpc>
              <a:spcBef>
                <a:spcPct val="0"/>
              </a:spcBef>
              <a:buNone/>
              <a:defRPr sz="4400" kern="1200">
                <a:solidFill>
                  <a:schemeClr val="tx1"/>
                </a:solidFill>
                <a:latin typeface="+mj-lt"/>
                <a:ea typeface="+mj-lt"/>
                <a:cs typeface="+mj-lt"/>
              </a:defRPr>
            </a:lvl1pPr>
          </a:lstStyle>
          <a:p>
            <a:pPr marL="0" marR="0" lvl="0" indent="0" algn="ctr" defTabSz="914400">
              <a:lnSpc>
                <a:spcPct val="130000"/>
              </a:lnSpc>
              <a:spcBef>
                <a:spcPct val="0"/>
              </a:spcBef>
              <a:spcAft>
                <a:spcPts val="0"/>
              </a:spcAft>
              <a:buClrTx/>
              <a:buSzTx/>
              <a:buFontTx/>
              <a:buNone/>
            </a:pPr>
            <a:endParaRPr sz="4400" b="1" i="0">
              <a:latin typeface="Candara" panose="020E0502030303020204"/>
              <a:ea typeface="Candara" panose="020E0502030303020204"/>
              <a:cs typeface="Candara" panose="020E0502030303020204"/>
            </a:endParaRPr>
          </a:p>
        </p:txBody>
      </p:sp>
      <p:sp>
        <p:nvSpPr>
          <p:cNvPr id="2" name="标题 1"/>
          <p:cNvSpPr>
            <a:spLocks noGrp="1"/>
          </p:cNvSpPr>
          <p:nvPr>
            <p:ph type="ctrTitle"/>
          </p:nvPr>
        </p:nvSpPr>
        <p:spPr>
          <a:xfrm>
            <a:off x="0" y="0"/>
            <a:ext cx="12192000" cy="2754629"/>
          </a:xfrm>
        </p:spPr>
        <p:txBody>
          <a:bodyPr anchor="ctr">
            <a:normAutofit/>
          </a:bodyPr>
          <a:lstStyle>
            <a:lvl1pPr algn="ctr">
              <a:buNone/>
              <a:defRPr sz="4000" b="1" i="0" kern="1200">
                <a:solidFill>
                  <a:schemeClr val="tx1"/>
                </a:solidFill>
                <a:latin typeface="Candara" panose="020E0502030303020204"/>
                <a:ea typeface="Candara" panose="020E0502030303020204"/>
                <a:cs typeface="Candara" panose="020E0502030303020204"/>
              </a:defRPr>
            </a:lvl1pPr>
          </a:lstStyle>
          <a:p>
            <a:pPr marL="0" marR="0" lvl="0" indent="0" algn="ctr" defTabSz="914400">
              <a:lnSpc>
                <a:spcPct val="130000"/>
              </a:lnSpc>
              <a:spcBef>
                <a:spcPct val="0"/>
              </a:spcBef>
              <a:spcAft>
                <a:spcPts val="0"/>
              </a:spcAft>
              <a:buClrTx/>
              <a:buSzTx/>
              <a:buFontTx/>
              <a:buNone/>
            </a:pPr>
            <a:r>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单击此处编辑母版副标题样式</a:t>
            </a:r>
          </a:p>
        </p:txBody>
      </p:sp>
      <p:sp>
        <p:nvSpPr>
          <p:cNvPr id="4" name="日期占位符 3"/>
          <p:cNvSpPr>
            <a:spLocks noGrp="1"/>
          </p:cNvSpPr>
          <p:nvPr>
            <p:ph type="dt" idx="10"/>
          </p:nvPr>
        </p:nvSpPr>
        <p:spPr/>
        <p:txBody>
          <a:bodyPr/>
          <a:lstStyle/>
          <a:p>
            <a:endParaRPr/>
          </a:p>
        </p:txBody>
      </p:sp>
      <p:sp>
        <p:nvSpPr>
          <p:cNvPr id="5" name="页脚占位符 4"/>
          <p:cNvSpPr>
            <a:spLocks noGrp="1"/>
          </p:cNvSpPr>
          <p:nvPr>
            <p:ph type="ftr" idx="11"/>
          </p:nvPr>
        </p:nvSpPr>
        <p:spPr/>
        <p:txBody>
          <a:bodyPr/>
          <a:lstStyle/>
          <a:p>
            <a:endParaRPr/>
          </a:p>
        </p:txBody>
      </p:sp>
      <p:sp>
        <p:nvSpPr>
          <p:cNvPr id="6" name="灯片编号占位符 5"/>
          <p:cNvSpPr>
            <a:spLocks noGrp="1"/>
          </p:cNvSpPr>
          <p:nvPr>
            <p:ph type="sldNum" idx="12"/>
          </p:nvPr>
        </p:nvSpPr>
        <p:spPr>
          <a:xfrm>
            <a:off x="9287256" y="6356350"/>
            <a:ext cx="2743200" cy="365125"/>
          </a:xfrm>
        </p:spPr>
        <p:txBody>
          <a:bodyPr/>
          <a:lstStyle>
            <a:lvl1pPr>
              <a:buNone/>
              <a:defRPr sz="1600"/>
            </a:lvl1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8" name="Rectangle 2"/>
          <p:cNvSpPr>
            <a:spLocks noGrp="1"/>
          </p:cNvSpPr>
          <p:nvPr/>
        </p:nvSpPr>
        <p:spPr>
          <a:xfrm>
            <a:off x="0" y="0"/>
            <a:ext cx="12192000" cy="1143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a:lnSpc>
                <a:spcPct val="100000"/>
              </a:lnSpc>
              <a:spcBef>
                <a:spcPts val="0"/>
              </a:spcBef>
              <a:spcAft>
                <a:spcPts val="0"/>
              </a:spcAft>
              <a:buClrTx/>
              <a:buSzTx/>
              <a:buFontTx/>
              <a:buNone/>
            </a:pPr>
            <a:endParaRPr sz="4000" b="1" i="0">
              <a:latin typeface="Candara" panose="020E0502030303020204"/>
              <a:ea typeface="Candara" panose="020E0502030303020204"/>
              <a:cs typeface="Candara" panose="020E0502030303020204"/>
            </a:endParaRPr>
          </a:p>
        </p:txBody>
      </p:sp>
      <p:sp>
        <p:nvSpPr>
          <p:cNvPr id="2" name="标题 1"/>
          <p:cNvSpPr>
            <a:spLocks noGrp="1"/>
          </p:cNvSpPr>
          <p:nvPr>
            <p:ph type="title"/>
          </p:nvPr>
        </p:nvSpPr>
        <p:spPr>
          <a:xfrm>
            <a:off x="525780" y="6825"/>
            <a:ext cx="11666220" cy="1124745"/>
          </a:xfrm>
        </p:spPr>
        <p:txBody>
          <a:bodyPr>
            <a:normAutofit/>
          </a:bodyPr>
          <a:lstStyle>
            <a:lvl1pPr>
              <a:buNone/>
              <a:defRPr sz="4000" b="1" i="0" kern="1200">
                <a:solidFill>
                  <a:schemeClr val="tx1"/>
                </a:solidFill>
                <a:latin typeface="Candara" panose="020E0502030303020204"/>
                <a:ea typeface="Candara" panose="020E0502030303020204"/>
                <a:cs typeface="Candara" panose="020E0502030303020204"/>
              </a:defRPr>
            </a:lvl1pPr>
          </a:lstStyle>
          <a:p>
            <a:pPr marL="0" marR="0" lvl="0" indent="0" algn="l" defTabSz="914400">
              <a:lnSpc>
                <a:spcPct val="100000"/>
              </a:lnSpc>
              <a:spcBef>
                <a:spcPts val="0"/>
              </a:spcBef>
              <a:spcAft>
                <a:spcPts val="0"/>
              </a:spcAft>
              <a:buClrTx/>
              <a:buSzTx/>
              <a:buFontTx/>
              <a:buNone/>
            </a:pPr>
            <a:r>
              <a:t>单击此处编辑母版标题样式</a:t>
            </a:r>
          </a:p>
        </p:txBody>
      </p:sp>
      <p:sp>
        <p:nvSpPr>
          <p:cNvPr id="3" name="内容占位符 2"/>
          <p:cNvSpPr>
            <a:spLocks noGrp="1"/>
          </p:cNvSpPr>
          <p:nvPr>
            <p:ph idx="1"/>
          </p:nvPr>
        </p:nvSpPr>
        <p:spPr>
          <a:xfrm>
            <a:off x="525780" y="1570625"/>
            <a:ext cx="11294513" cy="4462185"/>
          </a:xfrm>
        </p:spPr>
        <p:txBody>
          <a:bodyPr/>
          <a:lstStyle>
            <a:lvl1pPr marL="228600" indent="-228600">
              <a:buFont typeface="Wingdings" panose="05000000000000000000"/>
              <a:buChar char="Ø"/>
              <a:defRPr>
                <a:latin typeface="Candara" panose="020E0502030303020204"/>
                <a:ea typeface="Candara" panose="020E0502030303020204"/>
                <a:cs typeface="Candara" panose="020E0502030303020204"/>
              </a:defRPr>
            </a:lvl1pPr>
            <a:lvl2pPr marL="685800" indent="-228600">
              <a:buFont typeface="Arial" panose="020B0604020202020204"/>
              <a:buChar char="•"/>
              <a:defRPr>
                <a:latin typeface="Candara" panose="020E0502030303020204"/>
                <a:ea typeface="Candara" panose="020E0502030303020204"/>
                <a:cs typeface="Candara" panose="020E0502030303020204"/>
              </a:defRPr>
            </a:lvl2pPr>
            <a:lvl3pPr marL="1143000" indent="-228600">
              <a:buFont typeface="Arial" panose="020B0604020202020204"/>
              <a:buChar char="•"/>
              <a:defRPr>
                <a:latin typeface="Candara" panose="020E0502030303020204"/>
                <a:ea typeface="Candara" panose="020E0502030303020204"/>
                <a:cs typeface="Candara" panose="020E0502030303020204"/>
              </a:defRPr>
            </a:lvl3pPr>
            <a:lvl4pPr marL="1600200" indent="-228600">
              <a:buFont typeface="Arial" panose="020B0604020202020204"/>
              <a:buChar char="•"/>
              <a:defRPr>
                <a:latin typeface="Candara" panose="020E0502030303020204"/>
                <a:ea typeface="Candara" panose="020E0502030303020204"/>
                <a:cs typeface="Candara" panose="020E0502030303020204"/>
              </a:defRPr>
            </a:lvl4pPr>
            <a:lvl5pPr marL="2057400" indent="-228600">
              <a:buFont typeface="Arial" panose="020B0604020202020204"/>
              <a:buChar char="•"/>
              <a:defRPr>
                <a:latin typeface="Candara" panose="020E0502030303020204"/>
                <a:ea typeface="Candara" panose="020E0502030303020204"/>
                <a:cs typeface="Candara" panose="020E0502030303020204"/>
              </a:defRPr>
            </a:lvl5p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p:cNvSpPr>
            <a:spLocks noGrp="1"/>
          </p:cNvSpPr>
          <p:nvPr>
            <p:ph type="dt" idx="10"/>
          </p:nvPr>
        </p:nvSpPr>
        <p:spPr>
          <a:xfrm>
            <a:off x="7329" y="6486050"/>
            <a:ext cx="2743200" cy="365125"/>
          </a:xfrm>
        </p:spPr>
        <p:txBody>
          <a:bodyPr/>
          <a:lstStyle/>
          <a:p>
            <a:endParaRPr/>
          </a:p>
        </p:txBody>
      </p:sp>
      <p:sp>
        <p:nvSpPr>
          <p:cNvPr id="5" name="页脚占位符 4"/>
          <p:cNvSpPr>
            <a:spLocks noGrp="1"/>
          </p:cNvSpPr>
          <p:nvPr>
            <p:ph type="ftr" idx="11"/>
          </p:nvPr>
        </p:nvSpPr>
        <p:spPr>
          <a:xfrm>
            <a:off x="4038600" y="6486049"/>
            <a:ext cx="4114800" cy="365125"/>
          </a:xfrm>
        </p:spPr>
        <p:txBody>
          <a:bodyPr/>
          <a:lstStyle/>
          <a:p>
            <a:endParaRPr/>
          </a:p>
        </p:txBody>
      </p:sp>
      <p:sp>
        <p:nvSpPr>
          <p:cNvPr id="6" name="灯片编号占位符 5"/>
          <p:cNvSpPr>
            <a:spLocks noGrp="1"/>
          </p:cNvSpPr>
          <p:nvPr>
            <p:ph type="sldNum" idx="12"/>
          </p:nvPr>
        </p:nvSpPr>
        <p:spPr>
          <a:xfrm>
            <a:off x="9441471" y="6467563"/>
            <a:ext cx="2743200" cy="365125"/>
          </a:xfrm>
        </p:spPr>
        <p:txBody>
          <a:bodyPr/>
          <a:lstStyle>
            <a:lvl1pPr>
              <a:buNone/>
              <a:defRPr sz="1600">
                <a:latin typeface="Candara" panose="020E0502030303020204"/>
                <a:ea typeface="Candara" panose="020E0502030303020204"/>
                <a:cs typeface="Candara" panose="020E0502030303020204"/>
              </a:defRPr>
            </a:lvl1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buNone/>
              <a:defRPr sz="6000"/>
            </a:lvl1pPr>
          </a:lstStyle>
          <a:p>
            <a:r>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单击此处编辑母版文本样式</a:t>
            </a:r>
          </a:p>
        </p:txBody>
      </p:sp>
      <p:sp>
        <p:nvSpPr>
          <p:cNvPr id="4" name="日期占位符 3"/>
          <p:cNvSpPr>
            <a:spLocks noGrp="1"/>
          </p:cNvSpPr>
          <p:nvPr>
            <p:ph type="dt" idx="10"/>
          </p:nvPr>
        </p:nvSpPr>
        <p:spPr/>
        <p:txBody>
          <a:bodyPr/>
          <a:lstStyle/>
          <a:p>
            <a:endParaRPr/>
          </a:p>
        </p:txBody>
      </p:sp>
      <p:sp>
        <p:nvSpPr>
          <p:cNvPr id="5" name="页脚占位符 4"/>
          <p:cNvSpPr>
            <a:spLocks noGrp="1"/>
          </p:cNvSpPr>
          <p:nvPr>
            <p:ph type="ftr" idx="11"/>
          </p:nvPr>
        </p:nvSpPr>
        <p:spPr/>
        <p:txBody>
          <a:bodyPr/>
          <a:lstStyle/>
          <a:p>
            <a:endParaRPr/>
          </a:p>
        </p:txBody>
      </p:sp>
      <p:sp>
        <p:nvSpPr>
          <p:cNvPr id="6" name="灯片编号占位符 5"/>
          <p:cNvSpPr>
            <a:spLocks noGrp="1"/>
          </p:cNvSpPr>
          <p:nvPr>
            <p:ph type="sldNum" idx="12"/>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t>单击此处编辑母版标题样式</a:t>
            </a:r>
          </a:p>
        </p:txBody>
      </p:sp>
      <p:sp>
        <p:nvSpPr>
          <p:cNvPr id="3" name="内容占位符 2"/>
          <p:cNvSpPr>
            <a:spLocks noGrp="1"/>
          </p:cNvSpPr>
          <p:nvPr>
            <p:ph idx="1"/>
          </p:nvPr>
        </p:nvSpPr>
        <p:spPr>
          <a:xfrm>
            <a:off x="838200" y="1825625"/>
            <a:ext cx="5181600" cy="435133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内容占位符 3"/>
          <p:cNvSpPr>
            <a:spLocks noGrp="1"/>
          </p:cNvSpPr>
          <p:nvPr>
            <p:ph idx="2"/>
          </p:nvPr>
        </p:nvSpPr>
        <p:spPr>
          <a:xfrm>
            <a:off x="6172200" y="1825625"/>
            <a:ext cx="5181600" cy="435133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5" name="日期占位符 4"/>
          <p:cNvSpPr>
            <a:spLocks noGrp="1"/>
          </p:cNvSpPr>
          <p:nvPr>
            <p:ph type="dt" idx="10"/>
          </p:nvPr>
        </p:nvSpPr>
        <p:spPr/>
        <p:txBody>
          <a:bodyPr/>
          <a:lstStyle/>
          <a:p>
            <a:endParaRPr/>
          </a:p>
        </p:txBody>
      </p:sp>
      <p:sp>
        <p:nvSpPr>
          <p:cNvPr id="6" name="页脚占位符 5"/>
          <p:cNvSpPr>
            <a:spLocks noGrp="1"/>
          </p:cNvSpPr>
          <p:nvPr>
            <p:ph type="ftr" idx="11"/>
          </p:nvPr>
        </p:nvSpPr>
        <p:spPr/>
        <p:txBody>
          <a:bodyPr/>
          <a:lstStyle/>
          <a:p>
            <a:endParaRPr/>
          </a:p>
        </p:txBody>
      </p:sp>
      <p:sp>
        <p:nvSpPr>
          <p:cNvPr id="7" name="灯片编号占位符 6"/>
          <p:cNvSpPr>
            <a:spLocks noGrp="1"/>
          </p:cNvSpPr>
          <p:nvPr>
            <p:ph type="sldNum" idx="12"/>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单击此处编辑母版文本样式</a:t>
            </a:r>
          </a:p>
        </p:txBody>
      </p:sp>
      <p:sp>
        <p:nvSpPr>
          <p:cNvPr id="4" name="内容占位符 3"/>
          <p:cNvSpPr>
            <a:spLocks noGrp="1"/>
          </p:cNvSpPr>
          <p:nvPr>
            <p:ph idx="2"/>
          </p:nvPr>
        </p:nvSpPr>
        <p:spPr>
          <a:xfrm>
            <a:off x="839788" y="2505075"/>
            <a:ext cx="5157787" cy="368458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5" name="文本占位符 4"/>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单击此处编辑母版文本样式</a:t>
            </a:r>
          </a:p>
        </p:txBody>
      </p:sp>
      <p:sp>
        <p:nvSpPr>
          <p:cNvPr id="6" name="内容占位符 5"/>
          <p:cNvSpPr>
            <a:spLocks noGrp="1"/>
          </p:cNvSpPr>
          <p:nvPr>
            <p:ph idx="4"/>
          </p:nvPr>
        </p:nvSpPr>
        <p:spPr>
          <a:xfrm>
            <a:off x="6172200" y="2505075"/>
            <a:ext cx="5183188" cy="368458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7" name="日期占位符 6"/>
          <p:cNvSpPr>
            <a:spLocks noGrp="1"/>
          </p:cNvSpPr>
          <p:nvPr>
            <p:ph type="dt" idx="10"/>
          </p:nvPr>
        </p:nvSpPr>
        <p:spPr/>
        <p:txBody>
          <a:bodyPr/>
          <a:lstStyle/>
          <a:p>
            <a:endParaRPr/>
          </a:p>
        </p:txBody>
      </p:sp>
      <p:sp>
        <p:nvSpPr>
          <p:cNvPr id="8" name="页脚占位符 7"/>
          <p:cNvSpPr>
            <a:spLocks noGrp="1"/>
          </p:cNvSpPr>
          <p:nvPr>
            <p:ph type="ftr" idx="11"/>
          </p:nvPr>
        </p:nvSpPr>
        <p:spPr/>
        <p:txBody>
          <a:bodyPr/>
          <a:lstStyle/>
          <a:p>
            <a:endParaRPr/>
          </a:p>
        </p:txBody>
      </p:sp>
      <p:sp>
        <p:nvSpPr>
          <p:cNvPr id="9" name="灯片编号占位符 8"/>
          <p:cNvSpPr>
            <a:spLocks noGrp="1"/>
          </p:cNvSpPr>
          <p:nvPr>
            <p:ph type="sldNum" idx="12"/>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t>单击此处编辑母版标题样式</a:t>
            </a:r>
          </a:p>
        </p:txBody>
      </p:sp>
      <p:sp>
        <p:nvSpPr>
          <p:cNvPr id="3" name="日期占位符 2"/>
          <p:cNvSpPr>
            <a:spLocks noGrp="1"/>
          </p:cNvSpPr>
          <p:nvPr>
            <p:ph type="dt" idx="10"/>
          </p:nvPr>
        </p:nvSpPr>
        <p:spPr/>
        <p:txBody>
          <a:bodyPr/>
          <a:lstStyle/>
          <a:p>
            <a:endParaRPr/>
          </a:p>
        </p:txBody>
      </p:sp>
      <p:sp>
        <p:nvSpPr>
          <p:cNvPr id="4" name="页脚占位符 3"/>
          <p:cNvSpPr>
            <a:spLocks noGrp="1"/>
          </p:cNvSpPr>
          <p:nvPr>
            <p:ph type="ftr" idx="11"/>
          </p:nvPr>
        </p:nvSpPr>
        <p:spPr/>
        <p:txBody>
          <a:bodyPr/>
          <a:lstStyle/>
          <a:p>
            <a:endParaRPr/>
          </a:p>
        </p:txBody>
      </p:sp>
      <p:sp>
        <p:nvSpPr>
          <p:cNvPr id="5" name="灯片编号占位符 4"/>
          <p:cNvSpPr>
            <a:spLocks noGrp="1"/>
          </p:cNvSpPr>
          <p:nvPr>
            <p:ph type="sldNum" idx="12"/>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idx="10"/>
          </p:nvPr>
        </p:nvSpPr>
        <p:spPr/>
        <p:txBody>
          <a:bodyPr/>
          <a:lstStyle/>
          <a:p>
            <a:endParaRPr/>
          </a:p>
        </p:txBody>
      </p:sp>
      <p:sp>
        <p:nvSpPr>
          <p:cNvPr id="3" name="页脚占位符 2"/>
          <p:cNvSpPr>
            <a:spLocks noGrp="1"/>
          </p:cNvSpPr>
          <p:nvPr>
            <p:ph type="ftr" idx="11"/>
          </p:nvPr>
        </p:nvSpPr>
        <p:spPr/>
        <p:txBody>
          <a:bodyPr/>
          <a:lstStyle/>
          <a:p>
            <a:endParaRPr/>
          </a:p>
        </p:txBody>
      </p:sp>
      <p:sp>
        <p:nvSpPr>
          <p:cNvPr id="4" name="灯片编号占位符 3"/>
          <p:cNvSpPr>
            <a:spLocks noGrp="1"/>
          </p:cNvSpPr>
          <p:nvPr>
            <p:ph type="sldNum" idx="12"/>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内容占位符 2"/>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文本占位符 3"/>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单击此处编辑母版文本样式</a:t>
            </a:r>
          </a:p>
        </p:txBody>
      </p:sp>
      <p:sp>
        <p:nvSpPr>
          <p:cNvPr id="5" name="日期占位符 4"/>
          <p:cNvSpPr>
            <a:spLocks noGrp="1"/>
          </p:cNvSpPr>
          <p:nvPr>
            <p:ph type="dt" idx="10"/>
          </p:nvPr>
        </p:nvSpPr>
        <p:spPr/>
        <p:txBody>
          <a:bodyPr/>
          <a:lstStyle/>
          <a:p>
            <a:endParaRPr/>
          </a:p>
        </p:txBody>
      </p:sp>
      <p:sp>
        <p:nvSpPr>
          <p:cNvPr id="6" name="页脚占位符 5"/>
          <p:cNvSpPr>
            <a:spLocks noGrp="1"/>
          </p:cNvSpPr>
          <p:nvPr>
            <p:ph type="ftr" idx="11"/>
          </p:nvPr>
        </p:nvSpPr>
        <p:spPr/>
        <p:txBody>
          <a:bodyPr/>
          <a:lstStyle/>
          <a:p>
            <a:endParaRPr/>
          </a:p>
        </p:txBody>
      </p:sp>
      <p:sp>
        <p:nvSpPr>
          <p:cNvPr id="7" name="灯片编号占位符 6"/>
          <p:cNvSpPr>
            <a:spLocks noGrp="1"/>
          </p:cNvSpPr>
          <p:nvPr>
            <p:ph type="sldNum" idx="12"/>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文本占位符 3"/>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单击此处编辑母版文本样式</a:t>
            </a:r>
          </a:p>
        </p:txBody>
      </p:sp>
      <p:sp>
        <p:nvSpPr>
          <p:cNvPr id="5" name="日期占位符 4"/>
          <p:cNvSpPr>
            <a:spLocks noGrp="1"/>
          </p:cNvSpPr>
          <p:nvPr>
            <p:ph type="dt" idx="10"/>
          </p:nvPr>
        </p:nvSpPr>
        <p:spPr/>
        <p:txBody>
          <a:bodyPr/>
          <a:lstStyle/>
          <a:p>
            <a:endParaRPr/>
          </a:p>
        </p:txBody>
      </p:sp>
      <p:sp>
        <p:nvSpPr>
          <p:cNvPr id="6" name="页脚占位符 5"/>
          <p:cNvSpPr>
            <a:spLocks noGrp="1"/>
          </p:cNvSpPr>
          <p:nvPr>
            <p:ph type="ftr" idx="11"/>
          </p:nvPr>
        </p:nvSpPr>
        <p:spPr/>
        <p:txBody>
          <a:bodyPr/>
          <a:lstStyle/>
          <a:p>
            <a:endParaRPr/>
          </a:p>
        </p:txBody>
      </p:sp>
      <p:sp>
        <p:nvSpPr>
          <p:cNvPr id="7" name="灯片编号占位符 6"/>
          <p:cNvSpPr>
            <a:spLocks noGrp="1"/>
          </p:cNvSpPr>
          <p:nvPr>
            <p:ph type="sldNum" idx="12"/>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t>单击此处编辑母版标题样式</a:t>
            </a:r>
          </a:p>
        </p:txBody>
      </p:sp>
      <p:sp>
        <p:nvSpPr>
          <p:cNvPr id="3" name="竖排文字占位符 2"/>
          <p:cNvSpPr>
            <a:spLocks noGrp="1"/>
          </p:cNvSpPr>
          <p:nvPr>
            <p:ph type="body" idx="1"/>
          </p:nvPr>
        </p:nvSpPr>
        <p:spPr/>
        <p:txBody>
          <a:bodyPr vert="eaVert"/>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p:cNvSpPr>
            <a:spLocks noGrp="1"/>
          </p:cNvSpPr>
          <p:nvPr>
            <p:ph type="dt" idx="10"/>
          </p:nvPr>
        </p:nvSpPr>
        <p:spPr/>
        <p:txBody>
          <a:bodyPr/>
          <a:lstStyle/>
          <a:p>
            <a:endParaRPr/>
          </a:p>
        </p:txBody>
      </p:sp>
      <p:sp>
        <p:nvSpPr>
          <p:cNvPr id="5" name="页脚占位符 4"/>
          <p:cNvSpPr>
            <a:spLocks noGrp="1"/>
          </p:cNvSpPr>
          <p:nvPr>
            <p:ph type="ftr" idx="11"/>
          </p:nvPr>
        </p:nvSpPr>
        <p:spPr/>
        <p:txBody>
          <a:bodyPr/>
          <a:lstStyle/>
          <a:p>
            <a:endParaRPr/>
          </a:p>
        </p:txBody>
      </p:sp>
      <p:sp>
        <p:nvSpPr>
          <p:cNvPr id="6" name="灯片编号占位符 5"/>
          <p:cNvSpPr>
            <a:spLocks noGrp="1"/>
          </p:cNvSpPr>
          <p:nvPr>
            <p:ph type="sldNum" idx="12"/>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p:nvPr>
        </p:nvSpPr>
        <p:spPr>
          <a:xfrm>
            <a:off x="8724900" y="365125"/>
            <a:ext cx="2628900" cy="5811838"/>
          </a:xfrm>
        </p:spPr>
        <p:txBody>
          <a:bodyPr vert="eaVert"/>
          <a:lstStyle/>
          <a:p>
            <a:r>
              <a:t>单击此处编辑母版标题样式</a:t>
            </a:r>
          </a:p>
        </p:txBody>
      </p:sp>
      <p:sp>
        <p:nvSpPr>
          <p:cNvPr id="3" name="竖排文字占位符 2"/>
          <p:cNvSpPr>
            <a:spLocks noGrp="1"/>
          </p:cNvSpPr>
          <p:nvPr>
            <p:ph type="body" idx="1"/>
          </p:nvPr>
        </p:nvSpPr>
        <p:spPr>
          <a:xfrm>
            <a:off x="838200" y="365125"/>
            <a:ext cx="7734300" cy="5811838"/>
          </a:xfrm>
        </p:spPr>
        <p:txBody>
          <a:bodyPr vert="eaVert"/>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p:cNvSpPr>
            <a:spLocks noGrp="1"/>
          </p:cNvSpPr>
          <p:nvPr>
            <p:ph type="dt" idx="10"/>
          </p:nvPr>
        </p:nvSpPr>
        <p:spPr/>
        <p:txBody>
          <a:bodyPr/>
          <a:lstStyle/>
          <a:p>
            <a:endParaRPr/>
          </a:p>
        </p:txBody>
      </p:sp>
      <p:sp>
        <p:nvSpPr>
          <p:cNvPr id="5" name="页脚占位符 4"/>
          <p:cNvSpPr>
            <a:spLocks noGrp="1"/>
          </p:cNvSpPr>
          <p:nvPr>
            <p:ph type="ftr" idx="11"/>
          </p:nvPr>
        </p:nvSpPr>
        <p:spPr/>
        <p:txBody>
          <a:bodyPr/>
          <a:lstStyle/>
          <a:p>
            <a:endParaRPr/>
          </a:p>
        </p:txBody>
      </p:sp>
      <p:sp>
        <p:nvSpPr>
          <p:cNvPr id="6" name="灯片编号占位符 5"/>
          <p:cNvSpPr>
            <a:spLocks noGrp="1"/>
          </p:cNvSpPr>
          <p:nvPr>
            <p:ph type="sldNum" idx="12"/>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endParaRPr/>
          </a:p>
        </p:txBody>
      </p:sp>
      <p:sp>
        <p:nvSpPr>
          <p:cNvPr id="5" name="页脚占位符 4"/>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灯片编号占位符 5"/>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panose="020B0604020202020204"/>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panose="020B0604020202020204"/>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panose="020B0604020202020204"/>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GIF"/><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0.sv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0.sv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0.sv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1.sv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1.sv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4.sv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4.svg"/><Relationship Id="rId5" Type="http://schemas.openxmlformats.org/officeDocument/2006/relationships/image" Target="../media/image16.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4.sv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5.sv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16.sv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19.svg"/><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png"/><Relationship Id="rId7" Type="http://schemas.openxmlformats.org/officeDocument/2006/relationships/image" Target="../media/image20.sv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GIF"/><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6" name="副标题 2"/>
          <p:cNvSpPr>
            <a:spLocks noGrp="1"/>
          </p:cNvSpPr>
          <p:nvPr>
            <p:ph type="subTitle" idx="1"/>
          </p:nvPr>
        </p:nvSpPr>
        <p:spPr>
          <a:xfrm>
            <a:off x="381000" y="3055144"/>
            <a:ext cx="11430000" cy="980885"/>
          </a:xfrm>
        </p:spPr>
        <p:txBody>
          <a:bodyPr anchor="ctr">
            <a:normAutofit/>
          </a:bodyPr>
          <a:lstStyle/>
          <a:p>
            <a:pPr algn="ctr">
              <a:buNone/>
              <a:defRPr>
                <a:latin typeface="Candara" panose="020E0502030303020204"/>
                <a:ea typeface="Candara" panose="020E0502030303020204"/>
                <a:cs typeface="Candara" panose="020E0502030303020204"/>
              </a:defRPr>
            </a:pPr>
            <a:r>
              <a:rPr>
                <a:latin typeface="Candara" panose="020E0502030303020204"/>
                <a:ea typeface="Candara" panose="020E0502030303020204"/>
                <a:cs typeface="Candara" panose="020E0502030303020204"/>
              </a:rPr>
              <a:t>Chuanyi Lv¹ | </a:t>
            </a:r>
            <a:r>
              <a:rPr b="1">
                <a:latin typeface="Candara" panose="020E0502030303020204"/>
                <a:ea typeface="Candara" panose="020E0502030303020204"/>
                <a:cs typeface="Candara" panose="020E0502030303020204"/>
              </a:rPr>
              <a:t>Huan Li¹*</a:t>
            </a:r>
            <a:r>
              <a:rPr>
                <a:latin typeface="Candara" panose="020E0502030303020204"/>
                <a:ea typeface="Candara" panose="020E0502030303020204"/>
                <a:cs typeface="Candara" panose="020E0502030303020204"/>
              </a:rPr>
              <a:t> | Dingyu Yang¹ | Zhongle Xie¹ | Lu Chen¹ | Christian S. Jensen²</a:t>
            </a:r>
          </a:p>
          <a:p>
            <a:pPr algn="ctr">
              <a:buNone/>
              <a:defRPr>
                <a:latin typeface="Candara" panose="020E0502030303020204"/>
                <a:ea typeface="Candara" panose="020E0502030303020204"/>
                <a:cs typeface="Candara" panose="020E0502030303020204"/>
              </a:defRPr>
            </a:pPr>
            <a:r>
              <a:rPr>
                <a:latin typeface="Candara" panose="020E0502030303020204"/>
                <a:ea typeface="Candara" panose="020E0502030303020204"/>
                <a:cs typeface="Candara" panose="020E0502030303020204"/>
              </a:rPr>
              <a:t>VLDB 2026 | Presented by Chuanyi Lv</a:t>
            </a:r>
          </a:p>
        </p:txBody>
      </p:sp>
      <p:sp>
        <p:nvSpPr>
          <p:cNvPr id="7" name="标题 1"/>
          <p:cNvSpPr>
            <a:spLocks noGrp="1"/>
          </p:cNvSpPr>
          <p:nvPr/>
        </p:nvSpPr>
        <p:spPr>
          <a:xfrm>
            <a:off x="0" y="2922529"/>
            <a:ext cx="12192000" cy="1246187"/>
          </a:xfrm>
          <a:prstGeom prst="rect">
            <a:avLst/>
          </a:prstGeom>
        </p:spPr>
        <p:txBody>
          <a:bodyPr vert="horz" lIns="91440" tIns="45720" rIns="91440" bIns="45720" anchor="b">
            <a:normAutofit/>
          </a:bodyPr>
          <a:lstStyle>
            <a:lvl1pPr algn="ctr" defTabSz="914400">
              <a:lnSpc>
                <a:spcPct val="90000"/>
              </a:lnSpc>
              <a:spcBef>
                <a:spcPct val="0"/>
              </a:spcBef>
              <a:buNone/>
              <a:defRPr sz="6000" kern="1200">
                <a:solidFill>
                  <a:schemeClr val="tx1"/>
                </a:solidFill>
                <a:latin typeface="+mj-lt"/>
                <a:ea typeface="+mj-lt"/>
                <a:cs typeface="+mj-lt"/>
              </a:defRPr>
            </a:lvl1pPr>
          </a:lstStyle>
          <a:p>
            <a:endParaRPr sz="3600" b="1">
              <a:solidFill>
                <a:srgbClr val="1F4E79"/>
              </a:solidFill>
            </a:endParaRPr>
          </a:p>
        </p:txBody>
      </p:sp>
      <p:pic>
        <p:nvPicPr>
          <p:cNvPr id="21" name="图片 11"/>
          <p:cNvPicPr>
            <a:picLocks noChangeAspect="1"/>
          </p:cNvPicPr>
          <p:nvPr/>
        </p:nvPicPr>
        <p:blipFill>
          <a:blip r:embed="rId4"/>
          <a:srcRect l="29253" r="29253"/>
          <a:stretch>
            <a:fillRect/>
          </a:stretch>
        </p:blipFill>
        <p:spPr>
          <a:xfrm>
            <a:off x="0" y="0"/>
            <a:ext cx="12192000" cy="2754630"/>
          </a:xfrm>
          <a:prstGeom prst="rect">
            <a:avLst/>
          </a:prstGeom>
        </p:spPr>
      </p:pic>
      <p:sp>
        <p:nvSpPr>
          <p:cNvPr id="9" name="矩形 8"/>
          <p:cNvSpPr>
            <a:spLocks noGrp="1"/>
          </p:cNvSpPr>
          <p:nvPr/>
        </p:nvSpPr>
        <p:spPr>
          <a:xfrm>
            <a:off x="400050" y="476250"/>
            <a:ext cx="11391900" cy="1809750"/>
          </a:xfrm>
          <a:prstGeom prst="rect">
            <a:avLst/>
          </a:prstGeom>
          <a:noFill/>
          <a:ln w="0">
            <a:noFill/>
            <a:prstDash val="solid"/>
          </a:ln>
        </p:spPr>
        <p:txBody>
          <a:bodyPr lIns="76200" tIns="0" rIns="76200" bIns="0" anchor="ctr">
            <a:normAutofit/>
          </a:bodyPr>
          <a:lstStyle/>
          <a:p>
            <a:pPr algn="ctr">
              <a:buNone/>
              <a:defRPr sz="2700" b="1">
                <a:solidFill>
                  <a:srgbClr val="000000"/>
                </a:solidFill>
                <a:latin typeface="Candara" panose="020E0502030303020204"/>
                <a:ea typeface="Candara" panose="020E0502030303020204"/>
                <a:cs typeface="Candara" panose="020E0502030303020204"/>
              </a:defRPr>
            </a:pPr>
            <a:r>
              <a:rPr sz="2700" b="1" dirty="0" err="1">
                <a:solidFill>
                  <a:srgbClr val="000000"/>
                </a:solidFill>
                <a:latin typeface="Candara" panose="020E0502030303020204"/>
                <a:ea typeface="Candara" panose="020E0502030303020204"/>
                <a:cs typeface="Candara" panose="020E0502030303020204"/>
              </a:rPr>
              <a:t>DeXOR</a:t>
            </a:r>
            <a:r>
              <a:rPr sz="2700" b="1" dirty="0">
                <a:solidFill>
                  <a:srgbClr val="000000"/>
                </a:solidFill>
                <a:latin typeface="Candara" panose="020E0502030303020204"/>
                <a:ea typeface="Candara" panose="020E0502030303020204"/>
                <a:cs typeface="Candara" panose="020E0502030303020204"/>
              </a:rPr>
              <a:t>: Enabling XOR in Decimal Space for Streaming Lossless Compression of Floating-point Data</a:t>
            </a:r>
            <a:endParaRPr sz="2700" b="1" dirty="0">
              <a:solidFill>
                <a:srgbClr val="000000"/>
              </a:solidFill>
            </a:endParaRPr>
          </a:p>
        </p:txBody>
      </p:sp>
      <p:pic>
        <p:nvPicPr>
          <p:cNvPr id="23" name="Picture 6"/>
          <p:cNvPicPr>
            <a:picLocks noChangeAspect="1"/>
          </p:cNvPicPr>
          <p:nvPr/>
        </p:nvPicPr>
        <p:blipFill>
          <a:blip r:embed="rId5"/>
          <a:srcRect/>
          <a:stretch>
            <a:fillRect/>
          </a:stretch>
        </p:blipFill>
        <p:spPr>
          <a:xfrm>
            <a:off x="2476500" y="4495800"/>
            <a:ext cx="2857500" cy="990600"/>
          </a:xfrm>
          <a:prstGeom prst="rect">
            <a:avLst/>
          </a:prstGeom>
        </p:spPr>
      </p:pic>
      <p:pic>
        <p:nvPicPr>
          <p:cNvPr id="24" name="图形 23"/>
          <p:cNvPicPr>
            <a:picLocks noChangeAspect="1"/>
          </p:cNvPicPr>
          <p:nvPr/>
        </p:nvPicPr>
        <p:blipFill>
          <a:blip>
            <a:extLst>
              <a:ext uri="{96DAC541-7B7A-43D3-8B79-37D633B846F1}">
                <asvg:svgBlip xmlns:asvg="http://schemas.microsoft.com/office/drawing/2016/SVG/main" r:embed="rId6"/>
              </a:ext>
            </a:extLst>
          </a:blip>
          <a:srcRect/>
          <a:stretch>
            <a:fillRect/>
          </a:stretch>
        </p:blipFill>
        <p:spPr>
          <a:xfrm>
            <a:off x="6781800" y="4581525"/>
            <a:ext cx="3668412" cy="904875"/>
          </a:xfrm>
          <a:prstGeom prst="rect">
            <a:avLst/>
          </a:prstGeom>
        </p:spPr>
      </p:pic>
      <p:sp>
        <p:nvSpPr>
          <p:cNvPr id="13" name="Affiliation Marker ZJU"/>
          <p:cNvSpPr>
            <a:spLocks noGrp="1"/>
          </p:cNvSpPr>
          <p:nvPr/>
        </p:nvSpPr>
        <p:spPr>
          <a:xfrm>
            <a:off x="2190750" y="4686300"/>
            <a:ext cx="266700" cy="285750"/>
          </a:xfrm>
          <a:prstGeom prst="rect">
            <a:avLst/>
          </a:prstGeom>
          <a:noFill/>
          <a:ln w="0">
            <a:noFill/>
            <a:prstDash val="solid"/>
          </a:ln>
        </p:spPr>
        <p:txBody>
          <a:bodyPr anchor="ctr"/>
          <a:lstStyle/>
          <a:p>
            <a:pPr algn="ctr">
              <a:buNone/>
              <a:defRPr sz="1500" b="1">
                <a:solidFill>
                  <a:srgbClr val="27364A"/>
                </a:solidFill>
                <a:latin typeface="Candara" panose="020E0502030303020204"/>
                <a:ea typeface="Candara" panose="020E0502030303020204"/>
                <a:cs typeface="Candara" panose="020E0502030303020204"/>
              </a:defRPr>
            </a:pPr>
            <a:r>
              <a:rPr sz="1500" b="1">
                <a:solidFill>
                  <a:srgbClr val="27364A"/>
                </a:solidFill>
                <a:latin typeface="Candara" panose="020E0502030303020204"/>
                <a:ea typeface="Candara" panose="020E0502030303020204"/>
                <a:cs typeface="Candara" panose="020E0502030303020204"/>
              </a:rPr>
              <a:t>¹</a:t>
            </a:r>
          </a:p>
        </p:txBody>
      </p:sp>
      <p:sp>
        <p:nvSpPr>
          <p:cNvPr id="14" name="Affiliation Marker AAU"/>
          <p:cNvSpPr>
            <a:spLocks noGrp="1"/>
          </p:cNvSpPr>
          <p:nvPr/>
        </p:nvSpPr>
        <p:spPr>
          <a:xfrm>
            <a:off x="6515100" y="4686300"/>
            <a:ext cx="266700" cy="285750"/>
          </a:xfrm>
          <a:prstGeom prst="rect">
            <a:avLst/>
          </a:prstGeom>
          <a:noFill/>
          <a:ln w="0">
            <a:noFill/>
            <a:prstDash val="solid"/>
          </a:ln>
        </p:spPr>
        <p:txBody>
          <a:bodyPr anchor="ctr"/>
          <a:lstStyle/>
          <a:p>
            <a:pPr algn="ctr">
              <a:buNone/>
              <a:defRPr sz="1500" b="1">
                <a:solidFill>
                  <a:srgbClr val="27364A"/>
                </a:solidFill>
                <a:latin typeface="Candara" panose="020E0502030303020204"/>
                <a:ea typeface="Candara" panose="020E0502030303020204"/>
                <a:cs typeface="Candara" panose="020E0502030303020204"/>
              </a:defRPr>
            </a:pPr>
            <a:r>
              <a:rPr sz="1500" b="1">
                <a:solidFill>
                  <a:srgbClr val="27364A"/>
                </a:solidFill>
                <a:latin typeface="Candara" panose="020E0502030303020204"/>
                <a:ea typeface="Candara" panose="020E0502030303020204"/>
                <a:cs typeface="Candara" panose="020E0502030303020204"/>
              </a:rPr>
              <a:t>²</a:t>
            </a:r>
          </a:p>
        </p:txBody>
      </p:sp>
      <p:sp>
        <p:nvSpPr>
          <p:cNvPr id="15" name="Corresponding Author Note"/>
          <p:cNvSpPr>
            <a:spLocks noGrp="1"/>
          </p:cNvSpPr>
          <p:nvPr/>
        </p:nvSpPr>
        <p:spPr>
          <a:xfrm>
            <a:off x="4667250" y="4105275"/>
            <a:ext cx="2857500" cy="238125"/>
          </a:xfrm>
          <a:prstGeom prst="rect">
            <a:avLst/>
          </a:prstGeom>
          <a:noFill/>
          <a:ln w="0">
            <a:noFill/>
            <a:prstDash val="solid"/>
          </a:ln>
        </p:spPr>
        <p:txBody>
          <a:bodyPr anchor="ctr"/>
          <a:lstStyle/>
          <a:p>
            <a:pPr algn="ctr">
              <a:buNone/>
              <a:defRPr sz="1200">
                <a:solidFill>
                  <a:srgbClr val="66758A"/>
                </a:solidFill>
                <a:latin typeface="Candara" panose="020E0502030303020204"/>
                <a:ea typeface="Candara" panose="020E0502030303020204"/>
                <a:cs typeface="Candara" panose="020E0502030303020204"/>
              </a:defRPr>
            </a:pPr>
            <a:r>
              <a:rPr sz="1200">
                <a:solidFill>
                  <a:srgbClr val="66758A"/>
                </a:solidFill>
                <a:latin typeface="Candara" panose="020E0502030303020204"/>
                <a:ea typeface="Candara" panose="020E0502030303020204"/>
                <a:cs typeface="Candara" panose="020E0502030303020204"/>
              </a:rPr>
              <a:t>* Corresponding author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灯片编号占位符 3"/>
          <p:cNvSpPr>
            <a:spLocks noGrp="1"/>
          </p:cNvSpPr>
          <p:nvPr>
            <p:ph type="sldNum" idx="12"/>
          </p:nvPr>
        </p:nvSpPr>
        <p:spPr/>
        <p:txBody>
          <a:bodyPr/>
          <a:lstStyle/>
          <a:p>
            <a:pPr>
              <a:buNone/>
              <a:defRPr>
                <a:latin typeface="Candara" panose="020E0502030303020204"/>
                <a:ea typeface="Candara" panose="020E0502030303020204"/>
                <a:cs typeface="Candara" panose="020E0502030303020204"/>
              </a:defRPr>
            </a:pPr>
            <a:r>
              <a:rPr lang="en-US" altLang="zh-CN">
                <a:latin typeface="Candara" panose="020E0502030303020204"/>
                <a:ea typeface="Candara" panose="020E0502030303020204"/>
                <a:cs typeface="Candara" panose="020E0502030303020204"/>
              </a:rPr>
              <a:t>2</a:t>
            </a:r>
            <a:endParaRPr>
              <a:latin typeface="Candara" panose="020E0502030303020204"/>
              <a:ea typeface="Candara" panose="020E0502030303020204"/>
              <a:cs typeface="Candara" panose="020E0502030303020204"/>
            </a:endParaRPr>
          </a:p>
        </p:txBody>
      </p:sp>
      <p:pic>
        <p:nvPicPr>
          <p:cNvPr id="14" name="图片 12"/>
          <p:cNvPicPr>
            <a:picLocks noChangeAspect="1"/>
          </p:cNvPicPr>
          <p:nvPr/>
        </p:nvPicPr>
        <p:blipFill>
          <a:blip r:embed="rId4"/>
          <a:srcRect/>
          <a:stretch>
            <a:fillRect/>
          </a:stretch>
        </p:blipFill>
        <p:spPr>
          <a:xfrm>
            <a:off x="0" y="0"/>
            <a:ext cx="12192000" cy="1143000"/>
          </a:xfrm>
          <a:prstGeom prst="rect">
            <a:avLst/>
          </a:prstGeom>
        </p:spPr>
      </p:pic>
      <p:sp>
        <p:nvSpPr>
          <p:cNvPr id="9" name="矩形 8"/>
          <p:cNvSpPr>
            <a:spLocks noGrp="1"/>
          </p:cNvSpPr>
          <p:nvPr/>
        </p:nvSpPr>
        <p:spPr>
          <a:xfrm>
            <a:off x="590550" y="114300"/>
            <a:ext cx="11010900" cy="914400"/>
          </a:xfrm>
          <a:prstGeom prst="rect">
            <a:avLst/>
          </a:prstGeom>
          <a:noFill/>
          <a:ln w="0">
            <a:noFill/>
            <a:prstDash val="solid"/>
          </a:ln>
        </p:spPr>
        <p:txBody>
          <a:bodyPr lIns="0" tIns="0" rIns="0" bIns="0" anchor="ctr">
            <a:normAutofit/>
          </a:bodyPr>
          <a:lstStyle/>
          <a:p>
            <a:pPr>
              <a:buNone/>
              <a:defRPr sz="2700" b="1">
                <a:solidFill>
                  <a:srgbClr val="000000"/>
                </a:solidFill>
                <a:latin typeface="Candara" panose="020E0502030303020204"/>
                <a:ea typeface="Candara" panose="020E0502030303020204"/>
                <a:cs typeface="Candara" panose="020E0502030303020204"/>
              </a:defRPr>
            </a:pPr>
            <a:r>
              <a:rPr lang="en-US" sz="4000" b="1" dirty="0">
                <a:solidFill>
                  <a:srgbClr val="174A79"/>
                </a:solidFill>
                <a:latin typeface="Candara" panose="020E0502030303020204" pitchFamily="34" charset="0"/>
                <a:ea typeface="Candara" panose="020E0502030303020204"/>
                <a:cs typeface="Candara" panose="020E0502030303020204"/>
              </a:rPr>
              <a:t>Outline</a:t>
            </a:r>
            <a:endParaRPr sz="4000" b="1" dirty="0">
              <a:solidFill>
                <a:srgbClr val="174A79"/>
              </a:solidFill>
              <a:latin typeface="Candara" panose="020E0502030303020204" pitchFamily="34" charset="0"/>
            </a:endParaRPr>
          </a:p>
        </p:txBody>
      </p:sp>
      <p:sp>
        <p:nvSpPr>
          <p:cNvPr id="5" name="文本框 4">
            <a:extLst>
              <a:ext uri="{FF2B5EF4-FFF2-40B4-BE49-F238E27FC236}">
                <a16:creationId xmlns:a16="http://schemas.microsoft.com/office/drawing/2014/main" id="{A5522695-B585-0091-3206-58EDD7329E5B}"/>
              </a:ext>
            </a:extLst>
          </p:cNvPr>
          <p:cNvSpPr txBox="1"/>
          <p:nvPr/>
        </p:nvSpPr>
        <p:spPr>
          <a:xfrm>
            <a:off x="1905000" y="1676399"/>
            <a:ext cx="8890000" cy="384721"/>
          </a:xfrm>
          <a:prstGeom prst="rect">
            <a:avLst/>
          </a:prstGeom>
          <a:noFill/>
        </p:spPr>
        <p:txBody>
          <a:bodyPr vert="horz" lIns="0" tIns="0" rIns="0" bIns="0" rtlCol="0">
            <a:spAutoFit/>
          </a:bodyPr>
          <a:lstStyle/>
          <a:p>
            <a:pPr marL="342900" indent="-342900">
              <a:buFont typeface="Wingdings" panose="05000000000000000000" pitchFamily="2" charset="2"/>
              <a:buChar char="l"/>
            </a:pPr>
            <a:r>
              <a:rPr lang="en-US" altLang="zh-CN" sz="2500" b="1" dirty="0">
                <a:solidFill>
                  <a:srgbClr val="174A79"/>
                </a:solidFill>
                <a:latin typeface="Candara" panose="020E0502030303020204" pitchFamily="34" charset="0"/>
              </a:rPr>
              <a:t>Background and Observation</a:t>
            </a:r>
            <a:endParaRPr lang="zh-CN" altLang="en-US" sz="2500" b="1" dirty="0">
              <a:solidFill>
                <a:srgbClr val="174A79"/>
              </a:solidFill>
              <a:latin typeface="Candara" panose="020E0502030303020204" pitchFamily="34" charset="0"/>
            </a:endParaRPr>
          </a:p>
        </p:txBody>
      </p:sp>
      <p:sp>
        <p:nvSpPr>
          <p:cNvPr id="8" name="文本框 7">
            <a:extLst>
              <a:ext uri="{FF2B5EF4-FFF2-40B4-BE49-F238E27FC236}">
                <a16:creationId xmlns:a16="http://schemas.microsoft.com/office/drawing/2014/main" id="{31BADD64-BCCA-413C-8608-A0D43DF6B854}"/>
              </a:ext>
            </a:extLst>
          </p:cNvPr>
          <p:cNvSpPr txBox="1"/>
          <p:nvPr/>
        </p:nvSpPr>
        <p:spPr>
          <a:xfrm>
            <a:off x="1905000" y="2832099"/>
            <a:ext cx="8890000" cy="384721"/>
          </a:xfrm>
          <a:prstGeom prst="rect">
            <a:avLst/>
          </a:prstGeom>
          <a:noFill/>
        </p:spPr>
        <p:txBody>
          <a:bodyPr vert="horz" lIns="0" tIns="0" rIns="0" bIns="0" rtlCol="0">
            <a:spAutoFit/>
          </a:bodyPr>
          <a:lstStyle/>
          <a:p>
            <a:pPr marL="342900" indent="-342900">
              <a:buFont typeface="Wingdings" panose="05000000000000000000" pitchFamily="2" charset="2"/>
              <a:buChar char="l"/>
            </a:pPr>
            <a:r>
              <a:rPr lang="en-US" altLang="zh-CN" sz="2500" dirty="0">
                <a:solidFill>
                  <a:srgbClr val="A5AEB6"/>
                </a:solidFill>
                <a:latin typeface="Candara" panose="020E0502030303020204" pitchFamily="34" charset="0"/>
              </a:rPr>
              <a:t>Decimal XOR and </a:t>
            </a:r>
            <a:r>
              <a:rPr lang="en-US" altLang="zh-CN" sz="2500" dirty="0" err="1">
                <a:solidFill>
                  <a:srgbClr val="A5AEB6"/>
                </a:solidFill>
                <a:latin typeface="Candara" panose="020E0502030303020204" pitchFamily="34" charset="0"/>
              </a:rPr>
              <a:t>DeXOR</a:t>
            </a:r>
            <a:r>
              <a:rPr lang="en-US" altLang="zh-CN" sz="2500" dirty="0">
                <a:solidFill>
                  <a:srgbClr val="A5AEB6"/>
                </a:solidFill>
                <a:latin typeface="Candara" panose="020E0502030303020204" pitchFamily="34" charset="0"/>
              </a:rPr>
              <a:t> Design</a:t>
            </a:r>
            <a:endParaRPr lang="zh-CN" altLang="en-US" sz="2500" dirty="0">
              <a:solidFill>
                <a:srgbClr val="A5AEB6"/>
              </a:solidFill>
              <a:latin typeface="Candara" panose="020E0502030303020204" pitchFamily="34" charset="0"/>
            </a:endParaRPr>
          </a:p>
        </p:txBody>
      </p:sp>
      <p:sp>
        <p:nvSpPr>
          <p:cNvPr id="11" name="文本框 10">
            <a:extLst>
              <a:ext uri="{FF2B5EF4-FFF2-40B4-BE49-F238E27FC236}">
                <a16:creationId xmlns:a16="http://schemas.microsoft.com/office/drawing/2014/main" id="{3896774A-5D0B-DFAC-5C1A-61B0D779765A}"/>
              </a:ext>
            </a:extLst>
          </p:cNvPr>
          <p:cNvSpPr txBox="1"/>
          <p:nvPr/>
        </p:nvSpPr>
        <p:spPr>
          <a:xfrm>
            <a:off x="1905000" y="3987799"/>
            <a:ext cx="8890000" cy="384721"/>
          </a:xfrm>
          <a:prstGeom prst="rect">
            <a:avLst/>
          </a:prstGeom>
          <a:noFill/>
        </p:spPr>
        <p:txBody>
          <a:bodyPr vert="horz" lIns="0" tIns="0" rIns="0" bIns="0" rtlCol="0">
            <a:spAutoFit/>
          </a:bodyPr>
          <a:lstStyle/>
          <a:p>
            <a:pPr marL="342900" indent="-342900">
              <a:buFont typeface="Wingdings" panose="05000000000000000000" pitchFamily="2" charset="2"/>
              <a:buChar char="l"/>
            </a:pPr>
            <a:r>
              <a:rPr lang="en-US" altLang="zh-CN" sz="2500" dirty="0">
                <a:solidFill>
                  <a:srgbClr val="A5AEB6"/>
                </a:solidFill>
                <a:latin typeface="Candara" panose="020E0502030303020204" pitchFamily="34" charset="0"/>
              </a:rPr>
              <a:t>Experimental Evaluation</a:t>
            </a:r>
            <a:endParaRPr lang="zh-CN" altLang="en-US" sz="2500" dirty="0">
              <a:solidFill>
                <a:srgbClr val="A5AEB6"/>
              </a:solidFill>
              <a:latin typeface="Candara" panose="020E0502030303020204" pitchFamily="34" charset="0"/>
            </a:endParaRPr>
          </a:p>
        </p:txBody>
      </p:sp>
      <p:sp>
        <p:nvSpPr>
          <p:cNvPr id="13" name="文本框 12">
            <a:extLst>
              <a:ext uri="{FF2B5EF4-FFF2-40B4-BE49-F238E27FC236}">
                <a16:creationId xmlns:a16="http://schemas.microsoft.com/office/drawing/2014/main" id="{F7CC0950-E7A2-F21A-A3F2-E62A5E7E1391}"/>
              </a:ext>
            </a:extLst>
          </p:cNvPr>
          <p:cNvSpPr txBox="1"/>
          <p:nvPr/>
        </p:nvSpPr>
        <p:spPr>
          <a:xfrm>
            <a:off x="1905000" y="5143499"/>
            <a:ext cx="8890000" cy="384721"/>
          </a:xfrm>
          <a:prstGeom prst="rect">
            <a:avLst/>
          </a:prstGeom>
          <a:noFill/>
        </p:spPr>
        <p:txBody>
          <a:bodyPr vert="horz" lIns="0" tIns="0" rIns="0" bIns="0" rtlCol="0">
            <a:spAutoFit/>
          </a:bodyPr>
          <a:lstStyle/>
          <a:p>
            <a:pPr marL="342900" indent="-342900">
              <a:buFont typeface="Wingdings" panose="05000000000000000000" pitchFamily="2" charset="2"/>
              <a:buChar char="l"/>
            </a:pPr>
            <a:r>
              <a:rPr lang="en-US" altLang="zh-CN" sz="2500" dirty="0" err="1">
                <a:solidFill>
                  <a:srgbClr val="A5AEB6"/>
                </a:solidFill>
                <a:latin typeface="Candara" panose="020E0502030303020204" pitchFamily="34" charset="0"/>
              </a:rPr>
              <a:t>DeXOR</a:t>
            </a:r>
            <a:r>
              <a:rPr lang="en-US" altLang="zh-CN" sz="2500" dirty="0">
                <a:solidFill>
                  <a:srgbClr val="A5AEB6"/>
                </a:solidFill>
                <a:latin typeface="Candara" panose="020E0502030303020204" pitchFamily="34" charset="0"/>
              </a:rPr>
              <a:t> Family Extension</a:t>
            </a:r>
            <a:endParaRPr lang="zh-CN" altLang="en-US" sz="2500" dirty="0">
              <a:solidFill>
                <a:srgbClr val="A5AEB6"/>
              </a:solidFill>
              <a:latin typeface="Candara" panose="020E0502030303020204" pitchFamily="34" charset="0"/>
            </a:endParaRPr>
          </a:p>
        </p:txBody>
      </p:sp>
    </p:spTree>
    <p:extLst>
      <p:ext uri="{BB962C8B-B14F-4D97-AF65-F5344CB8AC3E}">
        <p14:creationId xmlns:p14="http://schemas.microsoft.com/office/powerpoint/2010/main" val="2553581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灯片编号占位符 3"/>
          <p:cNvSpPr>
            <a:spLocks noGrp="1"/>
          </p:cNvSpPr>
          <p:nvPr>
            <p:ph type="sldNum" idx="12"/>
          </p:nvPr>
        </p:nvSpPr>
        <p:spPr/>
        <p:txBody>
          <a:bodyPr/>
          <a:lstStyle/>
          <a:p>
            <a:pPr>
              <a:buNone/>
              <a:defRPr>
                <a:latin typeface="Candara" panose="020E0502030303020204"/>
                <a:ea typeface="Candara" panose="020E0502030303020204"/>
                <a:cs typeface="Candara" panose="020E0502030303020204"/>
              </a:defRPr>
            </a:pPr>
            <a:r>
              <a:rPr lang="en-US" altLang="zh-CN">
                <a:latin typeface="Candara" panose="020E0502030303020204"/>
                <a:ea typeface="Candara" panose="020E0502030303020204"/>
                <a:cs typeface="Candara" panose="020E0502030303020204"/>
              </a:rPr>
              <a:t>3</a:t>
            </a:r>
            <a:endParaRPr>
              <a:latin typeface="Candara" panose="020E0502030303020204"/>
              <a:ea typeface="Candara" panose="020E0502030303020204"/>
              <a:cs typeface="Candara" panose="020E0502030303020204"/>
            </a:endParaRPr>
          </a:p>
        </p:txBody>
      </p:sp>
      <p:pic>
        <p:nvPicPr>
          <p:cNvPr id="33" name="图片 14"/>
          <p:cNvPicPr>
            <a:picLocks noChangeAspect="1"/>
          </p:cNvPicPr>
          <p:nvPr/>
        </p:nvPicPr>
        <p:blipFill>
          <a:blip r:embed="rId4"/>
          <a:srcRect/>
          <a:stretch>
            <a:fillRect/>
          </a:stretch>
        </p:blipFill>
        <p:spPr>
          <a:xfrm>
            <a:off x="0" y="0"/>
            <a:ext cx="12192000" cy="1143000"/>
          </a:xfrm>
          <a:prstGeom prst="rect">
            <a:avLst/>
          </a:prstGeom>
        </p:spPr>
      </p:pic>
      <p:sp>
        <p:nvSpPr>
          <p:cNvPr id="9" name="矩形 8"/>
          <p:cNvSpPr>
            <a:spLocks noGrp="1"/>
          </p:cNvSpPr>
          <p:nvPr/>
        </p:nvSpPr>
        <p:spPr>
          <a:xfrm>
            <a:off x="590550" y="114300"/>
            <a:ext cx="11010900" cy="914400"/>
          </a:xfrm>
          <a:prstGeom prst="rect">
            <a:avLst/>
          </a:prstGeom>
          <a:noFill/>
          <a:ln w="0">
            <a:noFill/>
            <a:prstDash val="solid"/>
          </a:ln>
        </p:spPr>
        <p:txBody>
          <a:bodyPr lIns="0" tIns="0" rIns="0" bIns="0" anchor="ctr">
            <a:normAutofit/>
          </a:bodyPr>
          <a:lstStyle/>
          <a:p>
            <a:pPr>
              <a:buNone/>
              <a:defRPr sz="2700" b="1">
                <a:solidFill>
                  <a:srgbClr val="000000"/>
                </a:solidFill>
                <a:latin typeface="Candara" panose="020E0502030303020204"/>
                <a:ea typeface="Candara" panose="020E0502030303020204"/>
                <a:cs typeface="Candara" panose="020E0502030303020204"/>
              </a:defRPr>
            </a:pPr>
            <a:r>
              <a:rPr lang="en-US" sz="3200" b="1" dirty="0">
                <a:solidFill>
                  <a:srgbClr val="174A79"/>
                </a:solidFill>
                <a:latin typeface="Candara" panose="020E0502030303020204" pitchFamily="34" charset="0"/>
                <a:ea typeface="Candara" panose="020E0502030303020204"/>
                <a:cs typeface="Candara" panose="020E0502030303020204"/>
              </a:rPr>
              <a:t>Why We Need Streaming Lossless Compression?</a:t>
            </a:r>
            <a:endParaRPr sz="3200" b="1" dirty="0">
              <a:solidFill>
                <a:srgbClr val="174A79"/>
              </a:solidFill>
              <a:latin typeface="Candara" panose="020E0502030303020204" pitchFamily="34" charset="0"/>
            </a:endParaRPr>
          </a:p>
        </p:txBody>
      </p:sp>
      <p:sp>
        <p:nvSpPr>
          <p:cNvPr id="2" name="Narrative Lead">
            <a:extLst>
              <a:ext uri="{FF2B5EF4-FFF2-40B4-BE49-F238E27FC236}">
                <a16:creationId xmlns:a16="http://schemas.microsoft.com/office/drawing/2014/main" id="{E69D9927-EC0D-C39B-663F-93D5D458C09C}"/>
              </a:ext>
            </a:extLst>
          </p:cNvPr>
          <p:cNvSpPr txBox="1"/>
          <p:nvPr/>
        </p:nvSpPr>
        <p:spPr>
          <a:xfrm>
            <a:off x="590550" y="1360727"/>
            <a:ext cx="10972800" cy="307777"/>
          </a:xfrm>
          <a:prstGeom prst="rect">
            <a:avLst/>
          </a:prstGeom>
          <a:noFill/>
        </p:spPr>
        <p:txBody>
          <a:bodyPr vert="horz" lIns="0" tIns="0" rIns="0" bIns="0" rtlCol="0">
            <a:spAutoFit/>
          </a:bodyPr>
          <a:lstStyle/>
          <a:p>
            <a:pPr marL="285750" indent="-285750">
              <a:spcAft>
                <a:spcPts val="500"/>
              </a:spcAft>
              <a:buFont typeface="Wingdings" panose="05000000000000000000" pitchFamily="2" charset="2"/>
              <a:buChar char="p"/>
            </a:pPr>
            <a:r>
              <a:rPr lang="en-US" altLang="zh-CN" sz="2000" b="1" dirty="0">
                <a:solidFill>
                  <a:srgbClr val="C4530D"/>
                </a:solidFill>
                <a:latin typeface="Candara" panose="020E0502030303020204" pitchFamily="34" charset="0"/>
              </a:rPr>
              <a:t>Need Compression:</a:t>
            </a:r>
            <a:r>
              <a:rPr lang="en-US" altLang="zh-CN" sz="2000" b="1" dirty="0">
                <a:solidFill>
                  <a:srgbClr val="174A79"/>
                </a:solidFill>
                <a:latin typeface="Candara" panose="020E0502030303020204" pitchFamily="34" charset="0"/>
              </a:rPr>
              <a:t> Streaming data arrives at massive scale.</a:t>
            </a:r>
          </a:p>
        </p:txBody>
      </p:sp>
      <p:sp>
        <p:nvSpPr>
          <p:cNvPr id="5" name="Narrative Lead">
            <a:extLst>
              <a:ext uri="{FF2B5EF4-FFF2-40B4-BE49-F238E27FC236}">
                <a16:creationId xmlns:a16="http://schemas.microsoft.com/office/drawing/2014/main" id="{A153F670-2403-551D-F8C3-A9D310557291}"/>
              </a:ext>
            </a:extLst>
          </p:cNvPr>
          <p:cNvSpPr txBox="1"/>
          <p:nvPr/>
        </p:nvSpPr>
        <p:spPr>
          <a:xfrm>
            <a:off x="590550" y="2956645"/>
            <a:ext cx="10972800" cy="307777"/>
          </a:xfrm>
          <a:prstGeom prst="rect">
            <a:avLst/>
          </a:prstGeom>
          <a:noFill/>
        </p:spPr>
        <p:txBody>
          <a:bodyPr vert="horz" lIns="0" tIns="0" rIns="0" bIns="0" rtlCol="0">
            <a:spAutoFit/>
          </a:bodyPr>
          <a:lstStyle/>
          <a:p>
            <a:pPr marL="285750" indent="-285750">
              <a:spcAft>
                <a:spcPts val="500"/>
              </a:spcAft>
              <a:buFont typeface="Wingdings" panose="05000000000000000000" pitchFamily="2" charset="2"/>
              <a:buChar char="p"/>
            </a:pPr>
            <a:r>
              <a:rPr lang="en-US" altLang="zh-CN" sz="2000" b="1" dirty="0">
                <a:solidFill>
                  <a:srgbClr val="C4530D"/>
                </a:solidFill>
                <a:latin typeface="Candara" panose="020E0502030303020204" pitchFamily="34" charset="0"/>
              </a:rPr>
              <a:t>Need Lossless:</a:t>
            </a:r>
            <a:r>
              <a:rPr lang="en-US" altLang="zh-CN" sz="2000" b="1" dirty="0">
                <a:solidFill>
                  <a:srgbClr val="174A79"/>
                </a:solidFill>
                <a:latin typeface="Candara" panose="020E0502030303020204" pitchFamily="34" charset="0"/>
              </a:rPr>
              <a:t> Small errors can have serious operational consequences.</a:t>
            </a:r>
          </a:p>
        </p:txBody>
      </p:sp>
      <p:sp>
        <p:nvSpPr>
          <p:cNvPr id="8" name="Narrative Lead">
            <a:extLst>
              <a:ext uri="{FF2B5EF4-FFF2-40B4-BE49-F238E27FC236}">
                <a16:creationId xmlns:a16="http://schemas.microsoft.com/office/drawing/2014/main" id="{D602805B-4023-7C2E-F0D2-0FD93FCB1D53}"/>
              </a:ext>
            </a:extLst>
          </p:cNvPr>
          <p:cNvSpPr txBox="1"/>
          <p:nvPr/>
        </p:nvSpPr>
        <p:spPr>
          <a:xfrm>
            <a:off x="590550" y="4686979"/>
            <a:ext cx="10972800" cy="307777"/>
          </a:xfrm>
          <a:prstGeom prst="rect">
            <a:avLst/>
          </a:prstGeom>
          <a:noFill/>
        </p:spPr>
        <p:txBody>
          <a:bodyPr vert="horz" lIns="0" tIns="0" rIns="0" bIns="0" rtlCol="0">
            <a:spAutoFit/>
          </a:bodyPr>
          <a:lstStyle/>
          <a:p>
            <a:pPr marL="285750" indent="-285750">
              <a:spcAft>
                <a:spcPts val="500"/>
              </a:spcAft>
              <a:buFont typeface="Wingdings" panose="05000000000000000000" pitchFamily="2" charset="2"/>
              <a:buChar char="p"/>
            </a:pPr>
            <a:r>
              <a:rPr lang="en-US" altLang="zh-CN" sz="2000" b="1" dirty="0">
                <a:solidFill>
                  <a:srgbClr val="C4530D"/>
                </a:solidFill>
                <a:latin typeface="Candara" panose="020E0502030303020204" pitchFamily="34" charset="0"/>
              </a:rPr>
              <a:t>Need Streaming:</a:t>
            </a:r>
            <a:r>
              <a:rPr lang="en-US" altLang="zh-CN" sz="2000" b="1" dirty="0">
                <a:solidFill>
                  <a:srgbClr val="174A79"/>
                </a:solidFill>
                <a:latin typeface="Candara" panose="020E0502030303020204" pitchFamily="34" charset="0"/>
              </a:rPr>
              <a:t> New values should be compressed without decoding prior data.</a:t>
            </a:r>
          </a:p>
        </p:txBody>
      </p:sp>
      <p:sp>
        <p:nvSpPr>
          <p:cNvPr id="11" name="Narrative Lead">
            <a:extLst>
              <a:ext uri="{FF2B5EF4-FFF2-40B4-BE49-F238E27FC236}">
                <a16:creationId xmlns:a16="http://schemas.microsoft.com/office/drawing/2014/main" id="{A4CE1F16-83BB-F5B8-FF3D-D3BCD23042CB}"/>
              </a:ext>
            </a:extLst>
          </p:cNvPr>
          <p:cNvSpPr txBox="1"/>
          <p:nvPr/>
        </p:nvSpPr>
        <p:spPr>
          <a:xfrm>
            <a:off x="873228" y="1906812"/>
            <a:ext cx="10972800" cy="276999"/>
          </a:xfrm>
          <a:prstGeom prst="rect">
            <a:avLst/>
          </a:prstGeom>
          <a:noFill/>
        </p:spPr>
        <p:txBody>
          <a:bodyPr vert="horz" lIns="0" tIns="0" rIns="0" bIns="0" rtlCol="0">
            <a:spAutoFit/>
          </a:bodyPr>
          <a:lstStyle/>
          <a:p>
            <a:pPr marL="342900" indent="-342900">
              <a:spcAft>
                <a:spcPts val="500"/>
              </a:spcAft>
              <a:buFont typeface="Wingdings" panose="05000000000000000000" pitchFamily="2" charset="2"/>
              <a:buChar char="u"/>
            </a:pPr>
            <a:r>
              <a:rPr lang="en-US" altLang="zh-CN" b="1" dirty="0">
                <a:solidFill>
                  <a:srgbClr val="174A79"/>
                </a:solidFill>
                <a:latin typeface="Candara" panose="020E0502030303020204" pitchFamily="34" charset="0"/>
              </a:rPr>
              <a:t>Aviation systems can generate terabytes of sensor data per second [1].</a:t>
            </a:r>
          </a:p>
        </p:txBody>
      </p:sp>
      <p:sp>
        <p:nvSpPr>
          <p:cNvPr id="13" name="Narrative Lead">
            <a:extLst>
              <a:ext uri="{FF2B5EF4-FFF2-40B4-BE49-F238E27FC236}">
                <a16:creationId xmlns:a16="http://schemas.microsoft.com/office/drawing/2014/main" id="{C8636F0A-4AEB-747A-64C9-F4E49C0E796B}"/>
              </a:ext>
            </a:extLst>
          </p:cNvPr>
          <p:cNvSpPr txBox="1"/>
          <p:nvPr/>
        </p:nvSpPr>
        <p:spPr>
          <a:xfrm>
            <a:off x="873228" y="3612021"/>
            <a:ext cx="10972800" cy="553998"/>
          </a:xfrm>
          <a:prstGeom prst="rect">
            <a:avLst/>
          </a:prstGeom>
          <a:noFill/>
        </p:spPr>
        <p:txBody>
          <a:bodyPr vert="horz" lIns="0" tIns="0" rIns="0" bIns="0" rtlCol="0">
            <a:spAutoFit/>
          </a:bodyPr>
          <a:lstStyle/>
          <a:p>
            <a:pPr marL="342900" indent="-342900">
              <a:spcAft>
                <a:spcPts val="500"/>
              </a:spcAft>
              <a:buFont typeface="Wingdings" panose="05000000000000000000" pitchFamily="2" charset="2"/>
              <a:buChar char="u"/>
            </a:pPr>
            <a:r>
              <a:rPr lang="en-US" altLang="zh-CN" b="1" dirty="0">
                <a:solidFill>
                  <a:srgbClr val="174A79"/>
                </a:solidFill>
                <a:latin typeface="Candara" panose="020E0502030303020204" pitchFamily="34" charset="0"/>
              </a:rPr>
              <a:t>Industrial control, finance, and scientific measurement may require exact reconstruction of floating-point values.</a:t>
            </a:r>
          </a:p>
        </p:txBody>
      </p:sp>
      <p:sp>
        <p:nvSpPr>
          <p:cNvPr id="15" name="Narrative Lead">
            <a:extLst>
              <a:ext uri="{FF2B5EF4-FFF2-40B4-BE49-F238E27FC236}">
                <a16:creationId xmlns:a16="http://schemas.microsoft.com/office/drawing/2014/main" id="{2AF65505-9D53-269B-2101-C630E3EDC0A1}"/>
              </a:ext>
            </a:extLst>
          </p:cNvPr>
          <p:cNvSpPr txBox="1"/>
          <p:nvPr/>
        </p:nvSpPr>
        <p:spPr>
          <a:xfrm>
            <a:off x="873228" y="5280799"/>
            <a:ext cx="10972800" cy="276999"/>
          </a:xfrm>
          <a:prstGeom prst="rect">
            <a:avLst/>
          </a:prstGeom>
          <a:noFill/>
        </p:spPr>
        <p:txBody>
          <a:bodyPr vert="horz" lIns="0" tIns="0" rIns="0" bIns="0" rtlCol="0">
            <a:spAutoFit/>
          </a:bodyPr>
          <a:lstStyle/>
          <a:p>
            <a:pPr marL="342900" indent="-342900">
              <a:spcAft>
                <a:spcPts val="500"/>
              </a:spcAft>
              <a:buFont typeface="Wingdings" panose="05000000000000000000" pitchFamily="2" charset="2"/>
              <a:buChar char="u"/>
            </a:pPr>
            <a:r>
              <a:rPr lang="en-US" altLang="zh-CN" b="1" dirty="0">
                <a:solidFill>
                  <a:srgbClr val="174A79"/>
                </a:solidFill>
                <a:latin typeface="Candara" panose="020E0502030303020204" pitchFamily="34" charset="0"/>
              </a:rPr>
              <a:t>Together, these requirements motivate Streaming Lossless Compression (SLC).</a:t>
            </a:r>
          </a:p>
        </p:txBody>
      </p:sp>
      <p:sp>
        <p:nvSpPr>
          <p:cNvPr id="6" name="文本框 5">
            <a:extLst>
              <a:ext uri="{FF2B5EF4-FFF2-40B4-BE49-F238E27FC236}">
                <a16:creationId xmlns:a16="http://schemas.microsoft.com/office/drawing/2014/main" id="{5664A80D-5FA5-5B59-4F11-4B8F0A378F2C}"/>
              </a:ext>
            </a:extLst>
          </p:cNvPr>
          <p:cNvSpPr txBox="1"/>
          <p:nvPr/>
        </p:nvSpPr>
        <p:spPr>
          <a:xfrm>
            <a:off x="888642" y="6447878"/>
            <a:ext cx="10061467" cy="184666"/>
          </a:xfrm>
          <a:prstGeom prst="rect">
            <a:avLst/>
          </a:prstGeom>
          <a:noFill/>
        </p:spPr>
        <p:txBody>
          <a:bodyPr wrap="square" lIns="0" tIns="0" rIns="0" bIns="0">
            <a:spAutoFit/>
          </a:bodyPr>
          <a:lstStyle/>
          <a:p>
            <a:r>
              <a:rPr lang="en-US" altLang="zh-CN" sz="1200" dirty="0">
                <a:solidFill>
                  <a:srgbClr val="8E8E8E"/>
                </a:solidFill>
                <a:latin typeface="Candara" panose="020E0502030303020204" pitchFamily="34" charset="0"/>
              </a:rPr>
              <a:t>[1] S. K. Jensen, T. B. Pedersen, and C. Thomsen, "Time series management systems: A survey," IEEE TKDE, 2017.</a:t>
            </a:r>
            <a:endParaRPr lang="zh-CN" altLang="en-US" sz="1200" dirty="0">
              <a:solidFill>
                <a:srgbClr val="8E8E8E"/>
              </a:solidFill>
              <a:latin typeface="Candara" panose="020E0502030303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8" grpId="0"/>
      <p:bldP spid="11" grpId="0"/>
      <p:bldP spid="13" grpId="0"/>
      <p:bldP spid="15"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灯片编号占位符 3"/>
          <p:cNvSpPr>
            <a:spLocks noGrp="1"/>
          </p:cNvSpPr>
          <p:nvPr>
            <p:ph type="sldNum" idx="12"/>
          </p:nvPr>
        </p:nvSpPr>
        <p:spPr/>
        <p:txBody>
          <a:bodyPr/>
          <a:lstStyle/>
          <a:p>
            <a:pPr>
              <a:buNone/>
              <a:defRPr>
                <a:latin typeface="Candara" panose="020E0502030303020204"/>
                <a:ea typeface="Candara" panose="020E0502030303020204"/>
                <a:cs typeface="Candara" panose="020E0502030303020204"/>
              </a:defRPr>
            </a:pPr>
            <a:r>
              <a:rPr lang="en-US" altLang="zh-CN">
                <a:latin typeface="Candara" panose="020E0502030303020204"/>
                <a:ea typeface="Candara" panose="020E0502030303020204"/>
                <a:cs typeface="Candara" panose="020E0502030303020204"/>
              </a:rPr>
              <a:t>4</a:t>
            </a:r>
            <a:endParaRPr dirty="0">
              <a:latin typeface="Candara" panose="020E0502030303020204"/>
              <a:ea typeface="Candara" panose="020E0502030303020204"/>
              <a:cs typeface="Candara" panose="020E0502030303020204"/>
            </a:endParaRPr>
          </a:p>
        </p:txBody>
      </p:sp>
      <p:pic>
        <p:nvPicPr>
          <p:cNvPr id="20" name="图片 14"/>
          <p:cNvPicPr>
            <a:picLocks noChangeAspect="1"/>
          </p:cNvPicPr>
          <p:nvPr/>
        </p:nvPicPr>
        <p:blipFill>
          <a:blip r:embed="rId4"/>
          <a:srcRect/>
          <a:stretch>
            <a:fillRect/>
          </a:stretch>
        </p:blipFill>
        <p:spPr>
          <a:xfrm>
            <a:off x="0" y="0"/>
            <a:ext cx="12192000" cy="1143000"/>
          </a:xfrm>
          <a:prstGeom prst="rect">
            <a:avLst/>
          </a:prstGeom>
        </p:spPr>
      </p:pic>
      <p:sp>
        <p:nvSpPr>
          <p:cNvPr id="9" name="矩形 8"/>
          <p:cNvSpPr>
            <a:spLocks noGrp="1"/>
          </p:cNvSpPr>
          <p:nvPr/>
        </p:nvSpPr>
        <p:spPr>
          <a:xfrm>
            <a:off x="590550" y="114300"/>
            <a:ext cx="11010900" cy="914400"/>
          </a:xfrm>
          <a:prstGeom prst="rect">
            <a:avLst/>
          </a:prstGeom>
          <a:noFill/>
          <a:ln w="0">
            <a:noFill/>
            <a:prstDash val="solid"/>
          </a:ln>
        </p:spPr>
        <p:txBody>
          <a:bodyPr lIns="0" tIns="0" rIns="0" bIns="0" anchor="ctr">
            <a:normAutofit/>
          </a:bodyPr>
          <a:lstStyle/>
          <a:p>
            <a:pPr>
              <a:buNone/>
              <a:defRPr sz="2700" b="1">
                <a:solidFill>
                  <a:srgbClr val="000000"/>
                </a:solidFill>
                <a:latin typeface="Candara" panose="020E0502030303020204"/>
                <a:ea typeface="Candara" panose="020E0502030303020204"/>
                <a:cs typeface="Candara" panose="020E0502030303020204"/>
              </a:defRPr>
            </a:pPr>
            <a:r>
              <a:rPr lang="en-US" sz="3200" b="1" dirty="0">
                <a:solidFill>
                  <a:srgbClr val="174A79"/>
                </a:solidFill>
                <a:latin typeface="Candara" panose="020E0502030303020204" pitchFamily="34" charset="0"/>
                <a:ea typeface="Candara" panose="020E0502030303020204"/>
                <a:cs typeface="Candara" panose="020E0502030303020204"/>
              </a:rPr>
              <a:t>Existing Schemes Exploit Two Redundancy Sources</a:t>
            </a:r>
            <a:endParaRPr sz="3200" b="1" dirty="0">
              <a:solidFill>
                <a:srgbClr val="174A79"/>
              </a:solidFill>
              <a:latin typeface="Candara" panose="020E0502030303020204" pitchFamily="34" charset="0"/>
            </a:endParaRPr>
          </a:p>
        </p:txBody>
      </p:sp>
      <p:sp>
        <p:nvSpPr>
          <p:cNvPr id="7" name="Narrative Lead">
            <a:extLst>
              <a:ext uri="{FF2B5EF4-FFF2-40B4-BE49-F238E27FC236}">
                <a16:creationId xmlns:a16="http://schemas.microsoft.com/office/drawing/2014/main" id="{CFF7968E-20DE-95F0-D6C1-C8135A480EDC}"/>
              </a:ext>
            </a:extLst>
          </p:cNvPr>
          <p:cNvSpPr txBox="1"/>
          <p:nvPr/>
        </p:nvSpPr>
        <p:spPr>
          <a:xfrm>
            <a:off x="590550" y="1282700"/>
            <a:ext cx="10972800" cy="307777"/>
          </a:xfrm>
          <a:prstGeom prst="rect">
            <a:avLst/>
          </a:prstGeom>
          <a:noFill/>
        </p:spPr>
        <p:txBody>
          <a:bodyPr vert="horz" lIns="0" tIns="0" rIns="0" bIns="0" rtlCol="0">
            <a:spAutoFit/>
          </a:bodyPr>
          <a:lstStyle/>
          <a:p>
            <a:pPr marL="285750" indent="-285750">
              <a:spcAft>
                <a:spcPts val="500"/>
              </a:spcAft>
              <a:buFont typeface="Wingdings" panose="05000000000000000000" pitchFamily="2" charset="2"/>
              <a:buChar char="p"/>
            </a:pPr>
            <a:r>
              <a:rPr lang="en-US" altLang="zh-CN" sz="2000" b="1" dirty="0">
                <a:solidFill>
                  <a:srgbClr val="C4530D"/>
                </a:solidFill>
                <a:latin typeface="Candara" panose="020E0502030303020204" pitchFamily="34" charset="0"/>
              </a:rPr>
              <a:t>Redundancy Sources:</a:t>
            </a:r>
            <a:r>
              <a:rPr lang="en-US" altLang="zh-CN" sz="2000" b="1" dirty="0">
                <a:solidFill>
                  <a:srgbClr val="174A79"/>
                </a:solidFill>
                <a:latin typeface="Candara" panose="020E0502030303020204" pitchFamily="34" charset="0"/>
              </a:rPr>
              <a:t> Existing schemes reduce storage of floating-point streams in two ways.</a:t>
            </a:r>
          </a:p>
        </p:txBody>
      </p:sp>
      <p:sp>
        <p:nvSpPr>
          <p:cNvPr id="8" name="Narrative Lead">
            <a:extLst>
              <a:ext uri="{FF2B5EF4-FFF2-40B4-BE49-F238E27FC236}">
                <a16:creationId xmlns:a16="http://schemas.microsoft.com/office/drawing/2014/main" id="{1F71007D-3AA1-D145-24CB-F2A0C73AAAF9}"/>
              </a:ext>
            </a:extLst>
          </p:cNvPr>
          <p:cNvSpPr txBox="1"/>
          <p:nvPr/>
        </p:nvSpPr>
        <p:spPr>
          <a:xfrm>
            <a:off x="873228" y="1816100"/>
            <a:ext cx="10972800" cy="276999"/>
          </a:xfrm>
          <a:prstGeom prst="rect">
            <a:avLst/>
          </a:prstGeom>
          <a:noFill/>
        </p:spPr>
        <p:txBody>
          <a:bodyPr vert="horz" lIns="0" tIns="0" rIns="0" bIns="0" rtlCol="0">
            <a:spAutoFit/>
          </a:bodyPr>
          <a:lstStyle/>
          <a:p>
            <a:pPr marL="342900" indent="-342900">
              <a:spcAft>
                <a:spcPts val="500"/>
              </a:spcAft>
              <a:buFont typeface="Wingdings" panose="05000000000000000000" pitchFamily="2" charset="2"/>
              <a:buChar char="u"/>
            </a:pPr>
            <a:r>
              <a:rPr lang="en-US" altLang="zh-CN" b="1" dirty="0">
                <a:solidFill>
                  <a:srgbClr val="174A79"/>
                </a:solidFill>
                <a:latin typeface="Candara" panose="020E0502030303020204" pitchFamily="34" charset="0"/>
              </a:rPr>
              <a:t>Inter-value smoothness: encode differences between adjacent values, e.g., with XOR (Gorilla [2], Chimp [3]).</a:t>
            </a:r>
          </a:p>
        </p:txBody>
      </p:sp>
      <p:sp>
        <p:nvSpPr>
          <p:cNvPr id="10" name="Narrative Lead">
            <a:extLst>
              <a:ext uri="{FF2B5EF4-FFF2-40B4-BE49-F238E27FC236}">
                <a16:creationId xmlns:a16="http://schemas.microsoft.com/office/drawing/2014/main" id="{659DB1BC-7635-E356-528E-92353AAB11DA}"/>
              </a:ext>
            </a:extLst>
          </p:cNvPr>
          <p:cNvSpPr txBox="1"/>
          <p:nvPr/>
        </p:nvSpPr>
        <p:spPr>
          <a:xfrm>
            <a:off x="873228" y="2235200"/>
            <a:ext cx="10972800" cy="276999"/>
          </a:xfrm>
          <a:prstGeom prst="rect">
            <a:avLst/>
          </a:prstGeom>
          <a:noFill/>
        </p:spPr>
        <p:txBody>
          <a:bodyPr vert="horz" lIns="0" tIns="0" rIns="0" bIns="0" rtlCol="0">
            <a:spAutoFit/>
          </a:bodyPr>
          <a:lstStyle/>
          <a:p>
            <a:pPr marL="342900" indent="-342900">
              <a:spcAft>
                <a:spcPts val="500"/>
              </a:spcAft>
              <a:buFont typeface="Wingdings" panose="05000000000000000000" pitchFamily="2" charset="2"/>
              <a:buChar char="u"/>
            </a:pPr>
            <a:r>
              <a:rPr lang="en-US" altLang="zh-CN" b="1" dirty="0">
                <a:solidFill>
                  <a:srgbClr val="174A79"/>
                </a:solidFill>
                <a:latin typeface="Candara" panose="020E0502030303020204" pitchFamily="34" charset="0"/>
              </a:rPr>
              <a:t>Intra-value redundancy: use a compact representation, e.g., by scaling decimals to integers (PDE [4], ALP [5]).</a:t>
            </a:r>
          </a:p>
        </p:txBody>
      </p:sp>
      <p:sp>
        <p:nvSpPr>
          <p:cNvPr id="11" name="Narrative Lead">
            <a:extLst>
              <a:ext uri="{FF2B5EF4-FFF2-40B4-BE49-F238E27FC236}">
                <a16:creationId xmlns:a16="http://schemas.microsoft.com/office/drawing/2014/main" id="{A82BBCA3-8D7D-ACFB-7564-7980B7829BE1}"/>
              </a:ext>
            </a:extLst>
          </p:cNvPr>
          <p:cNvSpPr txBox="1"/>
          <p:nvPr/>
        </p:nvSpPr>
        <p:spPr>
          <a:xfrm>
            <a:off x="590550" y="2768599"/>
            <a:ext cx="10972800" cy="615553"/>
          </a:xfrm>
          <a:prstGeom prst="rect">
            <a:avLst/>
          </a:prstGeom>
          <a:noFill/>
        </p:spPr>
        <p:txBody>
          <a:bodyPr vert="horz" lIns="0" tIns="0" rIns="0" bIns="0" rtlCol="0">
            <a:spAutoFit/>
          </a:bodyPr>
          <a:lstStyle/>
          <a:p>
            <a:pPr marL="285750" indent="-285750">
              <a:spcAft>
                <a:spcPts val="500"/>
              </a:spcAft>
              <a:buFont typeface="Wingdings" panose="05000000000000000000" pitchFamily="2" charset="2"/>
              <a:buChar char="p"/>
            </a:pPr>
            <a:r>
              <a:rPr lang="en-US" altLang="zh-CN" sz="2000" b="1" dirty="0">
                <a:solidFill>
                  <a:srgbClr val="C4530D"/>
                </a:solidFill>
                <a:latin typeface="Candara" panose="020E0502030303020204" pitchFamily="34" charset="0"/>
              </a:rPr>
              <a:t>Joint Exploitation:</a:t>
            </a:r>
            <a:r>
              <a:rPr lang="en-US" altLang="zh-CN" sz="2000" b="1" dirty="0">
                <a:solidFill>
                  <a:srgbClr val="174A79"/>
                </a:solidFill>
                <a:latin typeface="Candara" panose="020E0502030303020204" pitchFamily="34" charset="0"/>
              </a:rPr>
              <a:t> Elf [6] and Camel [7] combine both sources, but representation conversion introduces interference.</a:t>
            </a:r>
          </a:p>
        </p:txBody>
      </p:sp>
      <p:pic>
        <p:nvPicPr>
          <p:cNvPr id="3" name="Elf Interference">
            <a:extLst>
              <a:ext uri="{FF2B5EF4-FFF2-40B4-BE49-F238E27FC236}">
                <a16:creationId xmlns:a16="http://schemas.microsoft.com/office/drawing/2014/main" id="{7DB883E2-7B24-3B34-B0BF-B7F16A7965FC}"/>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1117600" y="3558866"/>
            <a:ext cx="5143090" cy="2632401"/>
          </a:xfrm>
          <a:prstGeom prst="rect">
            <a:avLst/>
          </a:prstGeom>
        </p:spPr>
      </p:pic>
      <p:pic>
        <p:nvPicPr>
          <p:cNvPr id="12" name="Camel Interference">
            <a:extLst>
              <a:ext uri="{FF2B5EF4-FFF2-40B4-BE49-F238E27FC236}">
                <a16:creationId xmlns:a16="http://schemas.microsoft.com/office/drawing/2014/main" id="{B3C886D6-37BD-6273-D44D-3CA395228E6A}"/>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6349999" y="3558867"/>
            <a:ext cx="4526936" cy="2632400"/>
          </a:xfrm>
          <a:prstGeom prst="rect">
            <a:avLst/>
          </a:prstGeom>
        </p:spPr>
      </p:pic>
      <p:sp>
        <p:nvSpPr>
          <p:cNvPr id="14" name="Slide 4 Sources">
            <a:extLst>
              <a:ext uri="{FF2B5EF4-FFF2-40B4-BE49-F238E27FC236}">
                <a16:creationId xmlns:a16="http://schemas.microsoft.com/office/drawing/2014/main" id="{0E636EB6-2C04-5828-D7B3-C089715CE206}"/>
              </a:ext>
            </a:extLst>
          </p:cNvPr>
          <p:cNvSpPr txBox="1"/>
          <p:nvPr/>
        </p:nvSpPr>
        <p:spPr>
          <a:xfrm>
            <a:off x="61862" y="6419645"/>
            <a:ext cx="12030176" cy="184666"/>
          </a:xfrm>
          <a:prstGeom prst="rect">
            <a:avLst/>
          </a:prstGeom>
          <a:noFill/>
        </p:spPr>
        <p:txBody>
          <a:bodyPr vert="horz" wrap="square" lIns="0" tIns="0" rIns="0" bIns="0" rtlCol="0">
            <a:spAutoFit/>
          </a:bodyPr>
          <a:lstStyle/>
          <a:p>
            <a:r>
              <a:rPr lang="en-US" altLang="zh-CN" sz="1200" dirty="0">
                <a:solidFill>
                  <a:srgbClr val="8E8E8E"/>
                </a:solidFill>
                <a:latin typeface="Candara" panose="020E0502030303020204" pitchFamily="34" charset="0"/>
              </a:rPr>
              <a:t>[2] Pelkonen et al., PVLDB 2015.  [3] Liakos et al., PVLDB 2022.  [4] </a:t>
            </a:r>
            <a:r>
              <a:rPr lang="en-US" altLang="zh-CN" sz="1200" dirty="0" err="1">
                <a:solidFill>
                  <a:srgbClr val="8E8E8E"/>
                </a:solidFill>
                <a:latin typeface="Candara" panose="020E0502030303020204" pitchFamily="34" charset="0"/>
              </a:rPr>
              <a:t>Kuschewski</a:t>
            </a:r>
            <a:r>
              <a:rPr lang="en-US" altLang="zh-CN" sz="1200" dirty="0">
                <a:solidFill>
                  <a:srgbClr val="8E8E8E"/>
                </a:solidFill>
                <a:latin typeface="Candara" panose="020E0502030303020204" pitchFamily="34" charset="0"/>
              </a:rPr>
              <a:t> et al., SIGMOD 2023.  [5] </a:t>
            </a:r>
            <a:r>
              <a:rPr lang="en-US" altLang="zh-CN" sz="1200" dirty="0" err="1">
                <a:solidFill>
                  <a:srgbClr val="8E8E8E"/>
                </a:solidFill>
                <a:latin typeface="Candara" panose="020E0502030303020204" pitchFamily="34" charset="0"/>
              </a:rPr>
              <a:t>Afroozeh</a:t>
            </a:r>
            <a:r>
              <a:rPr lang="en-US" altLang="zh-CN" sz="1200" dirty="0">
                <a:solidFill>
                  <a:srgbClr val="8E8E8E"/>
                </a:solidFill>
                <a:latin typeface="Candara" panose="020E0502030303020204" pitchFamily="34" charset="0"/>
              </a:rPr>
              <a:t> et al., SIGMOD 2023.  [6] Li et al., PVLDB 2023.  [7] Yao et al., SIGMOD 2024.</a:t>
            </a:r>
            <a:endParaRPr lang="zh-CN" altLang="en-US" sz="1200" dirty="0">
              <a:solidFill>
                <a:srgbClr val="8E8E8E"/>
              </a:solidFill>
              <a:latin typeface="Candara" panose="020E0502030303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nodeType="with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500"/>
                                        <p:tgtEl>
                                          <p:spTgt spid="3"/>
                                        </p:tgtEl>
                                      </p:cBhvr>
                                    </p:animEffect>
                                  </p:childTnLst>
                                </p:cTn>
                              </p:par>
                              <p:par>
                                <p:cTn id="22" presetID="10" presetClass="entr" presetSubtype="0" fill="hold"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灯片编号占位符 3"/>
          <p:cNvSpPr>
            <a:spLocks noGrp="1"/>
          </p:cNvSpPr>
          <p:nvPr>
            <p:ph type="sldNum" idx="12"/>
          </p:nvPr>
        </p:nvSpPr>
        <p:spPr/>
        <p:txBody>
          <a:bodyPr/>
          <a:lstStyle/>
          <a:p>
            <a:pPr>
              <a:buNone/>
              <a:defRPr>
                <a:latin typeface="Candara" panose="020E0502030303020204"/>
                <a:ea typeface="Candara" panose="020E0502030303020204"/>
                <a:cs typeface="Candara" panose="020E0502030303020204"/>
              </a:defRPr>
            </a:pPr>
            <a:r>
              <a:rPr lang="en-US" altLang="zh-CN">
                <a:latin typeface="Candara" panose="020E0502030303020204"/>
                <a:ea typeface="Candara" panose="020E0502030303020204"/>
                <a:cs typeface="Candara" panose="020E0502030303020204"/>
              </a:rPr>
              <a:t>5</a:t>
            </a:r>
            <a:endParaRPr>
              <a:latin typeface="Candara" panose="020E0502030303020204"/>
              <a:ea typeface="Candara" panose="020E0502030303020204"/>
              <a:cs typeface="Candara" panose="020E0502030303020204"/>
            </a:endParaRPr>
          </a:p>
        </p:txBody>
      </p:sp>
      <p:pic>
        <p:nvPicPr>
          <p:cNvPr id="14" name="图片 12"/>
          <p:cNvPicPr>
            <a:picLocks noChangeAspect="1"/>
          </p:cNvPicPr>
          <p:nvPr/>
        </p:nvPicPr>
        <p:blipFill>
          <a:blip r:embed="rId4"/>
          <a:srcRect/>
          <a:stretch>
            <a:fillRect/>
          </a:stretch>
        </p:blipFill>
        <p:spPr>
          <a:xfrm>
            <a:off x="0" y="0"/>
            <a:ext cx="12192000" cy="1143000"/>
          </a:xfrm>
          <a:prstGeom prst="rect">
            <a:avLst/>
          </a:prstGeom>
        </p:spPr>
      </p:pic>
      <p:sp>
        <p:nvSpPr>
          <p:cNvPr id="9" name="矩形 8"/>
          <p:cNvSpPr>
            <a:spLocks noGrp="1"/>
          </p:cNvSpPr>
          <p:nvPr/>
        </p:nvSpPr>
        <p:spPr>
          <a:xfrm>
            <a:off x="590550" y="114300"/>
            <a:ext cx="11010900" cy="914400"/>
          </a:xfrm>
          <a:prstGeom prst="rect">
            <a:avLst/>
          </a:prstGeom>
          <a:noFill/>
          <a:ln w="0">
            <a:noFill/>
            <a:prstDash val="solid"/>
          </a:ln>
        </p:spPr>
        <p:txBody>
          <a:bodyPr lIns="0" tIns="0" rIns="0" bIns="0" anchor="ctr">
            <a:normAutofit/>
          </a:bodyPr>
          <a:lstStyle/>
          <a:p>
            <a:pPr>
              <a:buNone/>
              <a:defRPr sz="2700" b="1">
                <a:solidFill>
                  <a:srgbClr val="000000"/>
                </a:solidFill>
                <a:latin typeface="Candara" panose="020E0502030303020204"/>
                <a:ea typeface="Candara" panose="020E0502030303020204"/>
                <a:cs typeface="Candara" panose="020E0502030303020204"/>
              </a:defRPr>
            </a:pPr>
            <a:r>
              <a:rPr lang="en-US" sz="3200" b="1" dirty="0">
                <a:solidFill>
                  <a:srgbClr val="174A79"/>
                </a:solidFill>
                <a:latin typeface="Candara" panose="020E0502030303020204" pitchFamily="34" charset="0"/>
                <a:ea typeface="Candara" panose="020E0502030303020204"/>
                <a:cs typeface="Candara" panose="020E0502030303020204"/>
              </a:rPr>
              <a:t>Three Challenges for Decimal-Space Compression</a:t>
            </a:r>
            <a:endParaRPr sz="3200" b="1" dirty="0">
              <a:solidFill>
                <a:srgbClr val="174A79"/>
              </a:solidFill>
              <a:latin typeface="Candara" panose="020E0502030303020204" pitchFamily="34" charset="0"/>
            </a:endParaRPr>
          </a:p>
        </p:txBody>
      </p:sp>
      <p:sp>
        <p:nvSpPr>
          <p:cNvPr id="2" name="Narrative Lead">
            <a:extLst>
              <a:ext uri="{FF2B5EF4-FFF2-40B4-BE49-F238E27FC236}">
                <a16:creationId xmlns:a16="http://schemas.microsoft.com/office/drawing/2014/main" id="{62BB21A5-7E6A-9D67-ACEC-8F6339F70677}"/>
              </a:ext>
            </a:extLst>
          </p:cNvPr>
          <p:cNvSpPr txBox="1"/>
          <p:nvPr/>
        </p:nvSpPr>
        <p:spPr>
          <a:xfrm>
            <a:off x="590550" y="1282700"/>
            <a:ext cx="10972800" cy="615553"/>
          </a:xfrm>
          <a:prstGeom prst="rect">
            <a:avLst/>
          </a:prstGeom>
          <a:noFill/>
        </p:spPr>
        <p:txBody>
          <a:bodyPr vert="horz" lIns="0" tIns="0" rIns="0" bIns="0" rtlCol="0">
            <a:spAutoFit/>
          </a:bodyPr>
          <a:lstStyle/>
          <a:p>
            <a:pPr marL="285750" indent="-285750">
              <a:spcAft>
                <a:spcPts val="500"/>
              </a:spcAft>
              <a:buFont typeface="Wingdings" panose="05000000000000000000" pitchFamily="2" charset="2"/>
              <a:buChar char="p"/>
            </a:pPr>
            <a:r>
              <a:rPr lang="en-US" altLang="zh-CN" sz="2000" b="1">
                <a:solidFill>
                  <a:srgbClr val="D97821"/>
                </a:solidFill>
                <a:latin typeface="Candara" panose="020E0502030303020204" pitchFamily="34" charset="0"/>
              </a:rPr>
              <a:t>Decimal XOR:</a:t>
            </a:r>
            <a:r>
              <a:rPr lang="en-US" altLang="zh-CN" sz="2000" b="1">
                <a:solidFill>
                  <a:srgbClr val="174A79"/>
                </a:solidFill>
                <a:latin typeface="Candara" panose="020E0502030303020204" pitchFamily="34" charset="0"/>
              </a:rPr>
              <a:t> performs an XOR-like operation in decimal space, combining both sources without conversion interference.</a:t>
            </a:r>
            <a:endParaRPr lang="en-US" altLang="zh-CN" sz="2000" b="1" dirty="0">
              <a:solidFill>
                <a:srgbClr val="174A79"/>
              </a:solidFill>
              <a:latin typeface="Candara" panose="020E0502030303020204" pitchFamily="34" charset="0"/>
            </a:endParaRPr>
          </a:p>
        </p:txBody>
      </p:sp>
      <p:pic>
        <p:nvPicPr>
          <p:cNvPr id="16" name="图片 15">
            <a:extLst>
              <a:ext uri="{FF2B5EF4-FFF2-40B4-BE49-F238E27FC236}">
                <a16:creationId xmlns:a16="http://schemas.microsoft.com/office/drawing/2014/main" id="{07D13DAB-B1E2-B32D-B64D-5F91AEB1E1E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45508" y="2037953"/>
            <a:ext cx="9062884" cy="2860272"/>
          </a:xfrm>
          <a:prstGeom prst="rect">
            <a:avLst/>
          </a:prstGeom>
        </p:spPr>
      </p:pic>
      <p:sp>
        <p:nvSpPr>
          <p:cNvPr id="24" name="Narrative Lead">
            <a:extLst>
              <a:ext uri="{FF2B5EF4-FFF2-40B4-BE49-F238E27FC236}">
                <a16:creationId xmlns:a16="http://schemas.microsoft.com/office/drawing/2014/main" id="{9C255E39-0C8C-22BD-3BA6-FD3F41D90E8F}"/>
              </a:ext>
            </a:extLst>
          </p:cNvPr>
          <p:cNvSpPr txBox="1"/>
          <p:nvPr/>
        </p:nvSpPr>
        <p:spPr>
          <a:xfrm>
            <a:off x="590550" y="5267523"/>
            <a:ext cx="10972800" cy="307777"/>
          </a:xfrm>
          <a:prstGeom prst="rect">
            <a:avLst/>
          </a:prstGeom>
          <a:noFill/>
        </p:spPr>
        <p:txBody>
          <a:bodyPr vert="horz" lIns="0" tIns="0" rIns="0" bIns="0" rtlCol="0">
            <a:spAutoFit/>
          </a:bodyPr>
          <a:lstStyle/>
          <a:p>
            <a:pPr marL="285750" indent="-285750">
              <a:spcAft>
                <a:spcPts val="500"/>
              </a:spcAft>
              <a:buFont typeface="Wingdings" panose="05000000000000000000" pitchFamily="2" charset="2"/>
              <a:buChar char="p"/>
            </a:pPr>
            <a:r>
              <a:rPr lang="en-US" altLang="zh-CN" sz="2000" b="1" dirty="0">
                <a:solidFill>
                  <a:srgbClr val="C4530D"/>
                </a:solidFill>
                <a:latin typeface="Candara" panose="020E0502030303020204" pitchFamily="34" charset="0"/>
              </a:rPr>
              <a:t>Decimal XOR </a:t>
            </a:r>
            <a:r>
              <a:rPr lang="en-US" altLang="zh-CN" sz="2000" b="1" dirty="0">
                <a:solidFill>
                  <a:srgbClr val="174A79"/>
                </a:solidFill>
                <a:latin typeface="Candara" panose="020E0502030303020204" pitchFamily="34" charset="0"/>
              </a:rPr>
              <a:t>introduces three practical </a:t>
            </a:r>
            <a:r>
              <a:rPr lang="en-US" altLang="zh-CN" sz="2000" b="1" dirty="0">
                <a:solidFill>
                  <a:srgbClr val="C4530D"/>
                </a:solidFill>
                <a:latin typeface="Candara" panose="020E0502030303020204" pitchFamily="34" charset="0"/>
              </a:rPr>
              <a:t>challenges</a:t>
            </a:r>
            <a:r>
              <a:rPr lang="en-US" altLang="zh-CN" sz="2000" b="1" dirty="0">
                <a:solidFill>
                  <a:srgbClr val="174A79"/>
                </a:solidFill>
                <a:latin typeface="Candara" panose="020E0502030303020204" pitchFamily="34" charset="0"/>
              </a:rPr>
              <a:t>. </a:t>
            </a:r>
          </a:p>
        </p:txBody>
      </p:sp>
      <p:sp>
        <p:nvSpPr>
          <p:cNvPr id="26" name="Narrative Lead">
            <a:extLst>
              <a:ext uri="{FF2B5EF4-FFF2-40B4-BE49-F238E27FC236}">
                <a16:creationId xmlns:a16="http://schemas.microsoft.com/office/drawing/2014/main" id="{1495EBF0-A1D5-570D-5664-515BCF2FECC2}"/>
              </a:ext>
            </a:extLst>
          </p:cNvPr>
          <p:cNvSpPr txBox="1"/>
          <p:nvPr/>
        </p:nvSpPr>
        <p:spPr>
          <a:xfrm>
            <a:off x="777364" y="5744432"/>
            <a:ext cx="10972800" cy="276999"/>
          </a:xfrm>
          <a:prstGeom prst="rect">
            <a:avLst/>
          </a:prstGeom>
          <a:noFill/>
        </p:spPr>
        <p:txBody>
          <a:bodyPr vert="horz" lIns="0" tIns="0" rIns="0" bIns="0" rtlCol="0">
            <a:spAutoFit/>
          </a:bodyPr>
          <a:lstStyle/>
          <a:p>
            <a:pPr marL="342900" indent="-342900">
              <a:spcAft>
                <a:spcPts val="500"/>
              </a:spcAft>
              <a:buFont typeface="Wingdings" panose="05000000000000000000" pitchFamily="2" charset="2"/>
              <a:buChar char="u"/>
            </a:pPr>
            <a:r>
              <a:rPr lang="en-US" altLang="zh-CN" b="1" dirty="0">
                <a:solidFill>
                  <a:srgbClr val="C4530D"/>
                </a:solidFill>
                <a:latin typeface="Candara" panose="020E0502030303020204" pitchFamily="34" charset="0"/>
              </a:rPr>
              <a:t>C1: </a:t>
            </a:r>
            <a:r>
              <a:rPr lang="en-US" altLang="zh-CN" b="1" dirty="0">
                <a:solidFill>
                  <a:srgbClr val="174A79"/>
                </a:solidFill>
                <a:latin typeface="Candara" panose="020E0502030303020204" pitchFamily="34" charset="0"/>
              </a:rPr>
              <a:t>exact reconstruction under binary-decimal conversion</a:t>
            </a:r>
          </a:p>
        </p:txBody>
      </p:sp>
      <p:sp>
        <p:nvSpPr>
          <p:cNvPr id="27" name="Narrative Lead">
            <a:extLst>
              <a:ext uri="{FF2B5EF4-FFF2-40B4-BE49-F238E27FC236}">
                <a16:creationId xmlns:a16="http://schemas.microsoft.com/office/drawing/2014/main" id="{F27D6DCB-B2ED-F9A8-66E7-13AD9613D56B}"/>
              </a:ext>
            </a:extLst>
          </p:cNvPr>
          <p:cNvSpPr txBox="1"/>
          <p:nvPr/>
        </p:nvSpPr>
        <p:spPr>
          <a:xfrm>
            <a:off x="777364" y="6058779"/>
            <a:ext cx="10972800" cy="276999"/>
          </a:xfrm>
          <a:prstGeom prst="rect">
            <a:avLst/>
          </a:prstGeom>
          <a:noFill/>
        </p:spPr>
        <p:txBody>
          <a:bodyPr vert="horz" lIns="0" tIns="0" rIns="0" bIns="0" rtlCol="0">
            <a:spAutoFit/>
          </a:bodyPr>
          <a:lstStyle/>
          <a:p>
            <a:pPr marL="342900" indent="-342900">
              <a:spcAft>
                <a:spcPts val="500"/>
              </a:spcAft>
              <a:buFont typeface="Wingdings" panose="05000000000000000000" pitchFamily="2" charset="2"/>
              <a:buChar char="u"/>
            </a:pPr>
            <a:r>
              <a:rPr lang="en-US" altLang="zh-CN" b="1">
                <a:solidFill>
                  <a:srgbClr val="D97821"/>
                </a:solidFill>
                <a:latin typeface="Candara" panose="020E0502030303020204" pitchFamily="34" charset="0"/>
              </a:rPr>
              <a:t>C2:</a:t>
            </a:r>
            <a:r>
              <a:rPr lang="en-US" altLang="zh-CN" b="1">
                <a:solidFill>
                  <a:srgbClr val="174A79"/>
                </a:solidFill>
                <a:latin typeface="Candara" panose="020E0502030303020204" pitchFamily="34" charset="0"/>
              </a:rPr>
              <a:t> computational and metadata overhead in prefix and suffix processing</a:t>
            </a:r>
            <a:endParaRPr lang="en-US" altLang="zh-CN" b="1" dirty="0">
              <a:solidFill>
                <a:srgbClr val="174A79"/>
              </a:solidFill>
              <a:latin typeface="Candara" panose="020E0502030303020204" pitchFamily="34" charset="0"/>
            </a:endParaRPr>
          </a:p>
        </p:txBody>
      </p:sp>
      <p:sp>
        <p:nvSpPr>
          <p:cNvPr id="28" name="Narrative Lead">
            <a:extLst>
              <a:ext uri="{FF2B5EF4-FFF2-40B4-BE49-F238E27FC236}">
                <a16:creationId xmlns:a16="http://schemas.microsoft.com/office/drawing/2014/main" id="{3FBCA815-CEB7-180A-D18A-207AA97D4276}"/>
              </a:ext>
            </a:extLst>
          </p:cNvPr>
          <p:cNvSpPr txBox="1"/>
          <p:nvPr/>
        </p:nvSpPr>
        <p:spPr>
          <a:xfrm>
            <a:off x="777364" y="6373126"/>
            <a:ext cx="10972800" cy="276999"/>
          </a:xfrm>
          <a:prstGeom prst="rect">
            <a:avLst/>
          </a:prstGeom>
          <a:noFill/>
        </p:spPr>
        <p:txBody>
          <a:bodyPr vert="horz" lIns="0" tIns="0" rIns="0" bIns="0" rtlCol="0">
            <a:spAutoFit/>
          </a:bodyPr>
          <a:lstStyle/>
          <a:p>
            <a:pPr marL="342900" indent="-342900">
              <a:spcAft>
                <a:spcPts val="500"/>
              </a:spcAft>
              <a:buFont typeface="Wingdings" panose="05000000000000000000" pitchFamily="2" charset="2"/>
              <a:buChar char="u"/>
            </a:pPr>
            <a:r>
              <a:rPr lang="en-US" altLang="zh-CN" b="1" dirty="0">
                <a:solidFill>
                  <a:srgbClr val="C4530D"/>
                </a:solidFill>
                <a:latin typeface="Candara" panose="020E0502030303020204" pitchFamily="34" charset="0"/>
              </a:rPr>
              <a:t>C3: </a:t>
            </a:r>
            <a:r>
              <a:rPr lang="en-US" altLang="zh-CN" b="1" dirty="0">
                <a:solidFill>
                  <a:srgbClr val="174A79"/>
                </a:solidFill>
                <a:latin typeface="Candara" panose="020E0502030303020204" pitchFamily="34" charset="0"/>
              </a:rPr>
              <a:t>robustness when high-precision values provide little compressible redundancy</a:t>
            </a:r>
          </a:p>
        </p:txBody>
      </p:sp>
    </p:spTree>
    <p:extLst>
      <p:ext uri="{BB962C8B-B14F-4D97-AF65-F5344CB8AC3E}">
        <p14:creationId xmlns:p14="http://schemas.microsoft.com/office/powerpoint/2010/main" val="2883793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00"/>
                                        <p:tgtEl>
                                          <p:spTgt spid="2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fade">
                                      <p:cBhvr>
                                        <p:cTn id="18" dur="500"/>
                                        <p:tgtEl>
                                          <p:spTgt spid="2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fade">
                                      <p:cBhvr>
                                        <p:cTn id="21"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4" grpId="0"/>
      <p:bldP spid="26" grpId="0"/>
      <p:bldP spid="27" grpId="0"/>
      <p:bldP spid="28"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灯片编号占位符 3"/>
          <p:cNvSpPr>
            <a:spLocks noGrp="1"/>
          </p:cNvSpPr>
          <p:nvPr>
            <p:ph type="sldNum" idx="12"/>
          </p:nvPr>
        </p:nvSpPr>
        <p:spPr/>
        <p:txBody>
          <a:bodyPr/>
          <a:lstStyle/>
          <a:p>
            <a:pPr>
              <a:buNone/>
              <a:defRPr>
                <a:latin typeface="Candara" panose="020E0502030303020204"/>
                <a:ea typeface="Candara" panose="020E0502030303020204"/>
                <a:cs typeface="Candara" panose="020E0502030303020204"/>
              </a:defRPr>
            </a:pPr>
            <a:r>
              <a:rPr lang="en-US" altLang="zh-CN">
                <a:latin typeface="Candara" panose="020E0502030303020204"/>
                <a:ea typeface="Candara" panose="020E0502030303020204"/>
                <a:cs typeface="Candara" panose="020E0502030303020204"/>
              </a:rPr>
              <a:t>6</a:t>
            </a:r>
            <a:endParaRPr>
              <a:latin typeface="Candara" panose="020E0502030303020204"/>
              <a:ea typeface="Candara" panose="020E0502030303020204"/>
              <a:cs typeface="Candara" panose="020E0502030303020204"/>
            </a:endParaRPr>
          </a:p>
        </p:txBody>
      </p:sp>
      <p:pic>
        <p:nvPicPr>
          <p:cNvPr id="14" name="图片 12"/>
          <p:cNvPicPr>
            <a:picLocks noChangeAspect="1"/>
          </p:cNvPicPr>
          <p:nvPr/>
        </p:nvPicPr>
        <p:blipFill>
          <a:blip r:embed="rId4"/>
          <a:srcRect/>
          <a:stretch>
            <a:fillRect/>
          </a:stretch>
        </p:blipFill>
        <p:spPr>
          <a:xfrm>
            <a:off x="0" y="0"/>
            <a:ext cx="12192000" cy="1143000"/>
          </a:xfrm>
          <a:prstGeom prst="rect">
            <a:avLst/>
          </a:prstGeom>
        </p:spPr>
      </p:pic>
      <p:sp>
        <p:nvSpPr>
          <p:cNvPr id="9" name="矩形 8"/>
          <p:cNvSpPr>
            <a:spLocks noGrp="1"/>
          </p:cNvSpPr>
          <p:nvPr/>
        </p:nvSpPr>
        <p:spPr>
          <a:xfrm>
            <a:off x="590550" y="114300"/>
            <a:ext cx="11010900" cy="914400"/>
          </a:xfrm>
          <a:prstGeom prst="rect">
            <a:avLst/>
          </a:prstGeom>
          <a:noFill/>
          <a:ln w="0">
            <a:noFill/>
            <a:prstDash val="solid"/>
          </a:ln>
        </p:spPr>
        <p:txBody>
          <a:bodyPr lIns="0" tIns="0" rIns="0" bIns="0" anchor="ctr">
            <a:normAutofit/>
          </a:bodyPr>
          <a:lstStyle/>
          <a:p>
            <a:pPr>
              <a:buNone/>
              <a:defRPr sz="2700" b="1">
                <a:solidFill>
                  <a:srgbClr val="000000"/>
                </a:solidFill>
                <a:latin typeface="Candara" panose="020E0502030303020204"/>
                <a:ea typeface="Candara" panose="020E0502030303020204"/>
                <a:cs typeface="Candara" panose="020E0502030303020204"/>
              </a:defRPr>
            </a:pPr>
            <a:r>
              <a:rPr lang="en-US" sz="3200" b="1" dirty="0">
                <a:solidFill>
                  <a:srgbClr val="174A79"/>
                </a:solidFill>
                <a:latin typeface="Candara" panose="020E0502030303020204" pitchFamily="34" charset="0"/>
                <a:ea typeface="Candara" panose="020E0502030303020204"/>
                <a:cs typeface="Candara" panose="020E0502030303020204"/>
              </a:rPr>
              <a:t>Outline</a:t>
            </a:r>
            <a:endParaRPr sz="3200" b="1" dirty="0">
              <a:solidFill>
                <a:srgbClr val="174A79"/>
              </a:solidFill>
              <a:latin typeface="Candara" panose="020E0502030303020204" pitchFamily="34" charset="0"/>
            </a:endParaRPr>
          </a:p>
        </p:txBody>
      </p:sp>
      <p:sp>
        <p:nvSpPr>
          <p:cNvPr id="3" name="文本框 2">
            <a:extLst>
              <a:ext uri="{FF2B5EF4-FFF2-40B4-BE49-F238E27FC236}">
                <a16:creationId xmlns:a16="http://schemas.microsoft.com/office/drawing/2014/main" id="{514AAA81-5234-5892-3EC7-6B2BECC9652E}"/>
              </a:ext>
            </a:extLst>
          </p:cNvPr>
          <p:cNvSpPr txBox="1"/>
          <p:nvPr/>
        </p:nvSpPr>
        <p:spPr>
          <a:xfrm>
            <a:off x="1905000" y="1676399"/>
            <a:ext cx="8890000" cy="384721"/>
          </a:xfrm>
          <a:prstGeom prst="rect">
            <a:avLst/>
          </a:prstGeom>
          <a:noFill/>
        </p:spPr>
        <p:txBody>
          <a:bodyPr vert="horz" lIns="0" tIns="0" rIns="0" bIns="0" rtlCol="0">
            <a:spAutoFit/>
          </a:bodyPr>
          <a:lstStyle/>
          <a:p>
            <a:pPr marL="342900" indent="-342900">
              <a:buFont typeface="Wingdings" panose="05000000000000000000" pitchFamily="2" charset="2"/>
              <a:buChar char="l"/>
            </a:pPr>
            <a:r>
              <a:rPr lang="en-US" altLang="zh-CN" sz="2500" dirty="0">
                <a:solidFill>
                  <a:srgbClr val="A5AEB6"/>
                </a:solidFill>
                <a:latin typeface="Candara" panose="020E0502030303020204" pitchFamily="34" charset="0"/>
              </a:rPr>
              <a:t>Background and Observation</a:t>
            </a:r>
            <a:endParaRPr lang="zh-CN" altLang="en-US" sz="2500" dirty="0">
              <a:solidFill>
                <a:srgbClr val="A5AEB6"/>
              </a:solidFill>
              <a:latin typeface="Candara" panose="020E0502030303020204" pitchFamily="34" charset="0"/>
            </a:endParaRPr>
          </a:p>
        </p:txBody>
      </p:sp>
      <p:sp>
        <p:nvSpPr>
          <p:cNvPr id="8" name="文本框 7">
            <a:extLst>
              <a:ext uri="{FF2B5EF4-FFF2-40B4-BE49-F238E27FC236}">
                <a16:creationId xmlns:a16="http://schemas.microsoft.com/office/drawing/2014/main" id="{A0826364-CC0B-34AA-8760-E4B673B21104}"/>
              </a:ext>
            </a:extLst>
          </p:cNvPr>
          <p:cNvSpPr txBox="1"/>
          <p:nvPr/>
        </p:nvSpPr>
        <p:spPr>
          <a:xfrm>
            <a:off x="1905000" y="2832099"/>
            <a:ext cx="8890000" cy="384721"/>
          </a:xfrm>
          <a:prstGeom prst="rect">
            <a:avLst/>
          </a:prstGeom>
          <a:noFill/>
        </p:spPr>
        <p:txBody>
          <a:bodyPr vert="horz" lIns="0" tIns="0" rIns="0" bIns="0" rtlCol="0">
            <a:spAutoFit/>
          </a:bodyPr>
          <a:lstStyle/>
          <a:p>
            <a:pPr marL="342900" indent="-342900">
              <a:buFont typeface="Wingdings" panose="05000000000000000000" pitchFamily="2" charset="2"/>
              <a:buChar char="l"/>
            </a:pPr>
            <a:r>
              <a:rPr lang="en-US" altLang="zh-CN" sz="2500" b="1" dirty="0">
                <a:solidFill>
                  <a:srgbClr val="174A79"/>
                </a:solidFill>
                <a:latin typeface="Candara" panose="020E0502030303020204" pitchFamily="34" charset="0"/>
              </a:rPr>
              <a:t>Decimal XOR and </a:t>
            </a:r>
            <a:r>
              <a:rPr lang="en-US" altLang="zh-CN" sz="2500" b="1" dirty="0" err="1">
                <a:solidFill>
                  <a:srgbClr val="174A79"/>
                </a:solidFill>
                <a:latin typeface="Candara" panose="020E0502030303020204" pitchFamily="34" charset="0"/>
              </a:rPr>
              <a:t>DeXOR</a:t>
            </a:r>
            <a:r>
              <a:rPr lang="en-US" altLang="zh-CN" sz="2500" b="1" dirty="0">
                <a:solidFill>
                  <a:srgbClr val="174A79"/>
                </a:solidFill>
                <a:latin typeface="Candara" panose="020E0502030303020204" pitchFamily="34" charset="0"/>
              </a:rPr>
              <a:t> Design</a:t>
            </a:r>
            <a:endParaRPr lang="zh-CN" altLang="en-US" sz="2500" b="1" dirty="0">
              <a:solidFill>
                <a:srgbClr val="174A79"/>
              </a:solidFill>
              <a:latin typeface="Candara" panose="020E0502030303020204" pitchFamily="34" charset="0"/>
            </a:endParaRPr>
          </a:p>
        </p:txBody>
      </p:sp>
      <p:sp>
        <p:nvSpPr>
          <p:cNvPr id="11" name="文本框 10">
            <a:extLst>
              <a:ext uri="{FF2B5EF4-FFF2-40B4-BE49-F238E27FC236}">
                <a16:creationId xmlns:a16="http://schemas.microsoft.com/office/drawing/2014/main" id="{9B939D72-B1CB-ECEE-C305-A57DD5560B24}"/>
              </a:ext>
            </a:extLst>
          </p:cNvPr>
          <p:cNvSpPr txBox="1"/>
          <p:nvPr/>
        </p:nvSpPr>
        <p:spPr>
          <a:xfrm>
            <a:off x="1905000" y="3987799"/>
            <a:ext cx="8890000" cy="384721"/>
          </a:xfrm>
          <a:prstGeom prst="rect">
            <a:avLst/>
          </a:prstGeom>
          <a:noFill/>
        </p:spPr>
        <p:txBody>
          <a:bodyPr vert="horz" lIns="0" tIns="0" rIns="0" bIns="0" rtlCol="0">
            <a:spAutoFit/>
          </a:bodyPr>
          <a:lstStyle/>
          <a:p>
            <a:pPr marL="342900" indent="-342900">
              <a:buFont typeface="Wingdings" panose="05000000000000000000" pitchFamily="2" charset="2"/>
              <a:buChar char="l"/>
            </a:pPr>
            <a:r>
              <a:rPr lang="en-US" altLang="zh-CN" sz="2500" dirty="0">
                <a:solidFill>
                  <a:srgbClr val="A5AEB6"/>
                </a:solidFill>
                <a:latin typeface="Candara" panose="020E0502030303020204" pitchFamily="34" charset="0"/>
              </a:rPr>
              <a:t>Experimental Evaluation</a:t>
            </a:r>
            <a:endParaRPr lang="zh-CN" altLang="en-US" sz="2500" dirty="0">
              <a:solidFill>
                <a:srgbClr val="A5AEB6"/>
              </a:solidFill>
              <a:latin typeface="Candara" panose="020E0502030303020204" pitchFamily="34" charset="0"/>
            </a:endParaRPr>
          </a:p>
        </p:txBody>
      </p:sp>
      <p:sp>
        <p:nvSpPr>
          <p:cNvPr id="13" name="文本框 12">
            <a:extLst>
              <a:ext uri="{FF2B5EF4-FFF2-40B4-BE49-F238E27FC236}">
                <a16:creationId xmlns:a16="http://schemas.microsoft.com/office/drawing/2014/main" id="{C1EA051C-0266-E15A-1D00-75BE07D14521}"/>
              </a:ext>
            </a:extLst>
          </p:cNvPr>
          <p:cNvSpPr txBox="1"/>
          <p:nvPr/>
        </p:nvSpPr>
        <p:spPr>
          <a:xfrm>
            <a:off x="1905000" y="5143499"/>
            <a:ext cx="8890000" cy="384721"/>
          </a:xfrm>
          <a:prstGeom prst="rect">
            <a:avLst/>
          </a:prstGeom>
          <a:noFill/>
        </p:spPr>
        <p:txBody>
          <a:bodyPr vert="horz" lIns="0" tIns="0" rIns="0" bIns="0" rtlCol="0">
            <a:spAutoFit/>
          </a:bodyPr>
          <a:lstStyle/>
          <a:p>
            <a:pPr marL="342900" indent="-342900">
              <a:buFont typeface="Wingdings" panose="05000000000000000000" pitchFamily="2" charset="2"/>
              <a:buChar char="l"/>
            </a:pPr>
            <a:r>
              <a:rPr lang="en-US" altLang="zh-CN" sz="2500">
                <a:solidFill>
                  <a:srgbClr val="A5AEB6"/>
                </a:solidFill>
                <a:latin typeface="Candara" panose="020E0502030303020204" pitchFamily="34" charset="0"/>
              </a:rPr>
              <a:t>DeXOR Family Extension</a:t>
            </a:r>
            <a:endParaRPr lang="zh-CN" altLang="en-US" sz="2500">
              <a:solidFill>
                <a:srgbClr val="A5AEB6"/>
              </a:solidFill>
              <a:latin typeface="Candara" panose="020E0502030303020204" pitchFamily="34" charset="0"/>
            </a:endParaRPr>
          </a:p>
        </p:txBody>
      </p:sp>
    </p:spTree>
    <p:extLst>
      <p:ext uri="{BB962C8B-B14F-4D97-AF65-F5344CB8AC3E}">
        <p14:creationId xmlns:p14="http://schemas.microsoft.com/office/powerpoint/2010/main" val="21333818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灯片编号占位符 3"/>
          <p:cNvSpPr>
            <a:spLocks noGrp="1"/>
          </p:cNvSpPr>
          <p:nvPr>
            <p:ph type="sldNum" idx="12"/>
          </p:nvPr>
        </p:nvSpPr>
        <p:spPr/>
        <p:txBody>
          <a:bodyPr/>
          <a:lstStyle/>
          <a:p>
            <a:pPr>
              <a:buNone/>
              <a:defRPr>
                <a:latin typeface="Candara" panose="020E0502030303020204"/>
                <a:ea typeface="Candara" panose="020E0502030303020204"/>
                <a:cs typeface="Candara" panose="020E0502030303020204"/>
              </a:defRPr>
            </a:pPr>
            <a:r>
              <a:rPr lang="en-US" altLang="zh-CN">
                <a:latin typeface="Candara" panose="020E0502030303020204"/>
                <a:ea typeface="Candara" panose="020E0502030303020204"/>
                <a:cs typeface="Candara" panose="020E0502030303020204"/>
              </a:rPr>
              <a:t>7</a:t>
            </a:r>
            <a:endParaRPr>
              <a:latin typeface="Candara" panose="020E0502030303020204"/>
              <a:ea typeface="Candara" panose="020E0502030303020204"/>
              <a:cs typeface="Candara" panose="020E0502030303020204"/>
            </a:endParaRPr>
          </a:p>
        </p:txBody>
      </p:sp>
      <p:pic>
        <p:nvPicPr>
          <p:cNvPr id="14" name="图片 12"/>
          <p:cNvPicPr>
            <a:picLocks noChangeAspect="1"/>
          </p:cNvPicPr>
          <p:nvPr/>
        </p:nvPicPr>
        <p:blipFill>
          <a:blip r:embed="rId4"/>
          <a:srcRect/>
          <a:stretch>
            <a:fillRect/>
          </a:stretch>
        </p:blipFill>
        <p:spPr>
          <a:xfrm>
            <a:off x="0" y="0"/>
            <a:ext cx="12192000" cy="1143000"/>
          </a:xfrm>
          <a:prstGeom prst="rect">
            <a:avLst/>
          </a:prstGeom>
        </p:spPr>
      </p:pic>
      <p:sp>
        <p:nvSpPr>
          <p:cNvPr id="9" name="矩形 8"/>
          <p:cNvSpPr>
            <a:spLocks noGrp="1"/>
          </p:cNvSpPr>
          <p:nvPr/>
        </p:nvSpPr>
        <p:spPr>
          <a:xfrm>
            <a:off x="590550" y="114300"/>
            <a:ext cx="11010900" cy="914400"/>
          </a:xfrm>
          <a:prstGeom prst="rect">
            <a:avLst/>
          </a:prstGeom>
          <a:noFill/>
          <a:ln w="0">
            <a:noFill/>
            <a:prstDash val="solid"/>
          </a:ln>
        </p:spPr>
        <p:txBody>
          <a:bodyPr lIns="0" tIns="0" rIns="0" bIns="0" anchor="ctr">
            <a:normAutofit/>
          </a:bodyPr>
          <a:lstStyle/>
          <a:p>
            <a:pPr>
              <a:buNone/>
              <a:defRPr sz="2700" b="1">
                <a:solidFill>
                  <a:srgbClr val="000000"/>
                </a:solidFill>
                <a:latin typeface="Candara" panose="020E0502030303020204"/>
                <a:ea typeface="Candara" panose="020E0502030303020204"/>
                <a:cs typeface="Candara" panose="020E0502030303020204"/>
              </a:defRPr>
            </a:pPr>
            <a:r>
              <a:rPr lang="en-US" sz="3200" b="1" dirty="0" err="1">
                <a:solidFill>
                  <a:srgbClr val="174A79"/>
                </a:solidFill>
                <a:latin typeface="Candara" panose="020E0502030303020204" pitchFamily="34" charset="0"/>
                <a:ea typeface="Candara" panose="020E0502030303020204"/>
                <a:cs typeface="Candara" panose="020E0502030303020204"/>
              </a:rPr>
              <a:t>DeXOR</a:t>
            </a:r>
            <a:r>
              <a:rPr lang="en-US" sz="3200" b="1" dirty="0">
                <a:solidFill>
                  <a:srgbClr val="174A79"/>
                </a:solidFill>
                <a:latin typeface="Candara" panose="020E0502030303020204" pitchFamily="34" charset="0"/>
                <a:ea typeface="Candara" panose="020E0502030303020204"/>
                <a:cs typeface="Candara" panose="020E0502030303020204"/>
              </a:rPr>
              <a:t>: Three Main Components</a:t>
            </a:r>
            <a:endParaRPr sz="3200" b="1" dirty="0">
              <a:solidFill>
                <a:srgbClr val="174A79"/>
              </a:solidFill>
              <a:latin typeface="Candara" panose="020E0502030303020204" pitchFamily="34" charset="0"/>
            </a:endParaRPr>
          </a:p>
        </p:txBody>
      </p:sp>
      <p:pic>
        <p:nvPicPr>
          <p:cNvPr id="16" name="图片 14"/>
          <p:cNvPicPr>
            <a:picLocks noChangeAspect="1"/>
          </p:cNvPicPr>
          <p:nvPr/>
        </p:nvPicPr>
        <p:blipFill>
          <a:blip>
            <a:extLst>
              <a:ext uri="{96DAC541-7B7A-43D3-8B79-37D633B846F1}">
                <asvg:svgBlip xmlns:asvg="http://schemas.microsoft.com/office/drawing/2016/SVG/main" r:embed="rId5"/>
              </a:ext>
            </a:extLst>
          </a:blip>
          <a:srcRect/>
          <a:stretch>
            <a:fillRect/>
          </a:stretch>
        </p:blipFill>
        <p:spPr>
          <a:xfrm>
            <a:off x="609600" y="2920181"/>
            <a:ext cx="10992943" cy="2816942"/>
          </a:xfrm>
          <a:prstGeom prst="rect">
            <a:avLst/>
          </a:prstGeom>
        </p:spPr>
      </p:pic>
      <p:sp>
        <p:nvSpPr>
          <p:cNvPr id="2" name="Technical Lead">
            <a:extLst>
              <a:ext uri="{FF2B5EF4-FFF2-40B4-BE49-F238E27FC236}">
                <a16:creationId xmlns:a16="http://schemas.microsoft.com/office/drawing/2014/main" id="{8DD114ED-D28D-EC33-DFF8-048AE18C8C74}"/>
              </a:ext>
            </a:extLst>
          </p:cNvPr>
          <p:cNvSpPr txBox="1"/>
          <p:nvPr/>
        </p:nvSpPr>
        <p:spPr>
          <a:xfrm>
            <a:off x="609600" y="1282700"/>
            <a:ext cx="10972800" cy="307777"/>
          </a:xfrm>
          <a:prstGeom prst="rect">
            <a:avLst/>
          </a:prstGeom>
          <a:noFill/>
        </p:spPr>
        <p:txBody>
          <a:bodyPr vert="horz" lIns="0" tIns="0" rIns="0" bIns="0" rtlCol="0">
            <a:spAutoFit/>
          </a:bodyPr>
          <a:lstStyle/>
          <a:p>
            <a:pPr marL="342900" indent="-342900">
              <a:buFont typeface="Wingdings" panose="05000000000000000000" pitchFamily="2" charset="2"/>
              <a:buChar char="p"/>
            </a:pPr>
            <a:r>
              <a:rPr lang="en-US" altLang="zh-CN" sz="2000" b="1">
                <a:solidFill>
                  <a:srgbClr val="D97821"/>
                </a:solidFill>
                <a:latin typeface="Candara" panose="020E0502030303020204" pitchFamily="34" charset="0"/>
              </a:rPr>
              <a:t>Converter:</a:t>
            </a:r>
            <a:r>
              <a:rPr lang="en-US" altLang="zh-CN" sz="2000" b="1">
                <a:solidFill>
                  <a:srgbClr val="174A79"/>
                </a:solidFill>
                <a:latin typeface="Candara" panose="020E0502030303020204" pitchFamily="34" charset="0"/>
              </a:rPr>
              <a:t> Decimal XOR exposes a shorter decimal suffix and manages its metadata.</a:t>
            </a:r>
            <a:endParaRPr lang="zh-CN" altLang="en-US" sz="2000" b="1" dirty="0">
              <a:solidFill>
                <a:srgbClr val="174A79"/>
              </a:solidFill>
              <a:latin typeface="Candara" panose="020E0502030303020204" pitchFamily="34" charset="0"/>
            </a:endParaRPr>
          </a:p>
        </p:txBody>
      </p:sp>
      <p:sp>
        <p:nvSpPr>
          <p:cNvPr id="5" name="Technical Detail">
            <a:extLst>
              <a:ext uri="{FF2B5EF4-FFF2-40B4-BE49-F238E27FC236}">
                <a16:creationId xmlns:a16="http://schemas.microsoft.com/office/drawing/2014/main" id="{71DAEE29-59A6-CD6D-01A9-D0E3DFF05778}"/>
              </a:ext>
            </a:extLst>
          </p:cNvPr>
          <p:cNvSpPr txBox="1"/>
          <p:nvPr/>
        </p:nvSpPr>
        <p:spPr>
          <a:xfrm>
            <a:off x="889000" y="1841500"/>
            <a:ext cx="10668000" cy="276999"/>
          </a:xfrm>
          <a:prstGeom prst="rect">
            <a:avLst/>
          </a:prstGeom>
          <a:noFill/>
        </p:spPr>
        <p:txBody>
          <a:bodyPr vert="horz" lIns="0" tIns="0" rIns="0" bIns="0" rtlCol="0">
            <a:spAutoFit/>
          </a:bodyPr>
          <a:lstStyle/>
          <a:p>
            <a:r>
              <a:rPr lang="en-US" altLang="zh-CN" b="1" dirty="0">
                <a:solidFill>
                  <a:srgbClr val="174A79"/>
                </a:solidFill>
                <a:latin typeface="Candara" panose="020E0502030303020204" pitchFamily="34" charset="0"/>
              </a:rPr>
              <a:t>◆  It removes the shared decimal prefix and records the coordinates required for reconstruction.</a:t>
            </a:r>
            <a:endParaRPr lang="zh-CN" altLang="en-US" b="1" dirty="0">
              <a:solidFill>
                <a:srgbClr val="174A79"/>
              </a:solidFill>
              <a:latin typeface="Candara" panose="020E0502030303020204" pitchFamily="34" charset="0"/>
            </a:endParaRPr>
          </a:p>
        </p:txBody>
      </p:sp>
      <p:sp>
        <p:nvSpPr>
          <p:cNvPr id="7" name="Narrative Focus">
            <a:extLst>
              <a:ext uri="{FF2B5EF4-FFF2-40B4-BE49-F238E27FC236}">
                <a16:creationId xmlns:a16="http://schemas.microsoft.com/office/drawing/2014/main" id="{45D8D07E-6473-EBE2-1A9E-E40F72352DF6}"/>
              </a:ext>
            </a:extLst>
          </p:cNvPr>
          <p:cNvSpPr/>
          <p:nvPr/>
        </p:nvSpPr>
        <p:spPr>
          <a:xfrm>
            <a:off x="510458" y="3304049"/>
            <a:ext cx="2222500" cy="1498600"/>
          </a:xfrm>
          <a:prstGeom prst="rect">
            <a:avLst/>
          </a:prstGeom>
          <a:noFill/>
          <a:ln w="31750">
            <a:solidFill>
              <a:srgbClr val="EE5B3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311402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灯片编号占位符 3"/>
          <p:cNvSpPr>
            <a:spLocks noGrp="1"/>
          </p:cNvSpPr>
          <p:nvPr>
            <p:ph type="sldNum" idx="12"/>
          </p:nvPr>
        </p:nvSpPr>
        <p:spPr/>
        <p:txBody>
          <a:bodyPr/>
          <a:lstStyle/>
          <a:p>
            <a:pPr>
              <a:buNone/>
              <a:defRPr>
                <a:latin typeface="Candara" panose="020E0502030303020204"/>
                <a:ea typeface="Candara" panose="020E0502030303020204"/>
                <a:cs typeface="Candara" panose="020E0502030303020204"/>
              </a:defRPr>
            </a:pPr>
            <a:r>
              <a:rPr lang="en-US" altLang="zh-CN">
                <a:latin typeface="Candara" panose="020E0502030303020204"/>
                <a:ea typeface="Candara" panose="020E0502030303020204"/>
                <a:cs typeface="Candara" panose="020E0502030303020204"/>
              </a:rPr>
              <a:t>8</a:t>
            </a:r>
            <a:endParaRPr>
              <a:latin typeface="Candara" panose="020E0502030303020204"/>
              <a:ea typeface="Candara" panose="020E0502030303020204"/>
              <a:cs typeface="Candara" panose="020E0502030303020204"/>
            </a:endParaRPr>
          </a:p>
        </p:txBody>
      </p:sp>
      <p:pic>
        <p:nvPicPr>
          <p:cNvPr id="14" name="图片 12"/>
          <p:cNvPicPr>
            <a:picLocks noChangeAspect="1"/>
          </p:cNvPicPr>
          <p:nvPr/>
        </p:nvPicPr>
        <p:blipFill>
          <a:blip r:embed="rId4"/>
          <a:srcRect/>
          <a:stretch>
            <a:fillRect/>
          </a:stretch>
        </p:blipFill>
        <p:spPr>
          <a:xfrm>
            <a:off x="0" y="0"/>
            <a:ext cx="12192000" cy="1143000"/>
          </a:xfrm>
          <a:prstGeom prst="rect">
            <a:avLst/>
          </a:prstGeom>
        </p:spPr>
      </p:pic>
      <p:sp>
        <p:nvSpPr>
          <p:cNvPr id="9" name="矩形 8"/>
          <p:cNvSpPr>
            <a:spLocks noGrp="1"/>
          </p:cNvSpPr>
          <p:nvPr/>
        </p:nvSpPr>
        <p:spPr>
          <a:xfrm>
            <a:off x="590550" y="114300"/>
            <a:ext cx="11010900" cy="914400"/>
          </a:xfrm>
          <a:prstGeom prst="rect">
            <a:avLst/>
          </a:prstGeom>
          <a:noFill/>
          <a:ln w="0">
            <a:noFill/>
            <a:prstDash val="solid"/>
          </a:ln>
        </p:spPr>
        <p:txBody>
          <a:bodyPr lIns="0" tIns="0" rIns="0" bIns="0" anchor="ctr">
            <a:normAutofit/>
          </a:bodyPr>
          <a:lstStyle/>
          <a:p>
            <a:pPr>
              <a:buNone/>
              <a:defRPr sz="2700" b="1">
                <a:solidFill>
                  <a:srgbClr val="000000"/>
                </a:solidFill>
                <a:latin typeface="Candara" panose="020E0502030303020204"/>
                <a:ea typeface="Candara" panose="020E0502030303020204"/>
                <a:cs typeface="Candara" panose="020E0502030303020204"/>
              </a:defRPr>
            </a:pPr>
            <a:r>
              <a:rPr lang="en-US" sz="3200" b="1" dirty="0" err="1">
                <a:solidFill>
                  <a:srgbClr val="174A79"/>
                </a:solidFill>
                <a:latin typeface="Candara" panose="020E0502030303020204" pitchFamily="34" charset="0"/>
                <a:ea typeface="Candara" panose="020E0502030303020204"/>
                <a:cs typeface="Candara" panose="020E0502030303020204"/>
              </a:rPr>
              <a:t>DeXOR</a:t>
            </a:r>
            <a:r>
              <a:rPr lang="en-US" sz="3200" b="1" dirty="0">
                <a:solidFill>
                  <a:srgbClr val="174A79"/>
                </a:solidFill>
                <a:latin typeface="Candara" panose="020E0502030303020204" pitchFamily="34" charset="0"/>
                <a:ea typeface="Candara" panose="020E0502030303020204"/>
                <a:cs typeface="Candara" panose="020E0502030303020204"/>
              </a:rPr>
              <a:t>: Three Main Components</a:t>
            </a:r>
            <a:endParaRPr sz="3200" b="1" dirty="0">
              <a:solidFill>
                <a:srgbClr val="174A79"/>
              </a:solidFill>
              <a:latin typeface="Candara" panose="020E0502030303020204" pitchFamily="34" charset="0"/>
            </a:endParaRPr>
          </a:p>
        </p:txBody>
      </p:sp>
      <p:sp>
        <p:nvSpPr>
          <p:cNvPr id="2" name="Technical Lead">
            <a:extLst>
              <a:ext uri="{FF2B5EF4-FFF2-40B4-BE49-F238E27FC236}">
                <a16:creationId xmlns:a16="http://schemas.microsoft.com/office/drawing/2014/main" id="{23FC578F-7EE1-D6ED-D2D1-57B4EAE3952F}"/>
              </a:ext>
            </a:extLst>
          </p:cNvPr>
          <p:cNvSpPr txBox="1"/>
          <p:nvPr/>
        </p:nvSpPr>
        <p:spPr>
          <a:xfrm>
            <a:off x="609600" y="1282700"/>
            <a:ext cx="10972800" cy="307777"/>
          </a:xfrm>
          <a:prstGeom prst="rect">
            <a:avLst/>
          </a:prstGeom>
          <a:noFill/>
        </p:spPr>
        <p:txBody>
          <a:bodyPr vert="horz" lIns="0" tIns="0" rIns="0" bIns="0" rtlCol="0">
            <a:spAutoFit/>
          </a:bodyPr>
          <a:lstStyle/>
          <a:p>
            <a:pPr marL="342900" indent="-342900">
              <a:buFont typeface="Wingdings" panose="05000000000000000000" pitchFamily="2" charset="2"/>
              <a:buChar char="p"/>
            </a:pPr>
            <a:r>
              <a:rPr lang="en-US" altLang="zh-CN" sz="2000" b="1" dirty="0">
                <a:solidFill>
                  <a:srgbClr val="C4530D"/>
                </a:solidFill>
                <a:latin typeface="Candara" panose="020E0502030303020204" pitchFamily="34" charset="0"/>
              </a:rPr>
              <a:t>Compressor:</a:t>
            </a:r>
            <a:r>
              <a:rPr lang="en-US" altLang="zh-CN" sz="2000" b="1" dirty="0">
                <a:solidFill>
                  <a:srgbClr val="174A79"/>
                </a:solidFill>
                <a:latin typeface="Candara" panose="020E0502030303020204" pitchFamily="34" charset="0"/>
              </a:rPr>
              <a:t> The remaining suffix is encoded according to its decimal length.</a:t>
            </a:r>
            <a:endParaRPr lang="zh-CN" altLang="en-US" sz="2000" b="1" dirty="0">
              <a:solidFill>
                <a:srgbClr val="174A79"/>
              </a:solidFill>
              <a:latin typeface="Candara" panose="020E0502030303020204" pitchFamily="34" charset="0"/>
            </a:endParaRPr>
          </a:p>
        </p:txBody>
      </p:sp>
      <p:sp>
        <p:nvSpPr>
          <p:cNvPr id="5" name="Technical Detail">
            <a:extLst>
              <a:ext uri="{FF2B5EF4-FFF2-40B4-BE49-F238E27FC236}">
                <a16:creationId xmlns:a16="http://schemas.microsoft.com/office/drawing/2014/main" id="{A59200E6-EFA4-CFA5-5EEE-0B2DADF9D199}"/>
              </a:ext>
            </a:extLst>
          </p:cNvPr>
          <p:cNvSpPr txBox="1"/>
          <p:nvPr/>
        </p:nvSpPr>
        <p:spPr>
          <a:xfrm>
            <a:off x="889000" y="1841500"/>
            <a:ext cx="10668000" cy="276999"/>
          </a:xfrm>
          <a:prstGeom prst="rect">
            <a:avLst/>
          </a:prstGeom>
          <a:noFill/>
        </p:spPr>
        <p:txBody>
          <a:bodyPr vert="horz" lIns="0" tIns="0" rIns="0" bIns="0" rtlCol="0">
            <a:spAutoFit/>
          </a:bodyPr>
          <a:lstStyle/>
          <a:p>
            <a:r>
              <a:rPr lang="en-US" altLang="zh-CN" b="1" dirty="0">
                <a:solidFill>
                  <a:srgbClr val="174A79"/>
                </a:solidFill>
                <a:latin typeface="Candara" panose="020E0502030303020204" pitchFamily="34" charset="0"/>
              </a:rPr>
              <a:t>◆  A tailored representation reduces the cost of both the residual and its metadata.</a:t>
            </a:r>
            <a:endParaRPr lang="zh-CN" altLang="en-US" b="1" dirty="0">
              <a:solidFill>
                <a:srgbClr val="174A79"/>
              </a:solidFill>
              <a:latin typeface="Candara" panose="020E0502030303020204" pitchFamily="34" charset="0"/>
            </a:endParaRPr>
          </a:p>
        </p:txBody>
      </p:sp>
      <p:pic>
        <p:nvPicPr>
          <p:cNvPr id="6" name="图片 14">
            <a:extLst>
              <a:ext uri="{FF2B5EF4-FFF2-40B4-BE49-F238E27FC236}">
                <a16:creationId xmlns:a16="http://schemas.microsoft.com/office/drawing/2014/main" id="{F2FE4F61-6864-112F-7A4B-31E1EA1F35E2}"/>
              </a:ext>
            </a:extLst>
          </p:cNvPr>
          <p:cNvPicPr>
            <a:picLocks noChangeAspect="1"/>
          </p:cNvPicPr>
          <p:nvPr/>
        </p:nvPicPr>
        <p:blipFill>
          <a:blip>
            <a:extLst>
              <a:ext uri="{96DAC541-7B7A-43D3-8B79-37D633B846F1}">
                <asvg:svgBlip xmlns:asvg="http://schemas.microsoft.com/office/drawing/2016/SVG/main" r:embed="rId5"/>
              </a:ext>
            </a:extLst>
          </a:blip>
          <a:srcRect/>
          <a:stretch>
            <a:fillRect/>
          </a:stretch>
        </p:blipFill>
        <p:spPr>
          <a:xfrm>
            <a:off x="609600" y="2920181"/>
            <a:ext cx="10992943" cy="2816942"/>
          </a:xfrm>
          <a:prstGeom prst="rect">
            <a:avLst/>
          </a:prstGeom>
        </p:spPr>
      </p:pic>
      <p:sp>
        <p:nvSpPr>
          <p:cNvPr id="7" name="Narrative Focus">
            <a:extLst>
              <a:ext uri="{FF2B5EF4-FFF2-40B4-BE49-F238E27FC236}">
                <a16:creationId xmlns:a16="http://schemas.microsoft.com/office/drawing/2014/main" id="{C7C7D4E4-F05A-2916-FFB5-2C14237DA283}"/>
              </a:ext>
            </a:extLst>
          </p:cNvPr>
          <p:cNvSpPr/>
          <p:nvPr/>
        </p:nvSpPr>
        <p:spPr>
          <a:xfrm>
            <a:off x="3873500" y="3334308"/>
            <a:ext cx="2349500" cy="1498600"/>
          </a:xfrm>
          <a:prstGeom prst="rect">
            <a:avLst/>
          </a:prstGeom>
          <a:noFill/>
          <a:ln w="31750">
            <a:solidFill>
              <a:srgbClr val="EE5B3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83609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灯片编号占位符 3"/>
          <p:cNvSpPr>
            <a:spLocks noGrp="1"/>
          </p:cNvSpPr>
          <p:nvPr>
            <p:ph type="sldNum" idx="12"/>
          </p:nvPr>
        </p:nvSpPr>
        <p:spPr/>
        <p:txBody>
          <a:bodyPr/>
          <a:lstStyle/>
          <a:p>
            <a:pPr>
              <a:buNone/>
              <a:defRPr>
                <a:latin typeface="Candara" panose="020E0502030303020204"/>
                <a:ea typeface="Candara" panose="020E0502030303020204"/>
                <a:cs typeface="Candara" panose="020E0502030303020204"/>
              </a:defRPr>
            </a:pPr>
            <a:r>
              <a:rPr lang="en-US" altLang="zh-CN">
                <a:latin typeface="Candara" panose="020E0502030303020204"/>
                <a:ea typeface="Candara" panose="020E0502030303020204"/>
                <a:cs typeface="Candara" panose="020E0502030303020204"/>
              </a:rPr>
              <a:t>9</a:t>
            </a:r>
            <a:endParaRPr>
              <a:latin typeface="Candara" panose="020E0502030303020204"/>
              <a:ea typeface="Candara" panose="020E0502030303020204"/>
              <a:cs typeface="Candara" panose="020E0502030303020204"/>
            </a:endParaRPr>
          </a:p>
        </p:txBody>
      </p:sp>
      <p:pic>
        <p:nvPicPr>
          <p:cNvPr id="14" name="图片 12"/>
          <p:cNvPicPr>
            <a:picLocks noChangeAspect="1"/>
          </p:cNvPicPr>
          <p:nvPr/>
        </p:nvPicPr>
        <p:blipFill>
          <a:blip r:embed="rId4"/>
          <a:srcRect/>
          <a:stretch>
            <a:fillRect/>
          </a:stretch>
        </p:blipFill>
        <p:spPr>
          <a:xfrm>
            <a:off x="0" y="0"/>
            <a:ext cx="12192000" cy="1143000"/>
          </a:xfrm>
          <a:prstGeom prst="rect">
            <a:avLst/>
          </a:prstGeom>
        </p:spPr>
      </p:pic>
      <p:sp>
        <p:nvSpPr>
          <p:cNvPr id="9" name="矩形 8"/>
          <p:cNvSpPr>
            <a:spLocks noGrp="1"/>
          </p:cNvSpPr>
          <p:nvPr/>
        </p:nvSpPr>
        <p:spPr>
          <a:xfrm>
            <a:off x="590550" y="114300"/>
            <a:ext cx="11010900" cy="914400"/>
          </a:xfrm>
          <a:prstGeom prst="rect">
            <a:avLst/>
          </a:prstGeom>
          <a:noFill/>
          <a:ln w="0">
            <a:noFill/>
            <a:prstDash val="solid"/>
          </a:ln>
        </p:spPr>
        <p:txBody>
          <a:bodyPr lIns="0" tIns="0" rIns="0" bIns="0" anchor="ctr">
            <a:normAutofit/>
          </a:bodyPr>
          <a:lstStyle/>
          <a:p>
            <a:pPr>
              <a:buNone/>
              <a:defRPr sz="2700" b="1">
                <a:solidFill>
                  <a:srgbClr val="000000"/>
                </a:solidFill>
                <a:latin typeface="Candara" panose="020E0502030303020204"/>
                <a:ea typeface="Candara" panose="020E0502030303020204"/>
                <a:cs typeface="Candara" panose="020E0502030303020204"/>
              </a:defRPr>
            </a:pPr>
            <a:r>
              <a:rPr lang="en-US" sz="3200" b="1" dirty="0" err="1">
                <a:solidFill>
                  <a:srgbClr val="174A79"/>
                </a:solidFill>
                <a:latin typeface="Candara" panose="020E0502030303020204" pitchFamily="34" charset="0"/>
                <a:ea typeface="Candara" panose="020E0502030303020204"/>
                <a:cs typeface="Candara" panose="020E0502030303020204"/>
              </a:rPr>
              <a:t>DeXOR</a:t>
            </a:r>
            <a:r>
              <a:rPr lang="en-US" sz="3200" b="1" dirty="0">
                <a:solidFill>
                  <a:srgbClr val="174A79"/>
                </a:solidFill>
                <a:latin typeface="Candara" panose="020E0502030303020204" pitchFamily="34" charset="0"/>
                <a:ea typeface="Candara" panose="020E0502030303020204"/>
                <a:cs typeface="Candara" panose="020E0502030303020204"/>
              </a:rPr>
              <a:t>: Three Main Components</a:t>
            </a:r>
            <a:endParaRPr sz="3200" b="1" dirty="0">
              <a:solidFill>
                <a:srgbClr val="174A79"/>
              </a:solidFill>
              <a:latin typeface="Candara" panose="020E0502030303020204" pitchFamily="34" charset="0"/>
            </a:endParaRPr>
          </a:p>
        </p:txBody>
      </p:sp>
      <p:sp>
        <p:nvSpPr>
          <p:cNvPr id="2" name="Technical Lead">
            <a:extLst>
              <a:ext uri="{FF2B5EF4-FFF2-40B4-BE49-F238E27FC236}">
                <a16:creationId xmlns:a16="http://schemas.microsoft.com/office/drawing/2014/main" id="{63715EC5-49C1-64CD-E3C8-8F4AA0FEE798}"/>
              </a:ext>
            </a:extLst>
          </p:cNvPr>
          <p:cNvSpPr txBox="1"/>
          <p:nvPr/>
        </p:nvSpPr>
        <p:spPr>
          <a:xfrm>
            <a:off x="609600" y="1282700"/>
            <a:ext cx="10972800" cy="307777"/>
          </a:xfrm>
          <a:prstGeom prst="rect">
            <a:avLst/>
          </a:prstGeom>
          <a:noFill/>
        </p:spPr>
        <p:txBody>
          <a:bodyPr vert="horz" lIns="0" tIns="0" rIns="0" bIns="0" rtlCol="0">
            <a:spAutoFit/>
          </a:bodyPr>
          <a:lstStyle/>
          <a:p>
            <a:pPr marL="342900" indent="-342900">
              <a:buFont typeface="Wingdings" panose="05000000000000000000" pitchFamily="2" charset="2"/>
              <a:buChar char="p"/>
            </a:pPr>
            <a:r>
              <a:rPr lang="en-US" altLang="zh-CN" sz="2000" b="1" dirty="0">
                <a:solidFill>
                  <a:srgbClr val="C4530D"/>
                </a:solidFill>
                <a:latin typeface="Candara" panose="020E0502030303020204" pitchFamily="34" charset="0"/>
              </a:rPr>
              <a:t>Exception Handler:</a:t>
            </a:r>
            <a:r>
              <a:rPr lang="en-US" altLang="zh-CN" sz="2000" b="1" dirty="0">
                <a:solidFill>
                  <a:srgbClr val="174A79"/>
                </a:solidFill>
                <a:latin typeface="Candara" panose="020E0502030303020204" pitchFamily="34" charset="0"/>
              </a:rPr>
              <a:t> Difficult values follow a purely binary fallback path.</a:t>
            </a:r>
            <a:endParaRPr lang="zh-CN" altLang="en-US" sz="2000" b="1" dirty="0">
              <a:solidFill>
                <a:srgbClr val="174A79"/>
              </a:solidFill>
              <a:latin typeface="Candara" panose="020E0502030303020204" pitchFamily="34" charset="0"/>
            </a:endParaRPr>
          </a:p>
        </p:txBody>
      </p:sp>
      <p:sp>
        <p:nvSpPr>
          <p:cNvPr id="5" name="Technical Detail">
            <a:extLst>
              <a:ext uri="{FF2B5EF4-FFF2-40B4-BE49-F238E27FC236}">
                <a16:creationId xmlns:a16="http://schemas.microsoft.com/office/drawing/2014/main" id="{DB0C7185-2AAC-2D9B-BF02-15C85A7F4093}"/>
              </a:ext>
            </a:extLst>
          </p:cNvPr>
          <p:cNvSpPr txBox="1"/>
          <p:nvPr/>
        </p:nvSpPr>
        <p:spPr>
          <a:xfrm>
            <a:off x="889000" y="1841500"/>
            <a:ext cx="10668000" cy="276999"/>
          </a:xfrm>
          <a:prstGeom prst="rect">
            <a:avLst/>
          </a:prstGeom>
          <a:noFill/>
        </p:spPr>
        <p:txBody>
          <a:bodyPr vert="horz" lIns="0" tIns="0" rIns="0" bIns="0" rtlCol="0">
            <a:spAutoFit/>
          </a:bodyPr>
          <a:lstStyle/>
          <a:p>
            <a:r>
              <a:rPr lang="en-US" altLang="zh-CN" b="1">
                <a:solidFill>
                  <a:srgbClr val="174A79"/>
                </a:solidFill>
                <a:latin typeface="Candara" panose="020E0502030303020204" pitchFamily="34" charset="0"/>
              </a:rPr>
              <a:t>◆  It prevents compressed-size expansion and preserves bitwise recovery when reconstruction fails.</a:t>
            </a:r>
            <a:endParaRPr lang="zh-CN" altLang="en-US" b="1" dirty="0">
              <a:solidFill>
                <a:srgbClr val="174A79"/>
              </a:solidFill>
              <a:latin typeface="Candara" panose="020E0502030303020204" pitchFamily="34" charset="0"/>
            </a:endParaRPr>
          </a:p>
        </p:txBody>
      </p:sp>
      <p:pic>
        <p:nvPicPr>
          <p:cNvPr id="6" name="图片 14">
            <a:extLst>
              <a:ext uri="{FF2B5EF4-FFF2-40B4-BE49-F238E27FC236}">
                <a16:creationId xmlns:a16="http://schemas.microsoft.com/office/drawing/2014/main" id="{975C04EC-8EA0-7E2F-B5A1-5D73882A8297}"/>
              </a:ext>
            </a:extLst>
          </p:cNvPr>
          <p:cNvPicPr>
            <a:picLocks noChangeAspect="1"/>
          </p:cNvPicPr>
          <p:nvPr/>
        </p:nvPicPr>
        <p:blipFill>
          <a:blip>
            <a:extLst>
              <a:ext uri="{96DAC541-7B7A-43D3-8B79-37D633B846F1}">
                <asvg:svgBlip xmlns:asvg="http://schemas.microsoft.com/office/drawing/2016/SVG/main" r:embed="rId5"/>
              </a:ext>
            </a:extLst>
          </a:blip>
          <a:srcRect/>
          <a:stretch>
            <a:fillRect/>
          </a:stretch>
        </p:blipFill>
        <p:spPr>
          <a:xfrm>
            <a:off x="609600" y="2920181"/>
            <a:ext cx="10992943" cy="2816942"/>
          </a:xfrm>
          <a:prstGeom prst="rect">
            <a:avLst/>
          </a:prstGeom>
        </p:spPr>
      </p:pic>
      <p:sp>
        <p:nvSpPr>
          <p:cNvPr id="7" name="Narrative Focus">
            <a:extLst>
              <a:ext uri="{FF2B5EF4-FFF2-40B4-BE49-F238E27FC236}">
                <a16:creationId xmlns:a16="http://schemas.microsoft.com/office/drawing/2014/main" id="{0557E565-6A66-E25A-9DB7-82F6BB4B7766}"/>
              </a:ext>
            </a:extLst>
          </p:cNvPr>
          <p:cNvSpPr/>
          <p:nvPr/>
        </p:nvSpPr>
        <p:spPr>
          <a:xfrm>
            <a:off x="2605957" y="4975123"/>
            <a:ext cx="5461000" cy="762000"/>
          </a:xfrm>
          <a:prstGeom prst="rect">
            <a:avLst/>
          </a:prstGeom>
          <a:noFill/>
          <a:ln w="31750">
            <a:solidFill>
              <a:srgbClr val="EE5B3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9830031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灯片编号占位符 3"/>
          <p:cNvSpPr>
            <a:spLocks noGrp="1"/>
          </p:cNvSpPr>
          <p:nvPr>
            <p:ph type="sldNum" idx="12"/>
          </p:nvPr>
        </p:nvSpPr>
        <p:spPr/>
        <p:txBody>
          <a:bodyPr/>
          <a:lstStyle/>
          <a:p>
            <a:pPr>
              <a:buNone/>
              <a:defRPr>
                <a:latin typeface="Candara" panose="020E0502030303020204"/>
                <a:ea typeface="Candara" panose="020E0502030303020204"/>
                <a:cs typeface="Candara" panose="020E0502030303020204"/>
              </a:defRPr>
            </a:pPr>
            <a:r>
              <a:rPr lang="en-US" altLang="zh-CN">
                <a:latin typeface="Candara" panose="020E0502030303020204"/>
                <a:ea typeface="Candara" panose="020E0502030303020204"/>
                <a:cs typeface="Candara" panose="020E0502030303020204"/>
              </a:rPr>
              <a:t>10</a:t>
            </a:r>
            <a:endParaRPr>
              <a:latin typeface="Candara" panose="020E0502030303020204"/>
              <a:ea typeface="Candara" panose="020E0502030303020204"/>
              <a:cs typeface="Candara" panose="020E0502030303020204"/>
            </a:endParaRPr>
          </a:p>
        </p:txBody>
      </p:sp>
      <p:pic>
        <p:nvPicPr>
          <p:cNvPr id="14" name="图片 12"/>
          <p:cNvPicPr>
            <a:picLocks noChangeAspect="1"/>
          </p:cNvPicPr>
          <p:nvPr/>
        </p:nvPicPr>
        <p:blipFill>
          <a:blip r:embed="rId4"/>
          <a:srcRect/>
          <a:stretch>
            <a:fillRect/>
          </a:stretch>
        </p:blipFill>
        <p:spPr>
          <a:xfrm>
            <a:off x="0" y="0"/>
            <a:ext cx="12192000" cy="1143000"/>
          </a:xfrm>
          <a:prstGeom prst="rect">
            <a:avLst/>
          </a:prstGeom>
        </p:spPr>
      </p:pic>
      <p:sp>
        <p:nvSpPr>
          <p:cNvPr id="9" name="矩形 8"/>
          <p:cNvSpPr>
            <a:spLocks noGrp="1"/>
          </p:cNvSpPr>
          <p:nvPr/>
        </p:nvSpPr>
        <p:spPr>
          <a:xfrm>
            <a:off x="590550" y="114300"/>
            <a:ext cx="11010900" cy="914400"/>
          </a:xfrm>
          <a:prstGeom prst="rect">
            <a:avLst/>
          </a:prstGeom>
          <a:noFill/>
          <a:ln w="0">
            <a:noFill/>
            <a:prstDash val="solid"/>
          </a:ln>
        </p:spPr>
        <p:txBody>
          <a:bodyPr lIns="0" tIns="0" rIns="0" bIns="0" anchor="ctr">
            <a:normAutofit/>
          </a:bodyPr>
          <a:lstStyle/>
          <a:p>
            <a:pPr>
              <a:buNone/>
              <a:defRPr sz="2700" b="1">
                <a:solidFill>
                  <a:srgbClr val="000000"/>
                </a:solidFill>
                <a:latin typeface="Candara" panose="020E0502030303020204"/>
                <a:ea typeface="Candara" panose="020E0502030303020204"/>
                <a:cs typeface="Candara" panose="020E0502030303020204"/>
              </a:defRPr>
            </a:pPr>
            <a:r>
              <a:rPr lang="en-US" sz="3200" b="1" dirty="0" err="1">
                <a:solidFill>
                  <a:srgbClr val="174A79"/>
                </a:solidFill>
                <a:latin typeface="Candara" panose="020E0502030303020204" pitchFamily="34" charset="0"/>
                <a:ea typeface="Candara" panose="020E0502030303020204"/>
                <a:cs typeface="Candara" panose="020E0502030303020204"/>
              </a:rPr>
              <a:t>DeXOR</a:t>
            </a:r>
            <a:r>
              <a:rPr lang="en-US" sz="3200" b="1" dirty="0">
                <a:solidFill>
                  <a:srgbClr val="174A79"/>
                </a:solidFill>
                <a:latin typeface="Candara" panose="020E0502030303020204" pitchFamily="34" charset="0"/>
                <a:ea typeface="Candara" panose="020E0502030303020204"/>
                <a:cs typeface="Candara" panose="020E0502030303020204"/>
              </a:rPr>
              <a:t> Converter</a:t>
            </a:r>
            <a:endParaRPr sz="3200" b="1" dirty="0">
              <a:solidFill>
                <a:srgbClr val="174A79"/>
              </a:solidFill>
              <a:latin typeface="Candara" panose="020E0502030303020204" pitchFamily="34" charset="0"/>
            </a:endParaRPr>
          </a:p>
        </p:txBody>
      </p:sp>
      <p:pic>
        <p:nvPicPr>
          <p:cNvPr id="16" name="图片 14"/>
          <p:cNvPicPr>
            <a:picLocks noChangeAspect="1"/>
          </p:cNvPicPr>
          <p:nvPr/>
        </p:nvPicPr>
        <p:blipFill>
          <a:blip>
            <a:extLst>
              <a:ext uri="{96DAC541-7B7A-43D3-8B79-37D633B846F1}">
                <asvg:svgBlip xmlns:asvg="http://schemas.microsoft.com/office/drawing/2016/SVG/main" r:embed="rId5"/>
              </a:ext>
            </a:extLst>
          </a:blip>
          <a:srcRect/>
          <a:stretch>
            <a:fillRect/>
          </a:stretch>
        </p:blipFill>
        <p:spPr>
          <a:xfrm>
            <a:off x="941315" y="2287587"/>
            <a:ext cx="9161329" cy="4362538"/>
          </a:xfrm>
          <a:prstGeom prst="rect">
            <a:avLst/>
          </a:prstGeom>
        </p:spPr>
      </p:pic>
      <p:sp>
        <p:nvSpPr>
          <p:cNvPr id="2" name="Technical Lead">
            <a:extLst>
              <a:ext uri="{FF2B5EF4-FFF2-40B4-BE49-F238E27FC236}">
                <a16:creationId xmlns:a16="http://schemas.microsoft.com/office/drawing/2014/main" id="{705B511A-982A-7940-4103-2EB6985FA063}"/>
              </a:ext>
            </a:extLst>
          </p:cNvPr>
          <p:cNvSpPr txBox="1"/>
          <p:nvPr/>
        </p:nvSpPr>
        <p:spPr>
          <a:xfrm>
            <a:off x="609600" y="1282700"/>
            <a:ext cx="10972800" cy="307777"/>
          </a:xfrm>
          <a:prstGeom prst="rect">
            <a:avLst/>
          </a:prstGeom>
          <a:noFill/>
        </p:spPr>
        <p:txBody>
          <a:bodyPr vert="horz" lIns="0" tIns="0" rIns="0" bIns="0" rtlCol="0">
            <a:spAutoFit/>
          </a:bodyPr>
          <a:lstStyle/>
          <a:p>
            <a:pPr marL="342900" indent="-342900">
              <a:buFont typeface="Wingdings" panose="05000000000000000000" pitchFamily="2" charset="2"/>
              <a:buChar char="p"/>
            </a:pPr>
            <a:r>
              <a:rPr lang="en-US" altLang="zh-CN" sz="2000" b="1" dirty="0">
                <a:solidFill>
                  <a:srgbClr val="C4530D"/>
                </a:solidFill>
                <a:latin typeface="Candara" panose="020E0502030303020204" pitchFamily="34" charset="0"/>
              </a:rPr>
              <a:t>Core Mechanism:</a:t>
            </a:r>
            <a:r>
              <a:rPr lang="en-US" altLang="zh-CN" sz="2000" b="1" dirty="0">
                <a:solidFill>
                  <a:srgbClr val="174A79"/>
                </a:solidFill>
                <a:latin typeface="Candara" panose="020E0502030303020204" pitchFamily="34" charset="0"/>
              </a:rPr>
              <a:t> Decimal XOR removes the longest common prefix.</a:t>
            </a:r>
            <a:endParaRPr lang="zh-CN" altLang="en-US" sz="2000" b="1" dirty="0">
              <a:solidFill>
                <a:srgbClr val="174A79"/>
              </a:solidFill>
              <a:latin typeface="Candara" panose="020E0502030303020204" pitchFamily="34" charset="0"/>
            </a:endParaRPr>
          </a:p>
        </p:txBody>
      </p:sp>
      <p:sp>
        <p:nvSpPr>
          <p:cNvPr id="7" name="Technical Detail">
            <a:extLst>
              <a:ext uri="{FF2B5EF4-FFF2-40B4-BE49-F238E27FC236}">
                <a16:creationId xmlns:a16="http://schemas.microsoft.com/office/drawing/2014/main" id="{5B46A8DE-95FA-5E3D-310A-C6D1E0DA24C8}"/>
              </a:ext>
            </a:extLst>
          </p:cNvPr>
          <p:cNvSpPr txBox="1"/>
          <p:nvPr/>
        </p:nvSpPr>
        <p:spPr>
          <a:xfrm>
            <a:off x="889000" y="1841500"/>
            <a:ext cx="10668000" cy="276999"/>
          </a:xfrm>
          <a:prstGeom prst="rect">
            <a:avLst/>
          </a:prstGeom>
          <a:noFill/>
        </p:spPr>
        <p:txBody>
          <a:bodyPr vert="horz" lIns="0" tIns="0" rIns="0" bIns="0" rtlCol="0">
            <a:spAutoFit/>
          </a:bodyPr>
          <a:lstStyle/>
          <a:p>
            <a:r>
              <a:rPr lang="en-US" altLang="zh-CN" b="1" dirty="0">
                <a:solidFill>
                  <a:srgbClr val="174A79"/>
                </a:solidFill>
                <a:latin typeface="Candara" panose="020E0502030303020204" pitchFamily="34" charset="0"/>
              </a:rPr>
              <a:t>◆  Only the decimal suffix remains for compression; the prefix is reconstructed from the preceding value.</a:t>
            </a:r>
            <a:endParaRPr lang="zh-CN" altLang="en-US" b="1" dirty="0">
              <a:solidFill>
                <a:srgbClr val="174A79"/>
              </a:solidFill>
              <a:latin typeface="Candara" panose="020E0502030303020204" pitchFamily="34" charset="0"/>
            </a:endParaRPr>
          </a:p>
        </p:txBody>
      </p:sp>
      <p:sp>
        <p:nvSpPr>
          <p:cNvPr id="8" name="Narrative Focus">
            <a:extLst>
              <a:ext uri="{FF2B5EF4-FFF2-40B4-BE49-F238E27FC236}">
                <a16:creationId xmlns:a16="http://schemas.microsoft.com/office/drawing/2014/main" id="{78F94659-EC0E-4780-FF6A-FB39C751CE78}"/>
              </a:ext>
            </a:extLst>
          </p:cNvPr>
          <p:cNvSpPr/>
          <p:nvPr/>
        </p:nvSpPr>
        <p:spPr>
          <a:xfrm>
            <a:off x="783304" y="2209799"/>
            <a:ext cx="7815006" cy="2317955"/>
          </a:xfrm>
          <a:prstGeom prst="rect">
            <a:avLst/>
          </a:prstGeom>
          <a:noFill/>
          <a:ln w="31750">
            <a:solidFill>
              <a:srgbClr val="EE5B3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灯片编号占位符 3"/>
          <p:cNvSpPr>
            <a:spLocks noGrp="1"/>
          </p:cNvSpPr>
          <p:nvPr>
            <p:ph type="sldNum" idx="12"/>
          </p:nvPr>
        </p:nvSpPr>
        <p:spPr/>
        <p:txBody>
          <a:bodyPr/>
          <a:lstStyle/>
          <a:p>
            <a:pPr>
              <a:buNone/>
              <a:defRPr>
                <a:latin typeface="Candara" panose="020E0502030303020204"/>
                <a:ea typeface="Candara" panose="020E0502030303020204"/>
                <a:cs typeface="Candara" panose="020E0502030303020204"/>
              </a:defRPr>
            </a:pPr>
            <a:r>
              <a:rPr lang="en-US" altLang="zh-CN">
                <a:latin typeface="Candara" panose="020E0502030303020204"/>
                <a:ea typeface="Candara" panose="020E0502030303020204"/>
                <a:cs typeface="Candara" panose="020E0502030303020204"/>
              </a:rPr>
              <a:t>11</a:t>
            </a:r>
            <a:endParaRPr>
              <a:latin typeface="Candara" panose="020E0502030303020204"/>
              <a:ea typeface="Candara" panose="020E0502030303020204"/>
              <a:cs typeface="Candara" panose="020E0502030303020204"/>
            </a:endParaRPr>
          </a:p>
        </p:txBody>
      </p:sp>
      <p:pic>
        <p:nvPicPr>
          <p:cNvPr id="14" name="图片 12"/>
          <p:cNvPicPr>
            <a:picLocks noChangeAspect="1"/>
          </p:cNvPicPr>
          <p:nvPr/>
        </p:nvPicPr>
        <p:blipFill>
          <a:blip r:embed="rId4"/>
          <a:srcRect/>
          <a:stretch>
            <a:fillRect/>
          </a:stretch>
        </p:blipFill>
        <p:spPr>
          <a:xfrm>
            <a:off x="0" y="0"/>
            <a:ext cx="12192000" cy="1143000"/>
          </a:xfrm>
          <a:prstGeom prst="rect">
            <a:avLst/>
          </a:prstGeom>
        </p:spPr>
      </p:pic>
      <p:sp>
        <p:nvSpPr>
          <p:cNvPr id="9" name="矩形 8"/>
          <p:cNvSpPr>
            <a:spLocks noGrp="1"/>
          </p:cNvSpPr>
          <p:nvPr/>
        </p:nvSpPr>
        <p:spPr>
          <a:xfrm>
            <a:off x="590550" y="114300"/>
            <a:ext cx="11010900" cy="914400"/>
          </a:xfrm>
          <a:prstGeom prst="rect">
            <a:avLst/>
          </a:prstGeom>
          <a:noFill/>
          <a:ln w="0">
            <a:noFill/>
            <a:prstDash val="solid"/>
          </a:ln>
        </p:spPr>
        <p:txBody>
          <a:bodyPr lIns="0" tIns="0" rIns="0" bIns="0" anchor="ctr">
            <a:normAutofit/>
          </a:bodyPr>
          <a:lstStyle/>
          <a:p>
            <a:pPr>
              <a:buNone/>
              <a:defRPr sz="2700" b="1">
                <a:solidFill>
                  <a:srgbClr val="000000"/>
                </a:solidFill>
                <a:latin typeface="Candara" panose="020E0502030303020204"/>
                <a:ea typeface="Candara" panose="020E0502030303020204"/>
                <a:cs typeface="Candara" panose="020E0502030303020204"/>
              </a:defRPr>
            </a:pPr>
            <a:r>
              <a:rPr lang="en-US" sz="3200" b="1" dirty="0" err="1">
                <a:solidFill>
                  <a:srgbClr val="174A79"/>
                </a:solidFill>
                <a:latin typeface="Candara" panose="020E0502030303020204" pitchFamily="34" charset="0"/>
                <a:ea typeface="Candara" panose="020E0502030303020204"/>
                <a:cs typeface="Candara" panose="020E0502030303020204"/>
              </a:rPr>
              <a:t>DeXOR</a:t>
            </a:r>
            <a:r>
              <a:rPr lang="en-US" sz="3200" b="1" dirty="0">
                <a:solidFill>
                  <a:srgbClr val="174A79"/>
                </a:solidFill>
                <a:latin typeface="Candara" panose="020E0502030303020204" pitchFamily="34" charset="0"/>
                <a:ea typeface="Candara" panose="020E0502030303020204"/>
                <a:cs typeface="Candara" panose="020E0502030303020204"/>
              </a:rPr>
              <a:t> Converter</a:t>
            </a:r>
            <a:endParaRPr sz="3200" b="1" dirty="0">
              <a:solidFill>
                <a:srgbClr val="174A79"/>
              </a:solidFill>
              <a:latin typeface="Candara" panose="020E0502030303020204" pitchFamily="34" charset="0"/>
            </a:endParaRPr>
          </a:p>
        </p:txBody>
      </p:sp>
      <p:sp>
        <p:nvSpPr>
          <p:cNvPr id="3" name="Technical Lead">
            <a:extLst>
              <a:ext uri="{FF2B5EF4-FFF2-40B4-BE49-F238E27FC236}">
                <a16:creationId xmlns:a16="http://schemas.microsoft.com/office/drawing/2014/main" id="{471DB158-79DE-7EEE-647C-537547598498}"/>
              </a:ext>
            </a:extLst>
          </p:cNvPr>
          <p:cNvSpPr txBox="1"/>
          <p:nvPr/>
        </p:nvSpPr>
        <p:spPr>
          <a:xfrm>
            <a:off x="609600" y="1282700"/>
            <a:ext cx="10972800" cy="307777"/>
          </a:xfrm>
          <a:prstGeom prst="rect">
            <a:avLst/>
          </a:prstGeom>
          <a:noFill/>
        </p:spPr>
        <p:txBody>
          <a:bodyPr vert="horz" lIns="0" tIns="0" rIns="0" bIns="0" rtlCol="0">
            <a:spAutoFit/>
          </a:bodyPr>
          <a:lstStyle/>
          <a:p>
            <a:pPr marL="342900" indent="-342900">
              <a:buFont typeface="Wingdings" panose="05000000000000000000" pitchFamily="2" charset="2"/>
              <a:buChar char="p"/>
            </a:pPr>
            <a:r>
              <a:rPr lang="en-US" altLang="zh-CN" sz="2000" b="1" dirty="0">
                <a:solidFill>
                  <a:srgbClr val="C4530D"/>
                </a:solidFill>
                <a:latin typeface="Candara" panose="020E0502030303020204" pitchFamily="34" charset="0"/>
              </a:rPr>
              <a:t>Metadata Management:</a:t>
            </a:r>
            <a:r>
              <a:rPr lang="en-US" altLang="zh-CN" sz="2000" b="1" dirty="0">
                <a:solidFill>
                  <a:srgbClr val="174A79"/>
                </a:solidFill>
                <a:latin typeface="Candara" panose="020E0502030303020204" pitchFamily="34" charset="0"/>
              </a:rPr>
              <a:t> The converter records prefix and tail coordinates.</a:t>
            </a:r>
            <a:endParaRPr lang="zh-CN" altLang="en-US" sz="2000" b="1" dirty="0">
              <a:solidFill>
                <a:srgbClr val="174A79"/>
              </a:solidFill>
              <a:latin typeface="Candara" panose="020E0502030303020204" pitchFamily="34" charset="0"/>
            </a:endParaRPr>
          </a:p>
        </p:txBody>
      </p:sp>
      <p:sp>
        <p:nvSpPr>
          <p:cNvPr id="5" name="Technical Detail">
            <a:extLst>
              <a:ext uri="{FF2B5EF4-FFF2-40B4-BE49-F238E27FC236}">
                <a16:creationId xmlns:a16="http://schemas.microsoft.com/office/drawing/2014/main" id="{E26506BF-8F2B-78CC-1C39-203E7C880806}"/>
              </a:ext>
            </a:extLst>
          </p:cNvPr>
          <p:cNvSpPr txBox="1"/>
          <p:nvPr/>
        </p:nvSpPr>
        <p:spPr>
          <a:xfrm>
            <a:off x="888999" y="1841500"/>
            <a:ext cx="11182555" cy="276999"/>
          </a:xfrm>
          <a:prstGeom prst="rect">
            <a:avLst/>
          </a:prstGeom>
          <a:noFill/>
        </p:spPr>
        <p:txBody>
          <a:bodyPr vert="horz" wrap="square" lIns="0" tIns="0" rIns="0" bIns="0" rtlCol="0">
            <a:spAutoFit/>
          </a:bodyPr>
          <a:lstStyle/>
          <a:p>
            <a:r>
              <a:rPr lang="en-US" altLang="zh-CN" b="1" dirty="0">
                <a:solidFill>
                  <a:srgbClr val="174A79"/>
                </a:solidFill>
                <a:latin typeface="Candara" panose="020E0502030303020204" pitchFamily="34" charset="0"/>
              </a:rPr>
              <a:t>◆  Repeated coordinates are reused whenever possible, while the remaining suffix is passed to the compressor.</a:t>
            </a:r>
            <a:endParaRPr lang="zh-CN" altLang="en-US" b="1" dirty="0">
              <a:solidFill>
                <a:srgbClr val="174A79"/>
              </a:solidFill>
              <a:latin typeface="Candara" panose="020E0502030303020204" pitchFamily="34" charset="0"/>
            </a:endParaRPr>
          </a:p>
        </p:txBody>
      </p:sp>
      <p:pic>
        <p:nvPicPr>
          <p:cNvPr id="6" name="图片 14">
            <a:extLst>
              <a:ext uri="{FF2B5EF4-FFF2-40B4-BE49-F238E27FC236}">
                <a16:creationId xmlns:a16="http://schemas.microsoft.com/office/drawing/2014/main" id="{5E204B3F-4FA0-941A-8E9D-8335515B5B9B}"/>
              </a:ext>
            </a:extLst>
          </p:cNvPr>
          <p:cNvPicPr>
            <a:picLocks noChangeAspect="1"/>
          </p:cNvPicPr>
          <p:nvPr/>
        </p:nvPicPr>
        <p:blipFill>
          <a:blip>
            <a:extLst>
              <a:ext uri="{96DAC541-7B7A-43D3-8B79-37D633B846F1}">
                <asvg:svgBlip xmlns:asvg="http://schemas.microsoft.com/office/drawing/2016/SVG/main" r:embed="rId5"/>
              </a:ext>
            </a:extLst>
          </a:blip>
          <a:srcRect/>
          <a:stretch>
            <a:fillRect/>
          </a:stretch>
        </p:blipFill>
        <p:spPr>
          <a:xfrm>
            <a:off x="941315" y="2287587"/>
            <a:ext cx="9161329" cy="4362538"/>
          </a:xfrm>
          <a:prstGeom prst="rect">
            <a:avLst/>
          </a:prstGeom>
        </p:spPr>
      </p:pic>
      <p:sp>
        <p:nvSpPr>
          <p:cNvPr id="8" name="Narrative Focus">
            <a:extLst>
              <a:ext uri="{FF2B5EF4-FFF2-40B4-BE49-F238E27FC236}">
                <a16:creationId xmlns:a16="http://schemas.microsoft.com/office/drawing/2014/main" id="{CBA85A37-F2E8-5755-BC77-2AFC620BA236}"/>
              </a:ext>
            </a:extLst>
          </p:cNvPr>
          <p:cNvSpPr/>
          <p:nvPr/>
        </p:nvSpPr>
        <p:spPr>
          <a:xfrm>
            <a:off x="1359765" y="3943317"/>
            <a:ext cx="9104216" cy="2706808"/>
          </a:xfrm>
          <a:prstGeom prst="rect">
            <a:avLst/>
          </a:prstGeom>
          <a:noFill/>
          <a:ln w="31750">
            <a:solidFill>
              <a:srgbClr val="EE5B3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Narrative Focus">
            <a:extLst>
              <a:ext uri="{FF2B5EF4-FFF2-40B4-BE49-F238E27FC236}">
                <a16:creationId xmlns:a16="http://schemas.microsoft.com/office/drawing/2014/main" id="{A31FCEF0-622C-6BAF-0049-48B80690EB3B}"/>
              </a:ext>
            </a:extLst>
          </p:cNvPr>
          <p:cNvSpPr/>
          <p:nvPr/>
        </p:nvSpPr>
        <p:spPr>
          <a:xfrm>
            <a:off x="6400801" y="2176815"/>
            <a:ext cx="3797710" cy="1597413"/>
          </a:xfrm>
          <a:prstGeom prst="rect">
            <a:avLst/>
          </a:prstGeom>
          <a:noFill/>
          <a:ln w="31750">
            <a:solidFill>
              <a:srgbClr val="EE5B3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201314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灯片编号占位符 3"/>
          <p:cNvSpPr>
            <a:spLocks noGrp="1"/>
          </p:cNvSpPr>
          <p:nvPr>
            <p:ph type="sldNum" idx="12"/>
          </p:nvPr>
        </p:nvSpPr>
        <p:spPr/>
        <p:txBody>
          <a:bodyPr/>
          <a:lstStyle/>
          <a:p>
            <a:pPr>
              <a:buNone/>
              <a:defRPr>
                <a:latin typeface="Candara" panose="020E0502030303020204"/>
                <a:ea typeface="Candara" panose="020E0502030303020204"/>
                <a:cs typeface="Candara" panose="020E0502030303020204"/>
              </a:defRPr>
            </a:pPr>
            <a:r>
              <a:rPr lang="en-US" altLang="zh-CN">
                <a:latin typeface="Candara" panose="020E0502030303020204"/>
                <a:ea typeface="Candara" panose="020E0502030303020204"/>
                <a:cs typeface="Candara" panose="020E0502030303020204"/>
              </a:rPr>
              <a:t>12</a:t>
            </a:r>
            <a:endParaRPr>
              <a:latin typeface="Candara" panose="020E0502030303020204"/>
              <a:ea typeface="Candara" panose="020E0502030303020204"/>
              <a:cs typeface="Candara" panose="020E0502030303020204"/>
            </a:endParaRPr>
          </a:p>
        </p:txBody>
      </p:sp>
      <p:pic>
        <p:nvPicPr>
          <p:cNvPr id="14" name="图片 12"/>
          <p:cNvPicPr>
            <a:picLocks noChangeAspect="1"/>
          </p:cNvPicPr>
          <p:nvPr/>
        </p:nvPicPr>
        <p:blipFill>
          <a:blip r:embed="rId4"/>
          <a:srcRect/>
          <a:stretch>
            <a:fillRect/>
          </a:stretch>
        </p:blipFill>
        <p:spPr>
          <a:xfrm>
            <a:off x="0" y="0"/>
            <a:ext cx="12192000" cy="1143000"/>
          </a:xfrm>
          <a:prstGeom prst="rect">
            <a:avLst/>
          </a:prstGeom>
        </p:spPr>
      </p:pic>
      <p:sp>
        <p:nvSpPr>
          <p:cNvPr id="9" name="矩形 8"/>
          <p:cNvSpPr>
            <a:spLocks noGrp="1"/>
          </p:cNvSpPr>
          <p:nvPr/>
        </p:nvSpPr>
        <p:spPr>
          <a:xfrm>
            <a:off x="590550" y="114300"/>
            <a:ext cx="11010900" cy="914400"/>
          </a:xfrm>
          <a:prstGeom prst="rect">
            <a:avLst/>
          </a:prstGeom>
          <a:noFill/>
          <a:ln w="0">
            <a:noFill/>
            <a:prstDash val="solid"/>
          </a:ln>
        </p:spPr>
        <p:txBody>
          <a:bodyPr lIns="0" tIns="0" rIns="0" bIns="0" anchor="ctr">
            <a:normAutofit/>
          </a:bodyPr>
          <a:lstStyle/>
          <a:p>
            <a:pPr>
              <a:buNone/>
              <a:defRPr sz="2700" b="1">
                <a:solidFill>
                  <a:srgbClr val="000000"/>
                </a:solidFill>
                <a:latin typeface="Candara" panose="020E0502030303020204"/>
                <a:ea typeface="Candara" panose="020E0502030303020204"/>
                <a:cs typeface="Candara" panose="020E0502030303020204"/>
              </a:defRPr>
            </a:pPr>
            <a:r>
              <a:rPr lang="en-US" sz="3200" b="1" dirty="0" err="1">
                <a:solidFill>
                  <a:srgbClr val="174A79"/>
                </a:solidFill>
                <a:latin typeface="Candara" panose="020E0502030303020204" pitchFamily="34" charset="0"/>
                <a:ea typeface="Candara" panose="020E0502030303020204"/>
                <a:cs typeface="Candara" panose="020E0502030303020204"/>
              </a:rPr>
              <a:t>DeXOR</a:t>
            </a:r>
            <a:r>
              <a:rPr lang="en-US" sz="3200" b="1" dirty="0">
                <a:solidFill>
                  <a:srgbClr val="174A79"/>
                </a:solidFill>
                <a:latin typeface="Candara" panose="020E0502030303020204" pitchFamily="34" charset="0"/>
                <a:ea typeface="Candara" panose="020E0502030303020204"/>
                <a:cs typeface="Candara" panose="020E0502030303020204"/>
              </a:rPr>
              <a:t> Compressor</a:t>
            </a:r>
            <a:endParaRPr sz="3200" b="1" dirty="0">
              <a:solidFill>
                <a:srgbClr val="174A79"/>
              </a:solidFill>
              <a:latin typeface="Candara" panose="020E0502030303020204" pitchFamily="34" charset="0"/>
            </a:endParaRPr>
          </a:p>
        </p:txBody>
      </p:sp>
      <p:pic>
        <p:nvPicPr>
          <p:cNvPr id="16" name="图片 14"/>
          <p:cNvPicPr>
            <a:picLocks noChangeAspect="1"/>
          </p:cNvPicPr>
          <p:nvPr/>
        </p:nvPicPr>
        <p:blipFill>
          <a:blip>
            <a:extLst>
              <a:ext uri="{96DAC541-7B7A-43D3-8B79-37D633B846F1}">
                <asvg:svgBlip xmlns:asvg="http://schemas.microsoft.com/office/drawing/2016/SVG/main" r:embed="rId5"/>
              </a:ext>
            </a:extLst>
          </a:blip>
          <a:srcRect/>
          <a:stretch>
            <a:fillRect/>
          </a:stretch>
        </p:blipFill>
        <p:spPr>
          <a:xfrm>
            <a:off x="590550" y="2706329"/>
            <a:ext cx="10675543" cy="2754671"/>
          </a:xfrm>
          <a:prstGeom prst="rect">
            <a:avLst/>
          </a:prstGeom>
        </p:spPr>
      </p:pic>
      <p:sp>
        <p:nvSpPr>
          <p:cNvPr id="5" name="Technical Lead">
            <a:extLst>
              <a:ext uri="{FF2B5EF4-FFF2-40B4-BE49-F238E27FC236}">
                <a16:creationId xmlns:a16="http://schemas.microsoft.com/office/drawing/2014/main" id="{1AC6F9B3-5445-6E0E-33E6-B3656FA420DE}"/>
              </a:ext>
            </a:extLst>
          </p:cNvPr>
          <p:cNvSpPr txBox="1"/>
          <p:nvPr/>
        </p:nvSpPr>
        <p:spPr>
          <a:xfrm>
            <a:off x="609600" y="1282700"/>
            <a:ext cx="10972800" cy="615553"/>
          </a:xfrm>
          <a:prstGeom prst="rect">
            <a:avLst/>
          </a:prstGeom>
          <a:noFill/>
        </p:spPr>
        <p:txBody>
          <a:bodyPr vert="horz" lIns="0" tIns="0" rIns="0" bIns="0" rtlCol="0">
            <a:spAutoFit/>
          </a:bodyPr>
          <a:lstStyle/>
          <a:p>
            <a:pPr marL="342900" indent="-342900">
              <a:buFont typeface="Wingdings" panose="05000000000000000000" pitchFamily="2" charset="2"/>
              <a:buChar char="p"/>
            </a:pPr>
            <a:r>
              <a:rPr lang="en-US" altLang="zh-CN" sz="2000" b="1">
                <a:solidFill>
                  <a:srgbClr val="D97821"/>
                </a:solidFill>
                <a:latin typeface="Candara" panose="020E0502030303020204" pitchFamily="34" charset="0"/>
              </a:rPr>
              <a:t>Vanilla Encoding:</a:t>
            </a:r>
            <a:r>
              <a:rPr lang="en-US" altLang="zh-CN" sz="2000" b="1">
                <a:solidFill>
                  <a:srgbClr val="174A79"/>
                </a:solidFill>
                <a:latin typeface="Candara" panose="020E0502030303020204" pitchFamily="34" charset="0"/>
              </a:rPr>
              <a:t> Variable-length schemes store the sign, binary-suffix length, and suffix separately.</a:t>
            </a:r>
            <a:endParaRPr lang="zh-CN" altLang="en-US" sz="2000" b="1" dirty="0">
              <a:solidFill>
                <a:srgbClr val="174A79"/>
              </a:solidFill>
              <a:latin typeface="Candara" panose="020E0502030303020204" pitchFamily="34" charset="0"/>
            </a:endParaRPr>
          </a:p>
        </p:txBody>
      </p:sp>
      <p:sp>
        <p:nvSpPr>
          <p:cNvPr id="7" name="Technical Detail">
            <a:extLst>
              <a:ext uri="{FF2B5EF4-FFF2-40B4-BE49-F238E27FC236}">
                <a16:creationId xmlns:a16="http://schemas.microsoft.com/office/drawing/2014/main" id="{E5BEEB06-9A63-592B-F1AC-63377D74BF7A}"/>
              </a:ext>
            </a:extLst>
          </p:cNvPr>
          <p:cNvSpPr txBox="1"/>
          <p:nvPr/>
        </p:nvSpPr>
        <p:spPr>
          <a:xfrm>
            <a:off x="889000" y="1841500"/>
            <a:ext cx="10668000" cy="276999"/>
          </a:xfrm>
          <a:prstGeom prst="rect">
            <a:avLst/>
          </a:prstGeom>
          <a:noFill/>
        </p:spPr>
        <p:txBody>
          <a:bodyPr vert="horz" lIns="0" tIns="0" rIns="0" bIns="0" rtlCol="0">
            <a:spAutoFit/>
          </a:bodyPr>
          <a:lstStyle/>
          <a:p>
            <a:r>
              <a:rPr lang="en-US" altLang="zh-CN" b="1">
                <a:solidFill>
                  <a:srgbClr val="174A79"/>
                </a:solidFill>
                <a:latin typeface="Candara" panose="020E0502030303020204" pitchFamily="34" charset="0"/>
              </a:rPr>
              <a:t>◆  The length metadata remains even when the binary suffix itself is short.</a:t>
            </a:r>
            <a:endParaRPr lang="zh-CN" altLang="en-US" b="1" dirty="0">
              <a:solidFill>
                <a:srgbClr val="174A79"/>
              </a:solidFill>
              <a:latin typeface="Candara" panose="020E0502030303020204" pitchFamily="34" charset="0"/>
            </a:endParaRPr>
          </a:p>
        </p:txBody>
      </p:sp>
      <p:sp>
        <p:nvSpPr>
          <p:cNvPr id="8" name="Narrative Focus">
            <a:extLst>
              <a:ext uri="{FF2B5EF4-FFF2-40B4-BE49-F238E27FC236}">
                <a16:creationId xmlns:a16="http://schemas.microsoft.com/office/drawing/2014/main" id="{8346E306-E766-459F-629A-6CA795B938FF}"/>
              </a:ext>
            </a:extLst>
          </p:cNvPr>
          <p:cNvSpPr/>
          <p:nvPr/>
        </p:nvSpPr>
        <p:spPr>
          <a:xfrm>
            <a:off x="471947" y="2514600"/>
            <a:ext cx="5567518" cy="2946400"/>
          </a:xfrm>
          <a:prstGeom prst="rect">
            <a:avLst/>
          </a:prstGeom>
          <a:noFill/>
          <a:ln w="31750">
            <a:solidFill>
              <a:srgbClr val="EE5B3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灯片编号占位符 3"/>
          <p:cNvSpPr>
            <a:spLocks noGrp="1"/>
          </p:cNvSpPr>
          <p:nvPr>
            <p:ph type="sldNum" idx="12"/>
          </p:nvPr>
        </p:nvSpPr>
        <p:spPr/>
        <p:txBody>
          <a:bodyPr/>
          <a:lstStyle/>
          <a:p>
            <a:pPr>
              <a:buNone/>
              <a:defRPr>
                <a:latin typeface="Candara" panose="020E0502030303020204"/>
                <a:ea typeface="Candara" panose="020E0502030303020204"/>
                <a:cs typeface="Candara" panose="020E0502030303020204"/>
              </a:defRPr>
            </a:pPr>
            <a:r>
              <a:rPr lang="en-US" altLang="zh-CN">
                <a:latin typeface="Candara" panose="020E0502030303020204"/>
                <a:ea typeface="Candara" panose="020E0502030303020204"/>
                <a:cs typeface="Candara" panose="020E0502030303020204"/>
              </a:rPr>
              <a:t>13</a:t>
            </a:r>
            <a:endParaRPr>
              <a:latin typeface="Candara" panose="020E0502030303020204"/>
              <a:ea typeface="Candara" panose="020E0502030303020204"/>
              <a:cs typeface="Candara" panose="020E0502030303020204"/>
            </a:endParaRPr>
          </a:p>
        </p:txBody>
      </p:sp>
      <p:pic>
        <p:nvPicPr>
          <p:cNvPr id="14" name="图片 12"/>
          <p:cNvPicPr>
            <a:picLocks noChangeAspect="1"/>
          </p:cNvPicPr>
          <p:nvPr/>
        </p:nvPicPr>
        <p:blipFill>
          <a:blip r:embed="rId4"/>
          <a:srcRect/>
          <a:stretch>
            <a:fillRect/>
          </a:stretch>
        </p:blipFill>
        <p:spPr>
          <a:xfrm>
            <a:off x="0" y="0"/>
            <a:ext cx="12192000" cy="1143000"/>
          </a:xfrm>
          <a:prstGeom prst="rect">
            <a:avLst/>
          </a:prstGeom>
        </p:spPr>
      </p:pic>
      <p:sp>
        <p:nvSpPr>
          <p:cNvPr id="9" name="矩形 8"/>
          <p:cNvSpPr>
            <a:spLocks noGrp="1"/>
          </p:cNvSpPr>
          <p:nvPr/>
        </p:nvSpPr>
        <p:spPr>
          <a:xfrm>
            <a:off x="590550" y="114300"/>
            <a:ext cx="11010900" cy="914400"/>
          </a:xfrm>
          <a:prstGeom prst="rect">
            <a:avLst/>
          </a:prstGeom>
          <a:noFill/>
          <a:ln w="0">
            <a:noFill/>
            <a:prstDash val="solid"/>
          </a:ln>
        </p:spPr>
        <p:txBody>
          <a:bodyPr lIns="0" tIns="0" rIns="0" bIns="0" anchor="ctr">
            <a:normAutofit/>
          </a:bodyPr>
          <a:lstStyle/>
          <a:p>
            <a:pPr>
              <a:buNone/>
              <a:defRPr sz="2700" b="1">
                <a:solidFill>
                  <a:srgbClr val="000000"/>
                </a:solidFill>
                <a:latin typeface="Candara" panose="020E0502030303020204"/>
                <a:ea typeface="Candara" panose="020E0502030303020204"/>
                <a:cs typeface="Candara" panose="020E0502030303020204"/>
              </a:defRPr>
            </a:pPr>
            <a:r>
              <a:rPr lang="en-US" sz="3200" b="1" dirty="0" err="1">
                <a:solidFill>
                  <a:srgbClr val="174A79"/>
                </a:solidFill>
                <a:latin typeface="Candara" panose="020E0502030303020204" pitchFamily="34" charset="0"/>
                <a:ea typeface="Candara" panose="020E0502030303020204"/>
                <a:cs typeface="Candara" panose="020E0502030303020204"/>
              </a:rPr>
              <a:t>DeXOR</a:t>
            </a:r>
            <a:r>
              <a:rPr lang="en-US" sz="3200" b="1" dirty="0">
                <a:solidFill>
                  <a:srgbClr val="174A79"/>
                </a:solidFill>
                <a:latin typeface="Candara" panose="020E0502030303020204" pitchFamily="34" charset="0"/>
                <a:ea typeface="Candara" panose="020E0502030303020204"/>
                <a:cs typeface="Candara" panose="020E0502030303020204"/>
              </a:rPr>
              <a:t> Compressor</a:t>
            </a:r>
            <a:endParaRPr sz="3200" b="1" dirty="0">
              <a:solidFill>
                <a:srgbClr val="174A79"/>
              </a:solidFill>
              <a:latin typeface="Candara" panose="020E0502030303020204" pitchFamily="34" charset="0"/>
            </a:endParaRPr>
          </a:p>
        </p:txBody>
      </p:sp>
      <p:sp>
        <p:nvSpPr>
          <p:cNvPr id="5" name="Technical Lead">
            <a:extLst>
              <a:ext uri="{FF2B5EF4-FFF2-40B4-BE49-F238E27FC236}">
                <a16:creationId xmlns:a16="http://schemas.microsoft.com/office/drawing/2014/main" id="{F73B6336-CF16-7E05-2316-E9863205425E}"/>
              </a:ext>
            </a:extLst>
          </p:cNvPr>
          <p:cNvSpPr txBox="1"/>
          <p:nvPr/>
        </p:nvSpPr>
        <p:spPr>
          <a:xfrm>
            <a:off x="609600" y="1282700"/>
            <a:ext cx="11292348" cy="307777"/>
          </a:xfrm>
          <a:prstGeom prst="rect">
            <a:avLst/>
          </a:prstGeom>
          <a:noFill/>
        </p:spPr>
        <p:txBody>
          <a:bodyPr vert="horz" wrap="square" lIns="0" tIns="0" rIns="0" bIns="0" rtlCol="0">
            <a:spAutoFit/>
          </a:bodyPr>
          <a:lstStyle/>
          <a:p>
            <a:pPr marL="342900" indent="-342900">
              <a:buFont typeface="Wingdings" panose="05000000000000000000" pitchFamily="2" charset="2"/>
              <a:buChar char="p"/>
            </a:pPr>
            <a:r>
              <a:rPr lang="en-US" altLang="zh-CN" sz="2000" b="1" dirty="0">
                <a:solidFill>
                  <a:srgbClr val="C4530D"/>
                </a:solidFill>
                <a:latin typeface="Candara" panose="020E0502030303020204" pitchFamily="34" charset="0"/>
              </a:rPr>
              <a:t>Compressor:</a:t>
            </a:r>
            <a:r>
              <a:rPr lang="en-US" altLang="zh-CN" sz="2000" b="1" dirty="0">
                <a:solidFill>
                  <a:srgbClr val="174A79"/>
                </a:solidFill>
                <a:latin typeface="Candara" panose="020E0502030303020204" pitchFamily="34" charset="0"/>
              </a:rPr>
              <a:t> Sign consistency removes one bit, while decimal length determines the binary width.</a:t>
            </a:r>
            <a:endParaRPr lang="zh-CN" altLang="en-US" sz="2000" b="1" dirty="0">
              <a:solidFill>
                <a:srgbClr val="174A79"/>
              </a:solidFill>
              <a:latin typeface="Candara" panose="020E0502030303020204" pitchFamily="34" charset="0"/>
            </a:endParaRPr>
          </a:p>
        </p:txBody>
      </p:sp>
      <p:sp>
        <p:nvSpPr>
          <p:cNvPr id="7" name="Technical Detail">
            <a:extLst>
              <a:ext uri="{FF2B5EF4-FFF2-40B4-BE49-F238E27FC236}">
                <a16:creationId xmlns:a16="http://schemas.microsoft.com/office/drawing/2014/main" id="{AE158EBF-A1A9-404D-2758-660B6FE69A01}"/>
              </a:ext>
            </a:extLst>
          </p:cNvPr>
          <p:cNvSpPr txBox="1"/>
          <p:nvPr/>
        </p:nvSpPr>
        <p:spPr>
          <a:xfrm>
            <a:off x="889000" y="1841500"/>
            <a:ext cx="10668000" cy="276999"/>
          </a:xfrm>
          <a:prstGeom prst="rect">
            <a:avLst/>
          </a:prstGeom>
          <a:noFill/>
        </p:spPr>
        <p:txBody>
          <a:bodyPr vert="horz" lIns="0" tIns="0" rIns="0" bIns="0" rtlCol="0">
            <a:spAutoFit/>
          </a:bodyPr>
          <a:lstStyle/>
          <a:p>
            <a:r>
              <a:rPr lang="en-US" altLang="zh-CN" b="1" dirty="0">
                <a:solidFill>
                  <a:srgbClr val="174A79"/>
                </a:solidFill>
                <a:latin typeface="Candara" panose="020E0502030303020204" pitchFamily="34" charset="0"/>
              </a:rPr>
              <a:t>◆  The suffix is padded to this width without storing a separate binary length.</a:t>
            </a:r>
            <a:endParaRPr lang="zh-CN" altLang="en-US" b="1" dirty="0">
              <a:solidFill>
                <a:srgbClr val="174A79"/>
              </a:solidFill>
              <a:latin typeface="Candara" panose="020E0502030303020204" pitchFamily="34" charset="0"/>
            </a:endParaRPr>
          </a:p>
        </p:txBody>
      </p:sp>
      <p:pic>
        <p:nvPicPr>
          <p:cNvPr id="10" name="图片 14">
            <a:extLst>
              <a:ext uri="{FF2B5EF4-FFF2-40B4-BE49-F238E27FC236}">
                <a16:creationId xmlns:a16="http://schemas.microsoft.com/office/drawing/2014/main" id="{C1E89929-49F4-02AD-C95F-D43A583D7663}"/>
              </a:ext>
            </a:extLst>
          </p:cNvPr>
          <p:cNvPicPr>
            <a:picLocks noChangeAspect="1"/>
          </p:cNvPicPr>
          <p:nvPr/>
        </p:nvPicPr>
        <p:blipFill>
          <a:blip>
            <a:extLst>
              <a:ext uri="{96DAC541-7B7A-43D3-8B79-37D633B846F1}">
                <asvg:svgBlip xmlns:asvg="http://schemas.microsoft.com/office/drawing/2016/SVG/main" r:embed="rId5"/>
              </a:ext>
            </a:extLst>
          </a:blip>
          <a:srcRect/>
          <a:stretch>
            <a:fillRect/>
          </a:stretch>
        </p:blipFill>
        <p:spPr>
          <a:xfrm>
            <a:off x="590550" y="2706329"/>
            <a:ext cx="10675543" cy="2754671"/>
          </a:xfrm>
          <a:prstGeom prst="rect">
            <a:avLst/>
          </a:prstGeom>
        </p:spPr>
      </p:pic>
      <p:sp>
        <p:nvSpPr>
          <p:cNvPr id="8" name="Narrative Focus">
            <a:extLst>
              <a:ext uri="{FF2B5EF4-FFF2-40B4-BE49-F238E27FC236}">
                <a16:creationId xmlns:a16="http://schemas.microsoft.com/office/drawing/2014/main" id="{22B715DB-32A9-552E-3F00-CF548980A7FE}"/>
              </a:ext>
            </a:extLst>
          </p:cNvPr>
          <p:cNvSpPr/>
          <p:nvPr/>
        </p:nvSpPr>
        <p:spPr>
          <a:xfrm>
            <a:off x="6096000" y="2567030"/>
            <a:ext cx="5732206" cy="2893969"/>
          </a:xfrm>
          <a:prstGeom prst="rect">
            <a:avLst/>
          </a:prstGeom>
          <a:noFill/>
          <a:ln w="31750">
            <a:solidFill>
              <a:srgbClr val="EE5B3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541793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灯片编号占位符 3"/>
          <p:cNvSpPr>
            <a:spLocks noGrp="1"/>
          </p:cNvSpPr>
          <p:nvPr>
            <p:ph type="sldNum" idx="12"/>
          </p:nvPr>
        </p:nvSpPr>
        <p:spPr/>
        <p:txBody>
          <a:bodyPr/>
          <a:lstStyle/>
          <a:p>
            <a:pPr>
              <a:buNone/>
              <a:defRPr>
                <a:latin typeface="Candara" panose="020E0502030303020204"/>
                <a:ea typeface="Candara" panose="020E0502030303020204"/>
                <a:cs typeface="Candara" panose="020E0502030303020204"/>
              </a:defRPr>
            </a:pPr>
            <a:r>
              <a:rPr lang="en-US" altLang="zh-CN">
                <a:latin typeface="Candara" panose="020E0502030303020204"/>
                <a:ea typeface="Candara" panose="020E0502030303020204"/>
                <a:cs typeface="Candara" panose="020E0502030303020204"/>
              </a:rPr>
              <a:t>14</a:t>
            </a:r>
            <a:endParaRPr>
              <a:latin typeface="Candara" panose="020E0502030303020204"/>
              <a:ea typeface="Candara" panose="020E0502030303020204"/>
              <a:cs typeface="Candara" panose="020E0502030303020204"/>
            </a:endParaRPr>
          </a:p>
        </p:txBody>
      </p:sp>
      <p:pic>
        <p:nvPicPr>
          <p:cNvPr id="21" name="图片 18"/>
          <p:cNvPicPr>
            <a:picLocks noChangeAspect="1"/>
          </p:cNvPicPr>
          <p:nvPr/>
        </p:nvPicPr>
        <p:blipFill>
          <a:blip r:embed="rId4"/>
          <a:srcRect/>
          <a:stretch>
            <a:fillRect/>
          </a:stretch>
        </p:blipFill>
        <p:spPr>
          <a:xfrm>
            <a:off x="0" y="0"/>
            <a:ext cx="12192000" cy="1143000"/>
          </a:xfrm>
          <a:prstGeom prst="rect">
            <a:avLst/>
          </a:prstGeom>
        </p:spPr>
      </p:pic>
      <p:sp>
        <p:nvSpPr>
          <p:cNvPr id="9" name="矩形 8"/>
          <p:cNvSpPr>
            <a:spLocks noGrp="1"/>
          </p:cNvSpPr>
          <p:nvPr/>
        </p:nvSpPr>
        <p:spPr>
          <a:xfrm>
            <a:off x="590550" y="114300"/>
            <a:ext cx="11010900" cy="914400"/>
          </a:xfrm>
          <a:prstGeom prst="rect">
            <a:avLst/>
          </a:prstGeom>
          <a:noFill/>
          <a:ln w="0">
            <a:noFill/>
            <a:prstDash val="solid"/>
          </a:ln>
        </p:spPr>
        <p:txBody>
          <a:bodyPr lIns="0" tIns="0" rIns="0" bIns="0" anchor="ctr">
            <a:normAutofit/>
          </a:bodyPr>
          <a:lstStyle/>
          <a:p>
            <a:pPr>
              <a:buNone/>
              <a:defRPr sz="2700" b="1">
                <a:solidFill>
                  <a:srgbClr val="000000"/>
                </a:solidFill>
                <a:latin typeface="Candara" panose="020E0502030303020204"/>
                <a:ea typeface="Candara" panose="020E0502030303020204"/>
                <a:cs typeface="Candara" panose="020E0502030303020204"/>
              </a:defRPr>
            </a:pPr>
            <a:r>
              <a:rPr lang="en-US" sz="3200" b="1" dirty="0">
                <a:solidFill>
                  <a:srgbClr val="174A79"/>
                </a:solidFill>
                <a:latin typeface="Candara" panose="020E0502030303020204" pitchFamily="34" charset="0"/>
                <a:ea typeface="Candara" panose="020E0502030303020204"/>
                <a:cs typeface="Candara" panose="020E0502030303020204"/>
              </a:rPr>
              <a:t>Error Tolerance for Rounding-Error Compensation</a:t>
            </a:r>
            <a:endParaRPr sz="3200" b="1" dirty="0">
              <a:solidFill>
                <a:srgbClr val="174A79"/>
              </a:solidFill>
              <a:latin typeface="Candara" panose="020E0502030303020204" pitchFamily="34" charset="0"/>
            </a:endParaRPr>
          </a:p>
        </p:txBody>
      </p:sp>
      <p:pic>
        <p:nvPicPr>
          <p:cNvPr id="23" name="图片 20"/>
          <p:cNvPicPr>
            <a:picLocks noChangeAspect="1"/>
          </p:cNvPicPr>
          <p:nvPr/>
        </p:nvPicPr>
        <p:blipFill>
          <a:blip>
            <a:extLst>
              <a:ext uri="{96DAC541-7B7A-43D3-8B79-37D633B846F1}">
                <asvg:svgBlip xmlns:asvg="http://schemas.microsoft.com/office/drawing/2016/SVG/main" r:embed="rId5"/>
              </a:ext>
            </a:extLst>
          </a:blip>
          <a:srcRect/>
          <a:stretch>
            <a:fillRect/>
          </a:stretch>
        </p:blipFill>
        <p:spPr>
          <a:xfrm>
            <a:off x="1047135" y="4556213"/>
            <a:ext cx="9896168" cy="590550"/>
          </a:xfrm>
          <a:prstGeom prst="rect">
            <a:avLst/>
          </a:prstGeom>
        </p:spPr>
      </p:pic>
      <p:sp>
        <p:nvSpPr>
          <p:cNvPr id="11" name="矩形 10"/>
          <p:cNvSpPr>
            <a:spLocks noGrp="1"/>
          </p:cNvSpPr>
          <p:nvPr/>
        </p:nvSpPr>
        <p:spPr>
          <a:xfrm>
            <a:off x="762000" y="2730500"/>
            <a:ext cx="3333750" cy="323850"/>
          </a:xfrm>
          <a:prstGeom prst="rect">
            <a:avLst/>
          </a:prstGeom>
          <a:noFill/>
          <a:ln w="0">
            <a:noFill/>
            <a:prstDash val="solid"/>
          </a:ln>
        </p:spPr>
        <p:txBody>
          <a:bodyPr lIns="19050" tIns="0" rIns="19050" bIns="0" anchor="ctr">
            <a:normAutofit/>
          </a:bodyPr>
          <a:lstStyle/>
          <a:p>
            <a:pPr algn="ctr">
              <a:buNone/>
              <a:defRPr sz="1725" b="1">
                <a:solidFill>
                  <a:srgbClr val="D97821"/>
                </a:solidFill>
                <a:latin typeface="Candara" panose="020E0502030303020204"/>
                <a:ea typeface="Candara" panose="020E0502030303020204"/>
                <a:cs typeface="Candara" panose="020E0502030303020204"/>
              </a:defRPr>
            </a:pPr>
            <a:r>
              <a:rPr sz="2000" b="1" dirty="0">
                <a:solidFill>
                  <a:srgbClr val="D97821"/>
                </a:solidFill>
                <a:latin typeface="Candara" panose="020E0502030303020204"/>
                <a:ea typeface="Candara" panose="020E0502030303020204"/>
                <a:cs typeface="Candara" panose="020E0502030303020204"/>
              </a:rPr>
              <a:t>Scale toward an integer</a:t>
            </a:r>
            <a:endParaRPr sz="2000" b="1" dirty="0">
              <a:solidFill>
                <a:srgbClr val="D97821"/>
              </a:solidFill>
            </a:endParaRPr>
          </a:p>
        </p:txBody>
      </p:sp>
      <p:sp>
        <p:nvSpPr>
          <p:cNvPr id="12" name="矩形 11"/>
          <p:cNvSpPr>
            <a:spLocks noGrp="1"/>
          </p:cNvSpPr>
          <p:nvPr/>
        </p:nvSpPr>
        <p:spPr>
          <a:xfrm>
            <a:off x="762000" y="3139766"/>
            <a:ext cx="3333750" cy="723900"/>
          </a:xfrm>
          <a:prstGeom prst="rect">
            <a:avLst/>
          </a:prstGeom>
          <a:noFill/>
          <a:ln w="0">
            <a:noFill/>
            <a:prstDash val="solid"/>
          </a:ln>
        </p:spPr>
        <p:txBody>
          <a:bodyPr lIns="19050" tIns="0" rIns="19050" bIns="0" anchor="ctr">
            <a:noAutofit/>
          </a:bodyPr>
          <a:lstStyle/>
          <a:p>
            <a:pPr algn="ctr">
              <a:buNone/>
              <a:defRPr sz="1425" b="0">
                <a:solidFill>
                  <a:srgbClr val="405B73"/>
                </a:solidFill>
                <a:latin typeface="Candara" panose="020E0502030303020204"/>
                <a:ea typeface="Candara" panose="020E0502030303020204"/>
                <a:cs typeface="Candara" panose="020E0502030303020204"/>
              </a:defRPr>
            </a:pPr>
            <a:r>
              <a:rPr sz="1600" b="0" dirty="0">
                <a:solidFill>
                  <a:srgbClr val="405B73"/>
                </a:solidFill>
                <a:latin typeface="Candara" panose="020E0502030303020204"/>
                <a:ea typeface="Candara" panose="020E0502030303020204"/>
                <a:cs typeface="Candara" panose="020E0502030303020204"/>
              </a:rPr>
              <a:t>After scaling toward an integer, Δ follows the precision of the tested coordinate.</a:t>
            </a:r>
            <a:endParaRPr sz="1600" b="0" dirty="0">
              <a:solidFill>
                <a:srgbClr val="405B73"/>
              </a:solidFill>
            </a:endParaRPr>
          </a:p>
        </p:txBody>
      </p:sp>
      <p:sp>
        <p:nvSpPr>
          <p:cNvPr id="13" name="矩形 12"/>
          <p:cNvSpPr>
            <a:spLocks noGrp="1"/>
          </p:cNvSpPr>
          <p:nvPr/>
        </p:nvSpPr>
        <p:spPr>
          <a:xfrm>
            <a:off x="4429125" y="2730500"/>
            <a:ext cx="3333750" cy="323850"/>
          </a:xfrm>
          <a:prstGeom prst="rect">
            <a:avLst/>
          </a:prstGeom>
          <a:noFill/>
          <a:ln w="0">
            <a:noFill/>
            <a:prstDash val="solid"/>
          </a:ln>
        </p:spPr>
        <p:txBody>
          <a:bodyPr lIns="19050" tIns="0" rIns="19050" bIns="0" anchor="ctr">
            <a:normAutofit/>
          </a:bodyPr>
          <a:lstStyle/>
          <a:p>
            <a:pPr algn="ctr">
              <a:buNone/>
              <a:defRPr sz="1725" b="1">
                <a:solidFill>
                  <a:srgbClr val="2F6FA5"/>
                </a:solidFill>
                <a:latin typeface="Candara" panose="020E0502030303020204"/>
                <a:ea typeface="Candara" panose="020E0502030303020204"/>
                <a:cs typeface="Candara" panose="020E0502030303020204"/>
              </a:defRPr>
            </a:pPr>
            <a:r>
              <a:rPr sz="2000" b="1" dirty="0">
                <a:solidFill>
                  <a:srgbClr val="2F6FA5"/>
                </a:solidFill>
                <a:latin typeface="Candara" panose="020E0502030303020204"/>
                <a:ea typeface="Candara" panose="020E0502030303020204"/>
                <a:cs typeface="Candara" panose="020E0502030303020204"/>
              </a:rPr>
              <a:t>Recognize near-integers</a:t>
            </a:r>
            <a:endParaRPr sz="2000" b="1" dirty="0">
              <a:solidFill>
                <a:srgbClr val="2F6FA5"/>
              </a:solidFill>
            </a:endParaRPr>
          </a:p>
        </p:txBody>
      </p:sp>
      <mc:AlternateContent xmlns:mc="http://schemas.openxmlformats.org/markup-compatibility/2006" xmlns:a14="http://schemas.microsoft.com/office/drawing/2010/main">
        <mc:Choice Requires="a14">
          <p:sp>
            <p:nvSpPr>
              <p:cNvPr id="14" name="矩形 13"/>
              <p:cNvSpPr>
                <a:spLocks noGrp="1"/>
              </p:cNvSpPr>
              <p:nvPr/>
            </p:nvSpPr>
            <p:spPr>
              <a:xfrm>
                <a:off x="4429125" y="3139766"/>
                <a:ext cx="3333750" cy="723900"/>
              </a:xfrm>
              <a:prstGeom prst="rect">
                <a:avLst/>
              </a:prstGeom>
              <a:noFill/>
              <a:ln w="0">
                <a:noFill/>
                <a:prstDash val="solid"/>
              </a:ln>
            </p:spPr>
            <p:txBody>
              <a:bodyPr lIns="19050" tIns="0" rIns="19050" bIns="0" anchor="ctr">
                <a:normAutofit/>
              </a:bodyPr>
              <a:lstStyle/>
              <a:p>
                <a:pPr algn="ctr">
                  <a:buNone/>
                  <a:defRPr sz="1425" b="0">
                    <a:solidFill>
                      <a:srgbClr val="405B73"/>
                    </a:solidFill>
                    <a:latin typeface="Candara" panose="020E0502030303020204"/>
                    <a:ea typeface="Candara" panose="020E0502030303020204"/>
                    <a:cs typeface="Candara" panose="020E0502030303020204"/>
                  </a:defRPr>
                </a:pPr>
                <a:r>
                  <a:rPr lang="en-US" sz="1600" b="0" dirty="0">
                    <a:solidFill>
                      <a:srgbClr val="405B73"/>
                    </a:solidFill>
                    <a:latin typeface="Candara" panose="020E0502030303020204"/>
                    <a:ea typeface="Candara" panose="020E0502030303020204"/>
                    <a:cs typeface="Candara" panose="020E0502030303020204"/>
                  </a:rPr>
                  <a:t>If </a:t>
                </a:r>
                <a14:m>
                  <m:oMath xmlns:m="http://schemas.openxmlformats.org/officeDocument/2006/math">
                    <m:r>
                      <a:rPr lang="en-US" sz="1600" b="0" i="1" dirty="0" smtClean="0">
                        <a:solidFill>
                          <a:srgbClr val="405B73"/>
                        </a:solidFill>
                        <a:latin typeface="Cambria Math" panose="02040503050406030204" pitchFamily="18" charset="0"/>
                        <a:ea typeface="Candara" panose="020E0502030303020204"/>
                        <a:cs typeface="Candara" panose="020E0502030303020204"/>
                      </a:rPr>
                      <m:t>|</m:t>
                    </m:r>
                    <m:r>
                      <a:rPr lang="en-US" sz="1600" b="0" i="1" dirty="0" err="1">
                        <a:solidFill>
                          <a:srgbClr val="405B73"/>
                        </a:solidFill>
                        <a:latin typeface="Cambria Math" panose="02040503050406030204" pitchFamily="18" charset="0"/>
                        <a:ea typeface="Candara" panose="020E0502030303020204"/>
                        <a:cs typeface="Candara" panose="020E0502030303020204"/>
                      </a:rPr>
                      <m:t>𝑡𝑟𝑢𝑛𝑐</m:t>
                    </m:r>
                    <m:r>
                      <a:rPr lang="en-US" sz="1600" b="0" i="1" dirty="0">
                        <a:solidFill>
                          <a:srgbClr val="405B73"/>
                        </a:solidFill>
                        <a:latin typeface="Cambria Math" panose="02040503050406030204" pitchFamily="18" charset="0"/>
                        <a:ea typeface="Candara" panose="020E0502030303020204"/>
                        <a:cs typeface="Candara" panose="020E0502030303020204"/>
                      </a:rPr>
                      <m:t>(</m:t>
                    </m:r>
                    <m:sSub>
                      <m:sSubPr>
                        <m:ctrlPr>
                          <a:rPr lang="zh-CN" altLang="en-US" sz="1600" i="1">
                            <a:solidFill>
                              <a:srgbClr val="405B73"/>
                            </a:solidFill>
                            <a:latin typeface="Cambria Math" panose="02040503050406030204" pitchFamily="18" charset="0"/>
                          </a:rPr>
                        </m:ctrlPr>
                      </m:sSubPr>
                      <m:e>
                        <m:r>
                          <a:rPr lang="zh-CN" altLang="en-US" sz="1600" i="1">
                            <a:solidFill>
                              <a:srgbClr val="405B73"/>
                            </a:solidFill>
                            <a:latin typeface="Cambria Math" panose="02040503050406030204" pitchFamily="18" charset="0"/>
                          </a:rPr>
                          <m:t>𝑥</m:t>
                        </m:r>
                      </m:e>
                      <m:sub>
                        <m:r>
                          <a:rPr lang="zh-CN" altLang="en-US" sz="1600" i="1">
                            <a:solidFill>
                              <a:srgbClr val="405B73"/>
                            </a:solidFill>
                            <a:latin typeface="Cambria Math" panose="02040503050406030204" pitchFamily="18" charset="0"/>
                          </a:rPr>
                          <m:t>𝑖</m:t>
                        </m:r>
                      </m:sub>
                    </m:sSub>
                    <m:r>
                      <a:rPr lang="en-US" sz="1600" b="0" i="1" dirty="0">
                        <a:solidFill>
                          <a:srgbClr val="405B73"/>
                        </a:solidFill>
                        <a:latin typeface="Cambria Math" panose="02040503050406030204" pitchFamily="18" charset="0"/>
                        <a:ea typeface="Candara" panose="020E0502030303020204"/>
                        <a:cs typeface="Candara" panose="020E0502030303020204"/>
                      </a:rPr>
                      <m:t>) −</m:t>
                    </m:r>
                    <m:sSub>
                      <m:sSubPr>
                        <m:ctrlPr>
                          <a:rPr lang="zh-CN" altLang="en-US" sz="1600" i="1">
                            <a:solidFill>
                              <a:srgbClr val="405B73"/>
                            </a:solidFill>
                            <a:latin typeface="Cambria Math" panose="02040503050406030204" pitchFamily="18" charset="0"/>
                          </a:rPr>
                        </m:ctrlPr>
                      </m:sSubPr>
                      <m:e>
                        <m:r>
                          <a:rPr lang="zh-CN" altLang="en-US" sz="1600" i="1">
                            <a:solidFill>
                              <a:srgbClr val="405B73"/>
                            </a:solidFill>
                            <a:latin typeface="Cambria Math" panose="02040503050406030204" pitchFamily="18" charset="0"/>
                          </a:rPr>
                          <m:t>𝑥</m:t>
                        </m:r>
                      </m:e>
                      <m:sub>
                        <m:r>
                          <a:rPr lang="zh-CN" altLang="en-US" sz="1600" i="1">
                            <a:solidFill>
                              <a:srgbClr val="405B73"/>
                            </a:solidFill>
                            <a:latin typeface="Cambria Math" panose="02040503050406030204" pitchFamily="18" charset="0"/>
                          </a:rPr>
                          <m:t>𝑖</m:t>
                        </m:r>
                      </m:sub>
                    </m:sSub>
                    <m:r>
                      <a:rPr lang="en-US" sz="1600" b="0" i="1" dirty="0">
                        <a:solidFill>
                          <a:srgbClr val="405B73"/>
                        </a:solidFill>
                        <a:latin typeface="Cambria Math" panose="02040503050406030204" pitchFamily="18" charset="0"/>
                        <a:ea typeface="Candara" panose="020E0502030303020204"/>
                        <a:cs typeface="Candara" panose="020E0502030303020204"/>
                      </a:rPr>
                      <m:t>| &lt; </m:t>
                    </m:r>
                    <m:r>
                      <m:rPr>
                        <m:sty m:val="p"/>
                      </m:rPr>
                      <a:rPr lang="el-GR" sz="1600" b="0" i="0" dirty="0">
                        <a:solidFill>
                          <a:srgbClr val="405B73"/>
                        </a:solidFill>
                        <a:latin typeface="Cambria Math" panose="02040503050406030204" pitchFamily="18" charset="0"/>
                        <a:ea typeface="Candara" panose="020E0502030303020204"/>
                        <a:cs typeface="Candara" panose="020E0502030303020204"/>
                      </a:rPr>
                      <m:t>Δ</m:t>
                    </m:r>
                  </m:oMath>
                </a14:m>
                <a:r>
                  <a:rPr lang="el-GR" sz="1600" b="0" dirty="0">
                    <a:solidFill>
                      <a:srgbClr val="405B73"/>
                    </a:solidFill>
                    <a:latin typeface="Candara" panose="020E0502030303020204"/>
                    <a:ea typeface="Candara" panose="020E0502030303020204"/>
                    <a:cs typeface="Candara" panose="020E0502030303020204"/>
                  </a:rPr>
                  <a:t>, </a:t>
                </a:r>
                <a:r>
                  <a:rPr lang="en-US" sz="1600" b="0" dirty="0">
                    <a:solidFill>
                      <a:srgbClr val="405B73"/>
                    </a:solidFill>
                    <a:latin typeface="Candara" panose="020E0502030303020204"/>
                    <a:ea typeface="Candara" panose="020E0502030303020204"/>
                    <a:cs typeface="Candara" panose="020E0502030303020204"/>
                  </a:rPr>
                  <a:t>treat </a:t>
                </a:r>
                <a14:m>
                  <m:oMath xmlns:m="http://schemas.openxmlformats.org/officeDocument/2006/math">
                    <m:sSub>
                      <m:sSubPr>
                        <m:ctrlPr>
                          <a:rPr lang="zh-CN" altLang="ar-AE" sz="1600" b="0" i="1" dirty="0" smtClean="0">
                            <a:solidFill>
                              <a:srgbClr val="405B73"/>
                            </a:solidFill>
                            <a:latin typeface="Cambria Math" panose="02040503050406030204" pitchFamily="18" charset="0"/>
                          </a:rPr>
                        </m:ctrlPr>
                      </m:sSubPr>
                      <m:e>
                        <m:r>
                          <a:rPr lang="zh-CN" altLang="ar-AE" sz="1600" b="0" i="1" dirty="0" smtClean="0">
                            <a:solidFill>
                              <a:srgbClr val="405B73"/>
                            </a:solidFill>
                            <a:latin typeface="Cambria Math" panose="02040503050406030204" pitchFamily="18" charset="0"/>
                          </a:rPr>
                          <m:t>𝑥</m:t>
                        </m:r>
                      </m:e>
                      <m:sub>
                        <m:r>
                          <a:rPr lang="en-US" altLang="zh-CN" sz="1600" b="0" i="1" dirty="0" smtClean="0">
                            <a:solidFill>
                              <a:srgbClr val="405B73"/>
                            </a:solidFill>
                            <a:latin typeface="Cambria Math" panose="02040503050406030204" pitchFamily="18" charset="0"/>
                          </a:rPr>
                          <m:t>𝑖</m:t>
                        </m:r>
                      </m:sub>
                    </m:sSub>
                    <m:r>
                      <a:rPr lang="ar-AE" altLang="zh-CN" sz="1600" b="0" i="1" dirty="0">
                        <a:solidFill>
                          <a:srgbClr val="405B73"/>
                        </a:solidFill>
                        <a:latin typeface="Cambria Math" panose="02040503050406030204" pitchFamily="18" charset="0"/>
                        <a:ea typeface="Candara" panose="020E0502030303020204"/>
                        <a:cs typeface="Candara" panose="020E0502030303020204"/>
                      </a:rPr>
                      <m:t> </m:t>
                    </m:r>
                  </m:oMath>
                </a14:m>
                <a:r>
                  <a:rPr lang="en-US" sz="1600" b="0" dirty="0">
                    <a:solidFill>
                      <a:srgbClr val="405B73"/>
                    </a:solidFill>
                    <a:latin typeface="Candara" panose="020E0502030303020204"/>
                    <a:ea typeface="Candara" panose="020E0502030303020204"/>
                    <a:cs typeface="Candara" panose="020E0502030303020204"/>
                  </a:rPr>
                  <a:t>as an integer for coordinate judgments.</a:t>
                </a:r>
                <a:endParaRPr sz="1600" b="0" dirty="0">
                  <a:solidFill>
                    <a:srgbClr val="405B73"/>
                  </a:solidFill>
                </a:endParaRPr>
              </a:p>
            </p:txBody>
          </p:sp>
        </mc:Choice>
        <mc:Fallback xmlns="">
          <p:sp>
            <p:nvSpPr>
              <p:cNvPr id="14" name="矩形 13"/>
              <p:cNvSpPr>
                <a:spLocks noGrp="1" noRot="1" noChangeAspect="1" noMove="1" noResize="1" noEditPoints="1" noAdjustHandles="1" noChangeArrowheads="1" noChangeShapeType="1" noTextEdit="1"/>
              </p:cNvSpPr>
              <p:nvPr/>
            </p:nvSpPr>
            <p:spPr>
              <a:xfrm>
                <a:off x="4429125" y="3139766"/>
                <a:ext cx="3333750" cy="723900"/>
              </a:xfrm>
              <a:prstGeom prst="rect">
                <a:avLst/>
              </a:prstGeom>
              <a:blipFill>
                <a:blip r:embed="rId6"/>
                <a:stretch>
                  <a:fillRect l="-1099" r="-1099" b="-840"/>
                </a:stretch>
              </a:blipFill>
              <a:ln w="0">
                <a:noFill/>
                <a:prstDash val="solid"/>
              </a:ln>
            </p:spPr>
            <p:txBody>
              <a:bodyPr/>
              <a:lstStyle/>
              <a:p>
                <a:r>
                  <a:rPr lang="zh-CN" altLang="en-US">
                    <a:noFill/>
                  </a:rPr>
                  <a:t> </a:t>
                </a:r>
              </a:p>
            </p:txBody>
          </p:sp>
        </mc:Fallback>
      </mc:AlternateContent>
      <p:sp>
        <p:nvSpPr>
          <p:cNvPr id="15" name="矩形 14"/>
          <p:cNvSpPr>
            <a:spLocks noGrp="1"/>
          </p:cNvSpPr>
          <p:nvPr/>
        </p:nvSpPr>
        <p:spPr>
          <a:xfrm>
            <a:off x="8096250" y="2730500"/>
            <a:ext cx="3333750" cy="323850"/>
          </a:xfrm>
          <a:prstGeom prst="rect">
            <a:avLst/>
          </a:prstGeom>
          <a:noFill/>
          <a:ln w="0">
            <a:noFill/>
            <a:prstDash val="solid"/>
          </a:ln>
        </p:spPr>
        <p:txBody>
          <a:bodyPr lIns="19050" tIns="0" rIns="19050" bIns="0" anchor="ctr">
            <a:normAutofit/>
          </a:bodyPr>
          <a:lstStyle/>
          <a:p>
            <a:pPr algn="ctr">
              <a:buNone/>
              <a:defRPr sz="1725" b="1">
                <a:solidFill>
                  <a:srgbClr val="D97821"/>
                </a:solidFill>
                <a:latin typeface="Candara" panose="020E0502030303020204"/>
                <a:ea typeface="Candara" panose="020E0502030303020204"/>
                <a:cs typeface="Candara" panose="020E0502030303020204"/>
              </a:defRPr>
            </a:pPr>
            <a:r>
              <a:rPr sz="2000" b="1" dirty="0">
                <a:solidFill>
                  <a:srgbClr val="D97821"/>
                </a:solidFill>
                <a:latin typeface="Candara" panose="020E0502030303020204"/>
                <a:ea typeface="Candara" panose="020E0502030303020204"/>
                <a:cs typeface="Candara" panose="020E0502030303020204"/>
              </a:rPr>
              <a:t>Verify before encoding</a:t>
            </a:r>
            <a:endParaRPr sz="2000" b="1" dirty="0">
              <a:solidFill>
                <a:srgbClr val="D97821"/>
              </a:solidFill>
            </a:endParaRPr>
          </a:p>
        </p:txBody>
      </p:sp>
      <p:sp>
        <p:nvSpPr>
          <p:cNvPr id="16" name="矩形 15"/>
          <p:cNvSpPr>
            <a:spLocks noGrp="1"/>
          </p:cNvSpPr>
          <p:nvPr/>
        </p:nvSpPr>
        <p:spPr>
          <a:xfrm>
            <a:off x="8096250" y="3139766"/>
            <a:ext cx="3333750" cy="723900"/>
          </a:xfrm>
          <a:prstGeom prst="rect">
            <a:avLst/>
          </a:prstGeom>
          <a:noFill/>
          <a:ln w="0">
            <a:noFill/>
            <a:prstDash val="solid"/>
          </a:ln>
        </p:spPr>
        <p:txBody>
          <a:bodyPr lIns="19050" tIns="0" rIns="19050" bIns="0" anchor="ctr">
            <a:noAutofit/>
          </a:bodyPr>
          <a:lstStyle/>
          <a:p>
            <a:pPr algn="ctr">
              <a:buNone/>
              <a:defRPr sz="1425" b="0">
                <a:solidFill>
                  <a:srgbClr val="405B73"/>
                </a:solidFill>
                <a:latin typeface="Candara" panose="020E0502030303020204"/>
                <a:ea typeface="Candara" panose="020E0502030303020204"/>
                <a:cs typeface="Candara" panose="020E0502030303020204"/>
              </a:defRPr>
            </a:pPr>
            <a:r>
              <a:rPr sz="1600" b="0">
                <a:solidFill>
                  <a:srgbClr val="405B73"/>
                </a:solidFill>
                <a:latin typeface="Candara" panose="020E0502030303020204"/>
                <a:ea typeface="Candara" panose="020E0502030303020204"/>
                <a:cs typeface="Candara" panose="020E0502030303020204"/>
              </a:rPr>
              <a:t>The encoder sends any remaining failure to the binary Exception Handler for exact storage.</a:t>
            </a:r>
            <a:endParaRPr sz="1600" b="0">
              <a:solidFill>
                <a:srgbClr val="405B73"/>
              </a:solidFill>
            </a:endParaRPr>
          </a:p>
        </p:txBody>
      </p:sp>
      <p:sp>
        <p:nvSpPr>
          <p:cNvPr id="5" name="Technical Lead">
            <a:extLst>
              <a:ext uri="{FF2B5EF4-FFF2-40B4-BE49-F238E27FC236}">
                <a16:creationId xmlns:a16="http://schemas.microsoft.com/office/drawing/2014/main" id="{E46C347B-5006-3FB6-A938-2B9F812F777D}"/>
              </a:ext>
            </a:extLst>
          </p:cNvPr>
          <p:cNvSpPr txBox="1"/>
          <p:nvPr/>
        </p:nvSpPr>
        <p:spPr>
          <a:xfrm>
            <a:off x="609600" y="1282700"/>
            <a:ext cx="10972800" cy="307777"/>
          </a:xfrm>
          <a:prstGeom prst="rect">
            <a:avLst/>
          </a:prstGeom>
          <a:noFill/>
        </p:spPr>
        <p:txBody>
          <a:bodyPr vert="horz" lIns="0" tIns="0" rIns="0" bIns="0" rtlCol="0">
            <a:spAutoFit/>
          </a:bodyPr>
          <a:lstStyle/>
          <a:p>
            <a:pPr marL="342900" indent="-342900">
              <a:buFont typeface="Wingdings" panose="05000000000000000000" pitchFamily="2" charset="2"/>
              <a:buChar char="p"/>
            </a:pPr>
            <a:r>
              <a:rPr lang="en-US" altLang="zh-CN" sz="2000" b="1" dirty="0">
                <a:solidFill>
                  <a:srgbClr val="C4530D"/>
                </a:solidFill>
                <a:latin typeface="Candara" panose="020E0502030303020204" pitchFamily="34" charset="0"/>
              </a:rPr>
              <a:t>Rounding-Error Compensation:</a:t>
            </a:r>
            <a:r>
              <a:rPr lang="en-US" altLang="zh-CN" sz="2000" b="1" dirty="0">
                <a:solidFill>
                  <a:srgbClr val="174A79"/>
                </a:solidFill>
                <a:latin typeface="Candara" panose="020E0502030303020204" pitchFamily="34" charset="0"/>
              </a:rPr>
              <a:t> A precision-adaptive tolerance identifies scaled near-integers.</a:t>
            </a:r>
            <a:endParaRPr lang="zh-CN" altLang="en-US" sz="2000" b="1" dirty="0">
              <a:solidFill>
                <a:srgbClr val="174A79"/>
              </a:solidFill>
              <a:latin typeface="Candara" panose="020E0502030303020204" pitchFamily="34" charset="0"/>
            </a:endParaRPr>
          </a:p>
        </p:txBody>
      </p:sp>
      <p:sp>
        <p:nvSpPr>
          <p:cNvPr id="7" name="Technical Detail">
            <a:extLst>
              <a:ext uri="{FF2B5EF4-FFF2-40B4-BE49-F238E27FC236}">
                <a16:creationId xmlns:a16="http://schemas.microsoft.com/office/drawing/2014/main" id="{DF4EB32E-32CC-B9D9-5809-FBFC1E2EE1E1}"/>
              </a:ext>
            </a:extLst>
          </p:cNvPr>
          <p:cNvSpPr txBox="1"/>
          <p:nvPr/>
        </p:nvSpPr>
        <p:spPr>
          <a:xfrm>
            <a:off x="889000" y="1841500"/>
            <a:ext cx="10668000" cy="276999"/>
          </a:xfrm>
          <a:prstGeom prst="rect">
            <a:avLst/>
          </a:prstGeom>
          <a:noFill/>
        </p:spPr>
        <p:txBody>
          <a:bodyPr vert="horz" lIns="0" tIns="0" rIns="0" bIns="0" rtlCol="0">
            <a:spAutoFit/>
          </a:bodyPr>
          <a:lstStyle/>
          <a:p>
            <a:r>
              <a:rPr lang="en-US" altLang="zh-CN" b="1" dirty="0">
                <a:solidFill>
                  <a:srgbClr val="174A79"/>
                </a:solidFill>
                <a:latin typeface="Candara" panose="020E0502030303020204" pitchFamily="34" charset="0"/>
              </a:rPr>
              <a:t>◆  This filters most binary-decimal conversion errors, and reconstruction is verified before encoding.</a:t>
            </a:r>
            <a:endParaRPr lang="zh-CN" altLang="en-US" b="1" dirty="0">
              <a:solidFill>
                <a:srgbClr val="174A79"/>
              </a:solidFill>
              <a:latin typeface="Candara" panose="020E0502030303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灯片编号占位符 3"/>
          <p:cNvSpPr>
            <a:spLocks noGrp="1"/>
          </p:cNvSpPr>
          <p:nvPr>
            <p:ph type="sldNum" idx="12"/>
          </p:nvPr>
        </p:nvSpPr>
        <p:spPr/>
        <p:txBody>
          <a:bodyPr/>
          <a:lstStyle/>
          <a:p>
            <a:pPr>
              <a:buNone/>
              <a:defRPr>
                <a:latin typeface="Candara" panose="020E0502030303020204"/>
                <a:ea typeface="Candara" panose="020E0502030303020204"/>
                <a:cs typeface="Candara" panose="020E0502030303020204"/>
              </a:defRPr>
            </a:pPr>
            <a:r>
              <a:rPr lang="en-US" altLang="zh-CN">
                <a:latin typeface="Candara" panose="020E0502030303020204"/>
                <a:ea typeface="Candara" panose="020E0502030303020204"/>
                <a:cs typeface="Candara" panose="020E0502030303020204"/>
              </a:rPr>
              <a:t>15</a:t>
            </a:r>
            <a:endParaRPr>
              <a:latin typeface="Candara" panose="020E0502030303020204"/>
              <a:ea typeface="Candara" panose="020E0502030303020204"/>
              <a:cs typeface="Candara" panose="020E0502030303020204"/>
            </a:endParaRPr>
          </a:p>
        </p:txBody>
      </p:sp>
      <p:pic>
        <p:nvPicPr>
          <p:cNvPr id="14" name="图片 12"/>
          <p:cNvPicPr>
            <a:picLocks noChangeAspect="1"/>
          </p:cNvPicPr>
          <p:nvPr/>
        </p:nvPicPr>
        <p:blipFill>
          <a:blip r:embed="rId4"/>
          <a:srcRect/>
          <a:stretch>
            <a:fillRect/>
          </a:stretch>
        </p:blipFill>
        <p:spPr>
          <a:xfrm>
            <a:off x="0" y="0"/>
            <a:ext cx="12192000" cy="1143000"/>
          </a:xfrm>
          <a:prstGeom prst="rect">
            <a:avLst/>
          </a:prstGeom>
        </p:spPr>
      </p:pic>
      <p:sp>
        <p:nvSpPr>
          <p:cNvPr id="9" name="矩形 8"/>
          <p:cNvSpPr>
            <a:spLocks noGrp="1"/>
          </p:cNvSpPr>
          <p:nvPr/>
        </p:nvSpPr>
        <p:spPr>
          <a:xfrm>
            <a:off x="590550" y="114300"/>
            <a:ext cx="11010900" cy="914400"/>
          </a:xfrm>
          <a:prstGeom prst="rect">
            <a:avLst/>
          </a:prstGeom>
          <a:noFill/>
          <a:ln w="0">
            <a:noFill/>
            <a:prstDash val="solid"/>
          </a:ln>
        </p:spPr>
        <p:txBody>
          <a:bodyPr lIns="0" tIns="0" rIns="0" bIns="0" anchor="ctr">
            <a:normAutofit/>
          </a:bodyPr>
          <a:lstStyle/>
          <a:p>
            <a:pPr>
              <a:buNone/>
              <a:defRPr sz="2700" b="1">
                <a:solidFill>
                  <a:srgbClr val="000000"/>
                </a:solidFill>
                <a:latin typeface="Candara" panose="020E0502030303020204"/>
                <a:ea typeface="Candara" panose="020E0502030303020204"/>
                <a:cs typeface="Candara" panose="020E0502030303020204"/>
              </a:defRPr>
            </a:pPr>
            <a:r>
              <a:rPr lang="en-US" sz="3200" b="1" dirty="0">
                <a:solidFill>
                  <a:srgbClr val="174A79"/>
                </a:solidFill>
                <a:latin typeface="Candara" panose="020E0502030303020204" pitchFamily="34" charset="0"/>
                <a:ea typeface="Candara" panose="020E0502030303020204"/>
                <a:cs typeface="Candara" panose="020E0502030303020204"/>
              </a:rPr>
              <a:t>Exception Handler</a:t>
            </a:r>
            <a:endParaRPr sz="3200" b="1" dirty="0">
              <a:solidFill>
                <a:srgbClr val="174A79"/>
              </a:solidFill>
              <a:latin typeface="Candara" panose="020E0502030303020204" pitchFamily="34" charset="0"/>
            </a:endParaRPr>
          </a:p>
        </p:txBody>
      </p:sp>
      <p:pic>
        <p:nvPicPr>
          <p:cNvPr id="16" name="图片 14"/>
          <p:cNvPicPr>
            <a:picLocks noChangeAspect="1"/>
          </p:cNvPicPr>
          <p:nvPr/>
        </p:nvPicPr>
        <p:blipFill>
          <a:blip>
            <a:extLst>
              <a:ext uri="{96DAC541-7B7A-43D3-8B79-37D633B846F1}">
                <asvg:svgBlip xmlns:asvg="http://schemas.microsoft.com/office/drawing/2016/SVG/main" r:embed="rId5"/>
              </a:ext>
            </a:extLst>
          </a:blip>
          <a:srcRect/>
          <a:stretch>
            <a:fillRect/>
          </a:stretch>
        </p:blipFill>
        <p:spPr>
          <a:xfrm>
            <a:off x="975033" y="2243300"/>
            <a:ext cx="10581967" cy="4125008"/>
          </a:xfrm>
          <a:prstGeom prst="rect">
            <a:avLst/>
          </a:prstGeom>
        </p:spPr>
      </p:pic>
      <p:sp>
        <p:nvSpPr>
          <p:cNvPr id="5" name="Technical Lead">
            <a:extLst>
              <a:ext uri="{FF2B5EF4-FFF2-40B4-BE49-F238E27FC236}">
                <a16:creationId xmlns:a16="http://schemas.microsoft.com/office/drawing/2014/main" id="{B6E84973-60FF-B14C-C2D5-A7550EAC9CAA}"/>
              </a:ext>
            </a:extLst>
          </p:cNvPr>
          <p:cNvSpPr txBox="1"/>
          <p:nvPr/>
        </p:nvSpPr>
        <p:spPr>
          <a:xfrm>
            <a:off x="609600" y="1282700"/>
            <a:ext cx="11203858" cy="307777"/>
          </a:xfrm>
          <a:prstGeom prst="rect">
            <a:avLst/>
          </a:prstGeom>
          <a:noFill/>
        </p:spPr>
        <p:txBody>
          <a:bodyPr vert="horz" wrap="square" lIns="0" tIns="0" rIns="0" bIns="0" rtlCol="0">
            <a:spAutoFit/>
          </a:bodyPr>
          <a:lstStyle/>
          <a:p>
            <a:pPr marL="342900" indent="-342900">
              <a:buFont typeface="Wingdings" panose="05000000000000000000" pitchFamily="2" charset="2"/>
              <a:buChar char="p"/>
            </a:pPr>
            <a:r>
              <a:rPr lang="en-US" altLang="zh-CN" sz="2000" b="1" dirty="0">
                <a:solidFill>
                  <a:srgbClr val="C4530D"/>
                </a:solidFill>
                <a:latin typeface="Candara" panose="020E0502030303020204" pitchFamily="34" charset="0"/>
              </a:rPr>
              <a:t>Exponential Subtraction:</a:t>
            </a:r>
            <a:r>
              <a:rPr lang="en-US" altLang="zh-CN" sz="2000" b="1" dirty="0">
                <a:solidFill>
                  <a:srgbClr val="174A79"/>
                </a:solidFill>
                <a:latin typeface="Candara" panose="020E0502030303020204" pitchFamily="34" charset="0"/>
              </a:rPr>
              <a:t> The exponent carries the reusable smoothness in high-precision values.</a:t>
            </a:r>
            <a:endParaRPr lang="zh-CN" altLang="en-US" sz="2000" b="1" dirty="0">
              <a:solidFill>
                <a:srgbClr val="174A79"/>
              </a:solidFill>
              <a:latin typeface="Candara" panose="020E0502030303020204" pitchFamily="34" charset="0"/>
            </a:endParaRPr>
          </a:p>
        </p:txBody>
      </p:sp>
      <p:sp>
        <p:nvSpPr>
          <p:cNvPr id="7" name="Technical Detail">
            <a:extLst>
              <a:ext uri="{FF2B5EF4-FFF2-40B4-BE49-F238E27FC236}">
                <a16:creationId xmlns:a16="http://schemas.microsoft.com/office/drawing/2014/main" id="{ECBDBF17-68CF-6159-4BEB-FBFD3F96EE41}"/>
              </a:ext>
            </a:extLst>
          </p:cNvPr>
          <p:cNvSpPr txBox="1"/>
          <p:nvPr/>
        </p:nvSpPr>
        <p:spPr>
          <a:xfrm>
            <a:off x="889000" y="1841500"/>
            <a:ext cx="10668000" cy="276999"/>
          </a:xfrm>
          <a:prstGeom prst="rect">
            <a:avLst/>
          </a:prstGeom>
          <a:noFill/>
        </p:spPr>
        <p:txBody>
          <a:bodyPr vert="horz" lIns="0" tIns="0" rIns="0" bIns="0" rtlCol="0">
            <a:spAutoFit/>
          </a:bodyPr>
          <a:lstStyle/>
          <a:p>
            <a:r>
              <a:rPr lang="en-US" altLang="zh-CN" b="1" dirty="0">
                <a:solidFill>
                  <a:srgbClr val="174A79"/>
                </a:solidFill>
                <a:latin typeface="Candara" panose="020E0502030303020204" pitchFamily="34" charset="0"/>
              </a:rPr>
              <a:t>◆  Adjacent exponents are subtracted, while sign and fraction remain in their original binary form.</a:t>
            </a:r>
            <a:endParaRPr lang="zh-CN" altLang="en-US" b="1" dirty="0">
              <a:solidFill>
                <a:srgbClr val="174A79"/>
              </a:solidFill>
              <a:latin typeface="Candara" panose="020E0502030303020204" pitchFamily="34" charset="0"/>
            </a:endParaRPr>
          </a:p>
        </p:txBody>
      </p:sp>
      <p:sp>
        <p:nvSpPr>
          <p:cNvPr id="8" name="Narrative Focus">
            <a:extLst>
              <a:ext uri="{FF2B5EF4-FFF2-40B4-BE49-F238E27FC236}">
                <a16:creationId xmlns:a16="http://schemas.microsoft.com/office/drawing/2014/main" id="{ACFE6F4A-25EC-B0D6-CA22-B8325792C618}"/>
              </a:ext>
            </a:extLst>
          </p:cNvPr>
          <p:cNvSpPr/>
          <p:nvPr/>
        </p:nvSpPr>
        <p:spPr>
          <a:xfrm>
            <a:off x="1039761" y="2243301"/>
            <a:ext cx="6039465" cy="3420080"/>
          </a:xfrm>
          <a:prstGeom prst="rect">
            <a:avLst/>
          </a:prstGeom>
          <a:noFill/>
          <a:ln w="31750">
            <a:solidFill>
              <a:srgbClr val="EE5B3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灯片编号占位符 3"/>
          <p:cNvSpPr>
            <a:spLocks noGrp="1"/>
          </p:cNvSpPr>
          <p:nvPr>
            <p:ph type="sldNum" idx="12"/>
          </p:nvPr>
        </p:nvSpPr>
        <p:spPr/>
        <p:txBody>
          <a:bodyPr/>
          <a:lstStyle/>
          <a:p>
            <a:pPr>
              <a:buNone/>
              <a:defRPr>
                <a:latin typeface="Candara" panose="020E0502030303020204"/>
                <a:ea typeface="Candara" panose="020E0502030303020204"/>
                <a:cs typeface="Candara" panose="020E0502030303020204"/>
              </a:defRPr>
            </a:pPr>
            <a:r>
              <a:rPr lang="en-US" altLang="zh-CN">
                <a:latin typeface="Candara" panose="020E0502030303020204"/>
                <a:ea typeface="Candara" panose="020E0502030303020204"/>
                <a:cs typeface="Candara" panose="020E0502030303020204"/>
              </a:rPr>
              <a:t>16</a:t>
            </a:r>
            <a:endParaRPr>
              <a:latin typeface="Candara" panose="020E0502030303020204"/>
              <a:ea typeface="Candara" panose="020E0502030303020204"/>
              <a:cs typeface="Candara" panose="020E0502030303020204"/>
            </a:endParaRPr>
          </a:p>
        </p:txBody>
      </p:sp>
      <p:pic>
        <p:nvPicPr>
          <p:cNvPr id="14" name="图片 12"/>
          <p:cNvPicPr>
            <a:picLocks noChangeAspect="1"/>
          </p:cNvPicPr>
          <p:nvPr/>
        </p:nvPicPr>
        <p:blipFill>
          <a:blip r:embed="rId4"/>
          <a:srcRect/>
          <a:stretch>
            <a:fillRect/>
          </a:stretch>
        </p:blipFill>
        <p:spPr>
          <a:xfrm>
            <a:off x="0" y="0"/>
            <a:ext cx="12192000" cy="1143000"/>
          </a:xfrm>
          <a:prstGeom prst="rect">
            <a:avLst/>
          </a:prstGeom>
        </p:spPr>
      </p:pic>
      <p:sp>
        <p:nvSpPr>
          <p:cNvPr id="9" name="矩形 8"/>
          <p:cNvSpPr>
            <a:spLocks noGrp="1"/>
          </p:cNvSpPr>
          <p:nvPr/>
        </p:nvSpPr>
        <p:spPr>
          <a:xfrm>
            <a:off x="590550" y="114300"/>
            <a:ext cx="11010900" cy="914400"/>
          </a:xfrm>
          <a:prstGeom prst="rect">
            <a:avLst/>
          </a:prstGeom>
          <a:noFill/>
          <a:ln w="0">
            <a:noFill/>
            <a:prstDash val="solid"/>
          </a:ln>
        </p:spPr>
        <p:txBody>
          <a:bodyPr lIns="0" tIns="0" rIns="0" bIns="0" anchor="ctr">
            <a:normAutofit/>
          </a:bodyPr>
          <a:lstStyle/>
          <a:p>
            <a:pPr>
              <a:buNone/>
              <a:defRPr sz="2700" b="1">
                <a:solidFill>
                  <a:srgbClr val="000000"/>
                </a:solidFill>
                <a:latin typeface="Candara" panose="020E0502030303020204"/>
                <a:ea typeface="Candara" panose="020E0502030303020204"/>
                <a:cs typeface="Candara" panose="020E0502030303020204"/>
              </a:defRPr>
            </a:pPr>
            <a:r>
              <a:rPr lang="en-US" sz="3200" b="1" dirty="0">
                <a:solidFill>
                  <a:srgbClr val="174A79"/>
                </a:solidFill>
                <a:latin typeface="Candara" panose="020E0502030303020204" pitchFamily="34" charset="0"/>
                <a:ea typeface="Candara" panose="020E0502030303020204"/>
                <a:cs typeface="Candara" panose="020E0502030303020204"/>
              </a:rPr>
              <a:t>Exception Handler</a:t>
            </a:r>
            <a:endParaRPr sz="3200" b="1" dirty="0">
              <a:solidFill>
                <a:srgbClr val="174A79"/>
              </a:solidFill>
              <a:latin typeface="Candara" panose="020E0502030303020204" pitchFamily="34" charset="0"/>
            </a:endParaRPr>
          </a:p>
        </p:txBody>
      </p:sp>
      <p:sp>
        <p:nvSpPr>
          <p:cNvPr id="5" name="Technical Lead">
            <a:extLst>
              <a:ext uri="{FF2B5EF4-FFF2-40B4-BE49-F238E27FC236}">
                <a16:creationId xmlns:a16="http://schemas.microsoft.com/office/drawing/2014/main" id="{54AF2B52-B00F-F055-FAEB-B8F6B135D5E3}"/>
              </a:ext>
            </a:extLst>
          </p:cNvPr>
          <p:cNvSpPr txBox="1"/>
          <p:nvPr/>
        </p:nvSpPr>
        <p:spPr>
          <a:xfrm>
            <a:off x="609600" y="1282700"/>
            <a:ext cx="11425084" cy="307777"/>
          </a:xfrm>
          <a:prstGeom prst="rect">
            <a:avLst/>
          </a:prstGeom>
          <a:noFill/>
        </p:spPr>
        <p:txBody>
          <a:bodyPr vert="horz" wrap="square" lIns="0" tIns="0" rIns="0" bIns="0" rtlCol="0">
            <a:spAutoFit/>
          </a:bodyPr>
          <a:lstStyle/>
          <a:p>
            <a:pPr marL="342900" indent="-342900">
              <a:buFont typeface="Wingdings" panose="05000000000000000000" pitchFamily="2" charset="2"/>
              <a:buChar char="p"/>
            </a:pPr>
            <a:r>
              <a:rPr lang="en-US" altLang="zh-CN" sz="2000" b="1" dirty="0">
                <a:solidFill>
                  <a:srgbClr val="C4530D"/>
                </a:solidFill>
                <a:latin typeface="Candara" panose="020E0502030303020204" pitchFamily="34" charset="0"/>
              </a:rPr>
              <a:t>Adaptive Storage, Contraction:</a:t>
            </a:r>
            <a:r>
              <a:rPr lang="en-US" altLang="zh-CN" sz="2000" b="1" dirty="0">
                <a:solidFill>
                  <a:srgbClr val="174A79"/>
                </a:solidFill>
                <a:latin typeface="Candara" panose="020E0502030303020204" pitchFamily="34" charset="0"/>
              </a:rPr>
              <a:t> Repeatedly small exponent differences reduce the adaptive bit width.</a:t>
            </a:r>
            <a:endParaRPr lang="zh-CN" altLang="en-US" sz="2000" b="1" dirty="0">
              <a:solidFill>
                <a:srgbClr val="174A79"/>
              </a:solidFill>
              <a:latin typeface="Candara" panose="020E0502030303020204" pitchFamily="34" charset="0"/>
            </a:endParaRPr>
          </a:p>
        </p:txBody>
      </p:sp>
      <mc:AlternateContent xmlns:mc="http://schemas.openxmlformats.org/markup-compatibility/2006" xmlns:a14="http://schemas.microsoft.com/office/drawing/2010/main">
        <mc:Choice Requires="a14">
          <p:sp>
            <p:nvSpPr>
              <p:cNvPr id="7" name="Technical Detail">
                <a:extLst>
                  <a:ext uri="{FF2B5EF4-FFF2-40B4-BE49-F238E27FC236}">
                    <a16:creationId xmlns:a16="http://schemas.microsoft.com/office/drawing/2014/main" id="{632D2403-4008-1CB0-422E-144727EC25F3}"/>
                  </a:ext>
                </a:extLst>
              </p:cNvPr>
              <p:cNvSpPr txBox="1"/>
              <p:nvPr/>
            </p:nvSpPr>
            <p:spPr>
              <a:xfrm>
                <a:off x="889000" y="1841500"/>
                <a:ext cx="10668000" cy="276999"/>
              </a:xfrm>
              <a:prstGeom prst="rect">
                <a:avLst/>
              </a:prstGeom>
              <a:noFill/>
            </p:spPr>
            <p:txBody>
              <a:bodyPr vert="horz" lIns="0" tIns="0" rIns="0" bIns="0" rtlCol="0">
                <a:spAutoFit/>
              </a:bodyPr>
              <a:lstStyle/>
              <a:p>
                <a:r>
                  <a:rPr lang="en-US" altLang="zh-CN" b="1" dirty="0">
                    <a:solidFill>
                      <a:srgbClr val="174A79"/>
                    </a:solidFill>
                    <a:latin typeface="Candara" panose="020E0502030303020204" pitchFamily="34" charset="0"/>
                  </a:rPr>
                  <a:t>◆  After </a:t>
                </a:r>
                <a14:m>
                  <m:oMath xmlns:m="http://schemas.openxmlformats.org/officeDocument/2006/math">
                    <m:r>
                      <a:rPr lang="zh-CN" altLang="en-US" b="1" i="1" dirty="0" smtClean="0">
                        <a:solidFill>
                          <a:srgbClr val="174A79"/>
                        </a:solidFill>
                        <a:latin typeface="Cambria Math" panose="02040503050406030204" pitchFamily="18" charset="0"/>
                      </a:rPr>
                      <m:t>𝝆</m:t>
                    </m:r>
                  </m:oMath>
                </a14:m>
                <a:r>
                  <a:rPr lang="en-US" altLang="zh-CN" b="1" dirty="0">
                    <a:solidFill>
                      <a:srgbClr val="174A79"/>
                    </a:solidFill>
                    <a:latin typeface="Candara" panose="020E0502030303020204" pitchFamily="34" charset="0"/>
                  </a:rPr>
                  <a:t> consecutive fits in the smaller range, EL contracts by one bit.</a:t>
                </a:r>
                <a:endParaRPr lang="zh-CN" altLang="en-US" b="1" dirty="0">
                  <a:solidFill>
                    <a:srgbClr val="174A79"/>
                  </a:solidFill>
                  <a:latin typeface="Candara" panose="020E0502030303020204" pitchFamily="34" charset="0"/>
                </a:endParaRPr>
              </a:p>
            </p:txBody>
          </p:sp>
        </mc:Choice>
        <mc:Fallback xmlns="">
          <p:sp>
            <p:nvSpPr>
              <p:cNvPr id="7" name="Technical Detail">
                <a:extLst>
                  <a:ext uri="{FF2B5EF4-FFF2-40B4-BE49-F238E27FC236}">
                    <a16:creationId xmlns:a16="http://schemas.microsoft.com/office/drawing/2014/main" id="{632D2403-4008-1CB0-422E-144727EC25F3}"/>
                  </a:ext>
                </a:extLst>
              </p:cNvPr>
              <p:cNvSpPr txBox="1">
                <a:spLocks noRot="1" noChangeAspect="1" noMove="1" noResize="1" noEditPoints="1" noAdjustHandles="1" noChangeArrowheads="1" noChangeShapeType="1" noTextEdit="1"/>
              </p:cNvSpPr>
              <p:nvPr/>
            </p:nvSpPr>
            <p:spPr>
              <a:xfrm>
                <a:off x="889000" y="1841500"/>
                <a:ext cx="10668000" cy="276999"/>
              </a:xfrm>
              <a:prstGeom prst="rect">
                <a:avLst/>
              </a:prstGeom>
              <a:blipFill>
                <a:blip r:embed="rId5"/>
                <a:stretch>
                  <a:fillRect l="-1371" t="-28261" b="-50000"/>
                </a:stretch>
              </a:blipFill>
            </p:spPr>
            <p:txBody>
              <a:bodyPr/>
              <a:lstStyle/>
              <a:p>
                <a:r>
                  <a:rPr lang="zh-CN" altLang="en-US">
                    <a:noFill/>
                  </a:rPr>
                  <a:t> </a:t>
                </a:r>
              </a:p>
            </p:txBody>
          </p:sp>
        </mc:Fallback>
      </mc:AlternateContent>
      <p:pic>
        <p:nvPicPr>
          <p:cNvPr id="10" name="图片 14">
            <a:extLst>
              <a:ext uri="{FF2B5EF4-FFF2-40B4-BE49-F238E27FC236}">
                <a16:creationId xmlns:a16="http://schemas.microsoft.com/office/drawing/2014/main" id="{C17F2B79-A299-5FC8-60F7-32DA98A2B950}"/>
              </a:ext>
            </a:extLst>
          </p:cNvPr>
          <p:cNvPicPr>
            <a:picLocks noChangeAspect="1"/>
          </p:cNvPicPr>
          <p:nvPr/>
        </p:nvPicPr>
        <p:blipFill>
          <a:blip>
            <a:extLst>
              <a:ext uri="{96DAC541-7B7A-43D3-8B79-37D633B846F1}">
                <asvg:svgBlip xmlns:asvg="http://schemas.microsoft.com/office/drawing/2016/SVG/main" r:embed="rId6"/>
              </a:ext>
            </a:extLst>
          </a:blip>
          <a:srcRect/>
          <a:stretch>
            <a:fillRect/>
          </a:stretch>
        </p:blipFill>
        <p:spPr>
          <a:xfrm>
            <a:off x="975033" y="2243300"/>
            <a:ext cx="10581967" cy="4125008"/>
          </a:xfrm>
          <a:prstGeom prst="rect">
            <a:avLst/>
          </a:prstGeom>
        </p:spPr>
      </p:pic>
      <p:sp>
        <p:nvSpPr>
          <p:cNvPr id="8" name="Narrative Focus">
            <a:extLst>
              <a:ext uri="{FF2B5EF4-FFF2-40B4-BE49-F238E27FC236}">
                <a16:creationId xmlns:a16="http://schemas.microsoft.com/office/drawing/2014/main" id="{1B9295FA-4453-B037-961A-063D5072A4BC}"/>
              </a:ext>
            </a:extLst>
          </p:cNvPr>
          <p:cNvSpPr/>
          <p:nvPr/>
        </p:nvSpPr>
        <p:spPr>
          <a:xfrm>
            <a:off x="7282471" y="3001297"/>
            <a:ext cx="3934496" cy="1747683"/>
          </a:xfrm>
          <a:prstGeom prst="rect">
            <a:avLst/>
          </a:prstGeom>
          <a:noFill/>
          <a:ln w="31750">
            <a:solidFill>
              <a:srgbClr val="EE5B3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096880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灯片编号占位符 3"/>
          <p:cNvSpPr>
            <a:spLocks noGrp="1"/>
          </p:cNvSpPr>
          <p:nvPr>
            <p:ph type="sldNum" idx="12"/>
          </p:nvPr>
        </p:nvSpPr>
        <p:spPr/>
        <p:txBody>
          <a:bodyPr/>
          <a:lstStyle/>
          <a:p>
            <a:pPr>
              <a:buNone/>
              <a:defRPr>
                <a:latin typeface="Candara" panose="020E0502030303020204"/>
                <a:ea typeface="Candara" panose="020E0502030303020204"/>
                <a:cs typeface="Candara" panose="020E0502030303020204"/>
              </a:defRPr>
            </a:pPr>
            <a:r>
              <a:rPr lang="en-US" altLang="zh-CN">
                <a:latin typeface="Candara" panose="020E0502030303020204"/>
                <a:ea typeface="Candara" panose="020E0502030303020204"/>
                <a:cs typeface="Candara" panose="020E0502030303020204"/>
              </a:rPr>
              <a:t>17</a:t>
            </a:r>
            <a:endParaRPr>
              <a:latin typeface="Candara" panose="020E0502030303020204"/>
              <a:ea typeface="Candara" panose="020E0502030303020204"/>
              <a:cs typeface="Candara" panose="020E0502030303020204"/>
            </a:endParaRPr>
          </a:p>
        </p:txBody>
      </p:sp>
      <p:pic>
        <p:nvPicPr>
          <p:cNvPr id="14" name="图片 12"/>
          <p:cNvPicPr>
            <a:picLocks noChangeAspect="1"/>
          </p:cNvPicPr>
          <p:nvPr/>
        </p:nvPicPr>
        <p:blipFill>
          <a:blip r:embed="rId4"/>
          <a:srcRect/>
          <a:stretch>
            <a:fillRect/>
          </a:stretch>
        </p:blipFill>
        <p:spPr>
          <a:xfrm>
            <a:off x="0" y="0"/>
            <a:ext cx="12192000" cy="1143000"/>
          </a:xfrm>
          <a:prstGeom prst="rect">
            <a:avLst/>
          </a:prstGeom>
        </p:spPr>
      </p:pic>
      <p:sp>
        <p:nvSpPr>
          <p:cNvPr id="9" name="矩形 8"/>
          <p:cNvSpPr>
            <a:spLocks noGrp="1"/>
          </p:cNvSpPr>
          <p:nvPr/>
        </p:nvSpPr>
        <p:spPr>
          <a:xfrm>
            <a:off x="590550" y="114300"/>
            <a:ext cx="11010900" cy="914400"/>
          </a:xfrm>
          <a:prstGeom prst="rect">
            <a:avLst/>
          </a:prstGeom>
          <a:noFill/>
          <a:ln w="0">
            <a:noFill/>
            <a:prstDash val="solid"/>
          </a:ln>
        </p:spPr>
        <p:txBody>
          <a:bodyPr lIns="0" tIns="0" rIns="0" bIns="0" anchor="ctr">
            <a:normAutofit/>
          </a:bodyPr>
          <a:lstStyle/>
          <a:p>
            <a:pPr>
              <a:buNone/>
              <a:defRPr sz="2700" b="1">
                <a:solidFill>
                  <a:srgbClr val="000000"/>
                </a:solidFill>
                <a:latin typeface="Candara" panose="020E0502030303020204"/>
                <a:ea typeface="Candara" panose="020E0502030303020204"/>
                <a:cs typeface="Candara" panose="020E0502030303020204"/>
              </a:defRPr>
            </a:pPr>
            <a:r>
              <a:rPr lang="en-US" sz="3200" b="1" dirty="0">
                <a:solidFill>
                  <a:srgbClr val="174A79"/>
                </a:solidFill>
                <a:latin typeface="Candara" panose="020E0502030303020204" pitchFamily="34" charset="0"/>
                <a:ea typeface="Candara" panose="020E0502030303020204"/>
                <a:cs typeface="Candara" panose="020E0502030303020204"/>
              </a:rPr>
              <a:t>Exception Handler</a:t>
            </a:r>
            <a:endParaRPr sz="3200" b="1" dirty="0">
              <a:solidFill>
                <a:srgbClr val="174A79"/>
              </a:solidFill>
              <a:latin typeface="Candara" panose="020E0502030303020204" pitchFamily="34" charset="0"/>
            </a:endParaRPr>
          </a:p>
        </p:txBody>
      </p:sp>
      <p:sp>
        <p:nvSpPr>
          <p:cNvPr id="5" name="Technical Lead">
            <a:extLst>
              <a:ext uri="{FF2B5EF4-FFF2-40B4-BE49-F238E27FC236}">
                <a16:creationId xmlns:a16="http://schemas.microsoft.com/office/drawing/2014/main" id="{48B8B3E4-5D7C-4F89-802C-CB827E45EB22}"/>
              </a:ext>
            </a:extLst>
          </p:cNvPr>
          <p:cNvSpPr txBox="1"/>
          <p:nvPr/>
        </p:nvSpPr>
        <p:spPr>
          <a:xfrm>
            <a:off x="609599" y="1282700"/>
            <a:ext cx="11469329" cy="307777"/>
          </a:xfrm>
          <a:prstGeom prst="rect">
            <a:avLst/>
          </a:prstGeom>
          <a:noFill/>
        </p:spPr>
        <p:txBody>
          <a:bodyPr vert="horz" wrap="square" lIns="0" tIns="0" rIns="0" bIns="0" rtlCol="0">
            <a:spAutoFit/>
          </a:bodyPr>
          <a:lstStyle/>
          <a:p>
            <a:pPr marL="342900" indent="-342900">
              <a:buFont typeface="Wingdings" panose="05000000000000000000" pitchFamily="2" charset="2"/>
              <a:buChar char="p"/>
            </a:pPr>
            <a:r>
              <a:rPr lang="en-US" altLang="zh-CN" sz="2000" b="1">
                <a:solidFill>
                  <a:srgbClr val="D97821"/>
                </a:solidFill>
                <a:latin typeface="Candara" panose="020E0502030303020204" pitchFamily="34" charset="0"/>
              </a:rPr>
              <a:t>Adaptive Storage, Expansion:</a:t>
            </a:r>
            <a:r>
              <a:rPr lang="en-US" altLang="zh-CN" sz="2000" b="1">
                <a:solidFill>
                  <a:srgbClr val="174A79"/>
                </a:solidFill>
                <a:latin typeface="Candara" panose="020E0502030303020204" pitchFamily="34" charset="0"/>
              </a:rPr>
              <a:t> Overflow stores the original IEEE754 value and increases EL by one bit.</a:t>
            </a:r>
            <a:endParaRPr lang="zh-CN" altLang="en-US" sz="2000" b="1" dirty="0">
              <a:solidFill>
                <a:srgbClr val="174A79"/>
              </a:solidFill>
              <a:latin typeface="Candara" panose="020E0502030303020204" pitchFamily="34" charset="0"/>
            </a:endParaRPr>
          </a:p>
        </p:txBody>
      </p:sp>
      <p:sp>
        <p:nvSpPr>
          <p:cNvPr id="7" name="Technical Detail">
            <a:extLst>
              <a:ext uri="{FF2B5EF4-FFF2-40B4-BE49-F238E27FC236}">
                <a16:creationId xmlns:a16="http://schemas.microsoft.com/office/drawing/2014/main" id="{F7F32396-76ED-2200-C1FE-6EB07A7D0CC8}"/>
              </a:ext>
            </a:extLst>
          </p:cNvPr>
          <p:cNvSpPr txBox="1"/>
          <p:nvPr/>
        </p:nvSpPr>
        <p:spPr>
          <a:xfrm>
            <a:off x="889000" y="1841500"/>
            <a:ext cx="10668000" cy="276999"/>
          </a:xfrm>
          <a:prstGeom prst="rect">
            <a:avLst/>
          </a:prstGeom>
          <a:noFill/>
        </p:spPr>
        <p:txBody>
          <a:bodyPr vert="horz" lIns="0" tIns="0" rIns="0" bIns="0" rtlCol="0">
            <a:spAutoFit/>
          </a:bodyPr>
          <a:lstStyle/>
          <a:p>
            <a:r>
              <a:rPr lang="en-US" altLang="zh-CN" b="1" dirty="0">
                <a:solidFill>
                  <a:srgbClr val="174A79"/>
                </a:solidFill>
                <a:latin typeface="Candara" panose="020E0502030303020204" pitchFamily="34" charset="0"/>
              </a:rPr>
              <a:t>◆  An all-one code signals overflow, preserving correctness while EL expands by one bit.</a:t>
            </a:r>
            <a:endParaRPr lang="zh-CN" altLang="en-US" b="1" dirty="0">
              <a:solidFill>
                <a:srgbClr val="174A79"/>
              </a:solidFill>
              <a:latin typeface="Candara" panose="020E0502030303020204" pitchFamily="34" charset="0"/>
            </a:endParaRPr>
          </a:p>
        </p:txBody>
      </p:sp>
      <p:pic>
        <p:nvPicPr>
          <p:cNvPr id="10" name="图片 14">
            <a:extLst>
              <a:ext uri="{FF2B5EF4-FFF2-40B4-BE49-F238E27FC236}">
                <a16:creationId xmlns:a16="http://schemas.microsoft.com/office/drawing/2014/main" id="{C256325C-A8C9-7782-42CE-CB4B79F89E09}"/>
              </a:ext>
            </a:extLst>
          </p:cNvPr>
          <p:cNvPicPr>
            <a:picLocks noChangeAspect="1"/>
          </p:cNvPicPr>
          <p:nvPr/>
        </p:nvPicPr>
        <p:blipFill>
          <a:blip>
            <a:extLst>
              <a:ext uri="{96DAC541-7B7A-43D3-8B79-37D633B846F1}">
                <asvg:svgBlip xmlns:asvg="http://schemas.microsoft.com/office/drawing/2016/SVG/main" r:embed="rId5"/>
              </a:ext>
            </a:extLst>
          </a:blip>
          <a:srcRect/>
          <a:stretch>
            <a:fillRect/>
          </a:stretch>
        </p:blipFill>
        <p:spPr>
          <a:xfrm>
            <a:off x="975033" y="2243300"/>
            <a:ext cx="10581967" cy="4125008"/>
          </a:xfrm>
          <a:prstGeom prst="rect">
            <a:avLst/>
          </a:prstGeom>
        </p:spPr>
      </p:pic>
      <p:sp>
        <p:nvSpPr>
          <p:cNvPr id="8" name="Narrative Focus">
            <a:extLst>
              <a:ext uri="{FF2B5EF4-FFF2-40B4-BE49-F238E27FC236}">
                <a16:creationId xmlns:a16="http://schemas.microsoft.com/office/drawing/2014/main" id="{58ADA250-880F-485C-CDC4-B846233AA86A}"/>
              </a:ext>
            </a:extLst>
          </p:cNvPr>
          <p:cNvSpPr/>
          <p:nvPr/>
        </p:nvSpPr>
        <p:spPr>
          <a:xfrm>
            <a:off x="7282471" y="4750157"/>
            <a:ext cx="4103284" cy="986965"/>
          </a:xfrm>
          <a:prstGeom prst="rect">
            <a:avLst/>
          </a:prstGeom>
          <a:noFill/>
          <a:ln w="31750">
            <a:solidFill>
              <a:srgbClr val="EE5B3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Narrative Focus">
            <a:extLst>
              <a:ext uri="{FF2B5EF4-FFF2-40B4-BE49-F238E27FC236}">
                <a16:creationId xmlns:a16="http://schemas.microsoft.com/office/drawing/2014/main" id="{8FBF9232-5938-2768-3B2C-A45D3C349EAB}"/>
              </a:ext>
            </a:extLst>
          </p:cNvPr>
          <p:cNvSpPr/>
          <p:nvPr/>
        </p:nvSpPr>
        <p:spPr>
          <a:xfrm>
            <a:off x="7282471" y="2217754"/>
            <a:ext cx="4103284" cy="731923"/>
          </a:xfrm>
          <a:prstGeom prst="rect">
            <a:avLst/>
          </a:prstGeom>
          <a:noFill/>
          <a:ln w="31750">
            <a:solidFill>
              <a:srgbClr val="EE5B3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930054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灯片编号占位符 3"/>
          <p:cNvSpPr>
            <a:spLocks noGrp="1"/>
          </p:cNvSpPr>
          <p:nvPr>
            <p:ph type="sldNum" idx="12"/>
          </p:nvPr>
        </p:nvSpPr>
        <p:spPr/>
        <p:txBody>
          <a:bodyPr/>
          <a:lstStyle/>
          <a:p>
            <a:pPr>
              <a:buNone/>
              <a:defRPr>
                <a:latin typeface="Candara" panose="020E0502030303020204"/>
                <a:ea typeface="Candara" panose="020E0502030303020204"/>
                <a:cs typeface="Candara" panose="020E0502030303020204"/>
              </a:defRPr>
            </a:pPr>
            <a:r>
              <a:rPr lang="en-US" altLang="zh-CN">
                <a:latin typeface="Candara" panose="020E0502030303020204"/>
                <a:ea typeface="Candara" panose="020E0502030303020204"/>
                <a:cs typeface="Candara" panose="020E0502030303020204"/>
              </a:rPr>
              <a:t>18</a:t>
            </a:r>
            <a:endParaRPr>
              <a:latin typeface="Candara" panose="020E0502030303020204"/>
              <a:ea typeface="Candara" panose="020E0502030303020204"/>
              <a:cs typeface="Candara" panose="020E0502030303020204"/>
            </a:endParaRPr>
          </a:p>
        </p:txBody>
      </p:sp>
      <p:pic>
        <p:nvPicPr>
          <p:cNvPr id="14" name="图片 12"/>
          <p:cNvPicPr>
            <a:picLocks noChangeAspect="1"/>
          </p:cNvPicPr>
          <p:nvPr/>
        </p:nvPicPr>
        <p:blipFill>
          <a:blip r:embed="rId4"/>
          <a:srcRect/>
          <a:stretch>
            <a:fillRect/>
          </a:stretch>
        </p:blipFill>
        <p:spPr>
          <a:xfrm>
            <a:off x="0" y="0"/>
            <a:ext cx="12192000" cy="1143000"/>
          </a:xfrm>
          <a:prstGeom prst="rect">
            <a:avLst/>
          </a:prstGeom>
        </p:spPr>
      </p:pic>
      <p:sp>
        <p:nvSpPr>
          <p:cNvPr id="9" name="矩形 8"/>
          <p:cNvSpPr>
            <a:spLocks noGrp="1"/>
          </p:cNvSpPr>
          <p:nvPr/>
        </p:nvSpPr>
        <p:spPr>
          <a:xfrm>
            <a:off x="590550" y="114300"/>
            <a:ext cx="11010900" cy="914400"/>
          </a:xfrm>
          <a:prstGeom prst="rect">
            <a:avLst/>
          </a:prstGeom>
          <a:noFill/>
          <a:ln w="0">
            <a:noFill/>
            <a:prstDash val="solid"/>
          </a:ln>
        </p:spPr>
        <p:txBody>
          <a:bodyPr lIns="0" tIns="0" rIns="0" bIns="0" anchor="ctr">
            <a:normAutofit/>
          </a:bodyPr>
          <a:lstStyle/>
          <a:p>
            <a:pPr>
              <a:buNone/>
              <a:defRPr sz="2700" b="1">
                <a:solidFill>
                  <a:srgbClr val="000000"/>
                </a:solidFill>
                <a:latin typeface="Candara" panose="020E0502030303020204"/>
                <a:ea typeface="Candara" panose="020E0502030303020204"/>
                <a:cs typeface="Candara" panose="020E0502030303020204"/>
              </a:defRPr>
            </a:pPr>
            <a:r>
              <a:rPr lang="en-US" sz="3200" b="1" dirty="0">
                <a:solidFill>
                  <a:srgbClr val="174A79"/>
                </a:solidFill>
                <a:latin typeface="Candara" panose="020E0502030303020204" pitchFamily="34" charset="0"/>
                <a:ea typeface="Candara" panose="020E0502030303020204"/>
                <a:cs typeface="Candara" panose="020E0502030303020204"/>
              </a:rPr>
              <a:t>Outline</a:t>
            </a:r>
            <a:endParaRPr sz="3200" b="1" dirty="0">
              <a:solidFill>
                <a:srgbClr val="174A79"/>
              </a:solidFill>
              <a:latin typeface="Candara" panose="020E0502030303020204" pitchFamily="34" charset="0"/>
            </a:endParaRPr>
          </a:p>
        </p:txBody>
      </p:sp>
      <p:sp>
        <p:nvSpPr>
          <p:cNvPr id="3" name="文本框 2">
            <a:extLst>
              <a:ext uri="{FF2B5EF4-FFF2-40B4-BE49-F238E27FC236}">
                <a16:creationId xmlns:a16="http://schemas.microsoft.com/office/drawing/2014/main" id="{8D3BD26F-586F-4A02-9F9C-F530DDD04EAA}"/>
              </a:ext>
            </a:extLst>
          </p:cNvPr>
          <p:cNvSpPr txBox="1"/>
          <p:nvPr/>
        </p:nvSpPr>
        <p:spPr>
          <a:xfrm>
            <a:off x="1905000" y="1676399"/>
            <a:ext cx="8890000" cy="384721"/>
          </a:xfrm>
          <a:prstGeom prst="rect">
            <a:avLst/>
          </a:prstGeom>
          <a:noFill/>
        </p:spPr>
        <p:txBody>
          <a:bodyPr vert="horz" lIns="0" tIns="0" rIns="0" bIns="0" rtlCol="0">
            <a:spAutoFit/>
          </a:bodyPr>
          <a:lstStyle/>
          <a:p>
            <a:pPr marL="342900" indent="-342900">
              <a:buFont typeface="Wingdings" panose="05000000000000000000" pitchFamily="2" charset="2"/>
              <a:buChar char="l"/>
            </a:pPr>
            <a:r>
              <a:rPr lang="en-US" altLang="zh-CN" sz="2500" dirty="0">
                <a:solidFill>
                  <a:srgbClr val="A5AEB6"/>
                </a:solidFill>
                <a:latin typeface="Candara" panose="020E0502030303020204" pitchFamily="34" charset="0"/>
              </a:rPr>
              <a:t>Background and Observation</a:t>
            </a:r>
            <a:endParaRPr lang="zh-CN" altLang="en-US" sz="2500" dirty="0">
              <a:solidFill>
                <a:srgbClr val="A5AEB6"/>
              </a:solidFill>
              <a:latin typeface="Candara" panose="020E0502030303020204" pitchFamily="34" charset="0"/>
            </a:endParaRPr>
          </a:p>
        </p:txBody>
      </p:sp>
      <p:sp>
        <p:nvSpPr>
          <p:cNvPr id="7" name="文本框 6">
            <a:extLst>
              <a:ext uri="{FF2B5EF4-FFF2-40B4-BE49-F238E27FC236}">
                <a16:creationId xmlns:a16="http://schemas.microsoft.com/office/drawing/2014/main" id="{2A15C6F1-560A-14FD-EF93-AC5379371210}"/>
              </a:ext>
            </a:extLst>
          </p:cNvPr>
          <p:cNvSpPr txBox="1"/>
          <p:nvPr/>
        </p:nvSpPr>
        <p:spPr>
          <a:xfrm>
            <a:off x="1905000" y="2832099"/>
            <a:ext cx="8890000" cy="384721"/>
          </a:xfrm>
          <a:prstGeom prst="rect">
            <a:avLst/>
          </a:prstGeom>
          <a:noFill/>
        </p:spPr>
        <p:txBody>
          <a:bodyPr vert="horz" lIns="0" tIns="0" rIns="0" bIns="0" rtlCol="0">
            <a:spAutoFit/>
          </a:bodyPr>
          <a:lstStyle/>
          <a:p>
            <a:pPr marL="342900" indent="-342900">
              <a:buFont typeface="Wingdings" panose="05000000000000000000" pitchFamily="2" charset="2"/>
              <a:buChar char="l"/>
            </a:pPr>
            <a:r>
              <a:rPr lang="en-US" altLang="zh-CN" sz="2500">
                <a:solidFill>
                  <a:srgbClr val="A5AEB6"/>
                </a:solidFill>
                <a:latin typeface="Candara" panose="020E0502030303020204" pitchFamily="34" charset="0"/>
              </a:rPr>
              <a:t>Decimal XOR and DeXOR Design</a:t>
            </a:r>
            <a:endParaRPr lang="zh-CN" altLang="en-US" sz="2500">
              <a:solidFill>
                <a:srgbClr val="A5AEB6"/>
              </a:solidFill>
              <a:latin typeface="Candara" panose="020E0502030303020204" pitchFamily="34" charset="0"/>
            </a:endParaRPr>
          </a:p>
        </p:txBody>
      </p:sp>
      <p:sp>
        <p:nvSpPr>
          <p:cNvPr id="11" name="文本框 10">
            <a:extLst>
              <a:ext uri="{FF2B5EF4-FFF2-40B4-BE49-F238E27FC236}">
                <a16:creationId xmlns:a16="http://schemas.microsoft.com/office/drawing/2014/main" id="{EA0AC5F6-4A3A-D5A7-B514-82703832AB3C}"/>
              </a:ext>
            </a:extLst>
          </p:cNvPr>
          <p:cNvSpPr txBox="1"/>
          <p:nvPr/>
        </p:nvSpPr>
        <p:spPr>
          <a:xfrm>
            <a:off x="1905000" y="3987799"/>
            <a:ext cx="8890000" cy="384721"/>
          </a:xfrm>
          <a:prstGeom prst="rect">
            <a:avLst/>
          </a:prstGeom>
          <a:noFill/>
        </p:spPr>
        <p:txBody>
          <a:bodyPr vert="horz" lIns="0" tIns="0" rIns="0" bIns="0" rtlCol="0">
            <a:spAutoFit/>
          </a:bodyPr>
          <a:lstStyle/>
          <a:p>
            <a:pPr marL="342900" indent="-342900">
              <a:buFont typeface="Wingdings" panose="05000000000000000000" pitchFamily="2" charset="2"/>
              <a:buChar char="l"/>
            </a:pPr>
            <a:r>
              <a:rPr lang="en-US" altLang="zh-CN" sz="2500" b="1">
                <a:solidFill>
                  <a:srgbClr val="174A79"/>
                </a:solidFill>
                <a:latin typeface="Candara" panose="020E0502030303020204" pitchFamily="34" charset="0"/>
              </a:rPr>
              <a:t>Experimental Evaluation</a:t>
            </a:r>
            <a:endParaRPr lang="zh-CN" altLang="en-US" sz="2500" b="1">
              <a:solidFill>
                <a:srgbClr val="174A79"/>
              </a:solidFill>
              <a:latin typeface="Candara" panose="020E0502030303020204" pitchFamily="34" charset="0"/>
            </a:endParaRPr>
          </a:p>
        </p:txBody>
      </p:sp>
      <p:sp>
        <p:nvSpPr>
          <p:cNvPr id="13" name="文本框 12">
            <a:extLst>
              <a:ext uri="{FF2B5EF4-FFF2-40B4-BE49-F238E27FC236}">
                <a16:creationId xmlns:a16="http://schemas.microsoft.com/office/drawing/2014/main" id="{27FF793C-1C85-6DDF-45D4-0F74CAE17652}"/>
              </a:ext>
            </a:extLst>
          </p:cNvPr>
          <p:cNvSpPr txBox="1"/>
          <p:nvPr/>
        </p:nvSpPr>
        <p:spPr>
          <a:xfrm>
            <a:off x="1905000" y="5143499"/>
            <a:ext cx="8890000" cy="384721"/>
          </a:xfrm>
          <a:prstGeom prst="rect">
            <a:avLst/>
          </a:prstGeom>
          <a:noFill/>
        </p:spPr>
        <p:txBody>
          <a:bodyPr vert="horz" lIns="0" tIns="0" rIns="0" bIns="0" rtlCol="0">
            <a:spAutoFit/>
          </a:bodyPr>
          <a:lstStyle/>
          <a:p>
            <a:pPr marL="342900" indent="-342900">
              <a:buFont typeface="Wingdings" panose="05000000000000000000" pitchFamily="2" charset="2"/>
              <a:buChar char="l"/>
            </a:pPr>
            <a:r>
              <a:rPr lang="en-US" altLang="zh-CN" sz="2500">
                <a:solidFill>
                  <a:srgbClr val="A5AEB6"/>
                </a:solidFill>
                <a:latin typeface="Candara" panose="020E0502030303020204" pitchFamily="34" charset="0"/>
              </a:rPr>
              <a:t>DeXOR Family Extension</a:t>
            </a:r>
            <a:endParaRPr lang="zh-CN" altLang="en-US" sz="2500">
              <a:solidFill>
                <a:srgbClr val="A5AEB6"/>
              </a:solidFill>
              <a:latin typeface="Candara" panose="020E0502030303020204" pitchFamily="34" charset="0"/>
            </a:endParaRPr>
          </a:p>
        </p:txBody>
      </p:sp>
    </p:spTree>
    <p:extLst>
      <p:ext uri="{BB962C8B-B14F-4D97-AF65-F5344CB8AC3E}">
        <p14:creationId xmlns:p14="http://schemas.microsoft.com/office/powerpoint/2010/main" val="21372953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灯片编号占位符 3"/>
          <p:cNvSpPr>
            <a:spLocks noGrp="1"/>
          </p:cNvSpPr>
          <p:nvPr>
            <p:ph type="sldNum" idx="12"/>
          </p:nvPr>
        </p:nvSpPr>
        <p:spPr/>
        <p:txBody>
          <a:bodyPr/>
          <a:lstStyle/>
          <a:p>
            <a:pPr>
              <a:buNone/>
              <a:defRPr>
                <a:latin typeface="Candara" panose="020E0502030303020204"/>
                <a:ea typeface="Candara" panose="020E0502030303020204"/>
                <a:cs typeface="Candara" panose="020E0502030303020204"/>
              </a:defRPr>
            </a:pPr>
            <a:r>
              <a:rPr lang="en-US" altLang="zh-CN">
                <a:latin typeface="Candara" panose="020E0502030303020204"/>
                <a:ea typeface="Candara" panose="020E0502030303020204"/>
                <a:cs typeface="Candara" panose="020E0502030303020204"/>
              </a:rPr>
              <a:t>19</a:t>
            </a:r>
            <a:endParaRPr>
              <a:latin typeface="Candara" panose="020E0502030303020204"/>
              <a:ea typeface="Candara" panose="020E0502030303020204"/>
              <a:cs typeface="Candara" panose="020E0502030303020204"/>
            </a:endParaRPr>
          </a:p>
        </p:txBody>
      </p:sp>
      <p:pic>
        <p:nvPicPr>
          <p:cNvPr id="14" name="图片 12"/>
          <p:cNvPicPr>
            <a:picLocks noChangeAspect="1"/>
          </p:cNvPicPr>
          <p:nvPr/>
        </p:nvPicPr>
        <p:blipFill>
          <a:blip r:embed="rId4"/>
          <a:srcRect/>
          <a:stretch>
            <a:fillRect/>
          </a:stretch>
        </p:blipFill>
        <p:spPr>
          <a:xfrm>
            <a:off x="0" y="0"/>
            <a:ext cx="12192000" cy="1143000"/>
          </a:xfrm>
          <a:prstGeom prst="rect">
            <a:avLst/>
          </a:prstGeom>
        </p:spPr>
      </p:pic>
      <p:sp>
        <p:nvSpPr>
          <p:cNvPr id="9" name="矩形 8"/>
          <p:cNvSpPr>
            <a:spLocks noGrp="1"/>
          </p:cNvSpPr>
          <p:nvPr/>
        </p:nvSpPr>
        <p:spPr>
          <a:xfrm>
            <a:off x="590550" y="114300"/>
            <a:ext cx="11010900" cy="914400"/>
          </a:xfrm>
          <a:prstGeom prst="rect">
            <a:avLst/>
          </a:prstGeom>
          <a:noFill/>
          <a:ln w="0">
            <a:noFill/>
            <a:prstDash val="solid"/>
          </a:ln>
        </p:spPr>
        <p:txBody>
          <a:bodyPr lIns="0" tIns="0" rIns="0" bIns="0" anchor="ctr">
            <a:normAutofit/>
          </a:bodyPr>
          <a:lstStyle/>
          <a:p>
            <a:pPr algn="l">
              <a:buNone/>
              <a:defRPr sz="2700" b="1">
                <a:solidFill>
                  <a:srgbClr val="000000"/>
                </a:solidFill>
                <a:latin typeface="Candara" panose="020E0502030303020204"/>
                <a:ea typeface="Candara" panose="020E0502030303020204"/>
                <a:cs typeface="Candara" panose="020E0502030303020204"/>
              </a:defRPr>
            </a:pPr>
            <a:r>
              <a:rPr sz="3200" b="1" dirty="0">
                <a:solidFill>
                  <a:srgbClr val="174A79"/>
                </a:solidFill>
                <a:latin typeface="Candara" panose="020E0502030303020204" pitchFamily="34" charset="0"/>
                <a:ea typeface="Candara" panose="020E0502030303020204"/>
                <a:cs typeface="Candara" panose="020E0502030303020204"/>
              </a:rPr>
              <a:t>Evaluat</a:t>
            </a:r>
            <a:r>
              <a:rPr lang="en-US" altLang="zh-CN" sz="3200" b="1" dirty="0">
                <a:solidFill>
                  <a:srgbClr val="174A79"/>
                </a:solidFill>
                <a:latin typeface="Candara" panose="020E0502030303020204" pitchFamily="34" charset="0"/>
                <a:ea typeface="Candara" panose="020E0502030303020204"/>
                <a:cs typeface="Candara" panose="020E0502030303020204"/>
              </a:rPr>
              <a:t>ion </a:t>
            </a:r>
            <a:r>
              <a:rPr sz="3200" b="1" dirty="0">
                <a:solidFill>
                  <a:srgbClr val="174A79"/>
                </a:solidFill>
                <a:latin typeface="Candara" panose="020E0502030303020204" pitchFamily="34" charset="0"/>
                <a:ea typeface="Candara" panose="020E0502030303020204"/>
                <a:cs typeface="Candara" panose="020E0502030303020204"/>
              </a:rPr>
              <a:t>Settings</a:t>
            </a:r>
            <a:endParaRPr sz="3200" b="1" dirty="0">
              <a:solidFill>
                <a:srgbClr val="174A79"/>
              </a:solidFill>
              <a:latin typeface="Candara" panose="020E0502030303020204" pitchFamily="34" charset="0"/>
            </a:endParaRPr>
          </a:p>
        </p:txBody>
      </p:sp>
      <p:pic>
        <p:nvPicPr>
          <p:cNvPr id="16" name="图形 15"/>
          <p:cNvPicPr>
            <a:picLocks noChangeAspect="1"/>
          </p:cNvPicPr>
          <p:nvPr/>
        </p:nvPicPr>
        <p:blipFill>
          <a:blip>
            <a:extLst>
              <a:ext uri="{96DAC541-7B7A-43D3-8B79-37D633B846F1}">
                <asvg:svgBlip xmlns:asvg="http://schemas.microsoft.com/office/drawing/2016/SVG/main" r:embed="rId5"/>
              </a:ext>
            </a:extLst>
          </a:blip>
          <a:srcRect/>
          <a:stretch>
            <a:fillRect/>
          </a:stretch>
        </p:blipFill>
        <p:spPr>
          <a:xfrm>
            <a:off x="1288026" y="2066121"/>
            <a:ext cx="9202994" cy="3509179"/>
          </a:xfrm>
          <a:prstGeom prst="rect">
            <a:avLst/>
          </a:prstGeom>
        </p:spPr>
      </p:pic>
      <p:sp>
        <p:nvSpPr>
          <p:cNvPr id="3" name="文本框 2">
            <a:extLst>
              <a:ext uri="{FF2B5EF4-FFF2-40B4-BE49-F238E27FC236}">
                <a16:creationId xmlns:a16="http://schemas.microsoft.com/office/drawing/2014/main" id="{7F9D9B3D-8AE4-D1B7-2448-6FE302A193BD}"/>
              </a:ext>
            </a:extLst>
          </p:cNvPr>
          <p:cNvSpPr txBox="1"/>
          <p:nvPr/>
        </p:nvSpPr>
        <p:spPr>
          <a:xfrm>
            <a:off x="609600" y="1282700"/>
            <a:ext cx="10972800" cy="307777"/>
          </a:xfrm>
          <a:prstGeom prst="rect">
            <a:avLst/>
          </a:prstGeom>
          <a:noFill/>
        </p:spPr>
        <p:txBody>
          <a:bodyPr vert="horz" wrap="square" lIns="0" tIns="0" rIns="0" bIns="0" rtlCol="0">
            <a:spAutoFit/>
          </a:bodyPr>
          <a:lstStyle/>
          <a:p>
            <a:pPr marL="342900" indent="-342900">
              <a:buFont typeface="Wingdings" panose="05000000000000000000" pitchFamily="2" charset="2"/>
              <a:buChar char="p"/>
            </a:pPr>
            <a:r>
              <a:rPr lang="en-US" altLang="zh-CN" sz="2000" b="1" dirty="0">
                <a:solidFill>
                  <a:srgbClr val="D97821"/>
                </a:solidFill>
                <a:latin typeface="Candara" panose="020E0502030303020204" pitchFamily="34" charset="0"/>
              </a:rPr>
              <a:t>Evaluation Scope:</a:t>
            </a:r>
            <a:r>
              <a:rPr lang="en-US" altLang="zh-CN" sz="2000" b="1" dirty="0">
                <a:solidFill>
                  <a:srgbClr val="174A79"/>
                </a:solidFill>
                <a:latin typeface="Candara" panose="020E0502030303020204" pitchFamily="34" charset="0"/>
              </a:rPr>
              <a:t> We evaluate </a:t>
            </a:r>
            <a:r>
              <a:rPr lang="en-US" altLang="zh-CN" sz="2000" b="1" dirty="0" err="1">
                <a:solidFill>
                  <a:srgbClr val="174A79"/>
                </a:solidFill>
                <a:latin typeface="Candara" panose="020E0502030303020204" pitchFamily="34" charset="0"/>
              </a:rPr>
              <a:t>DeXOR</a:t>
            </a:r>
            <a:r>
              <a:rPr lang="en-US" altLang="zh-CN" sz="2000" b="1" dirty="0">
                <a:solidFill>
                  <a:srgbClr val="174A79"/>
                </a:solidFill>
                <a:latin typeface="Candara" panose="020E0502030303020204" pitchFamily="34" charset="0"/>
              </a:rPr>
              <a:t> across diverse precision and streaming settings.</a:t>
            </a:r>
            <a:endParaRPr lang="zh-CN" altLang="en-US" sz="2000" b="1" dirty="0">
              <a:solidFill>
                <a:srgbClr val="174A79"/>
              </a:solidFill>
              <a:latin typeface="Candara" panose="020E0502030303020204" pitchFamily="34" charset="0"/>
            </a:endParaRPr>
          </a:p>
        </p:txBody>
      </p:sp>
      <p:sp>
        <p:nvSpPr>
          <p:cNvPr id="5" name="文本框 4">
            <a:extLst>
              <a:ext uri="{FF2B5EF4-FFF2-40B4-BE49-F238E27FC236}">
                <a16:creationId xmlns:a16="http://schemas.microsoft.com/office/drawing/2014/main" id="{F2F436A7-12F5-0BF9-180C-BCD108C9C568}"/>
              </a:ext>
            </a:extLst>
          </p:cNvPr>
          <p:cNvSpPr txBox="1"/>
          <p:nvPr/>
        </p:nvSpPr>
        <p:spPr>
          <a:xfrm>
            <a:off x="889000" y="1841500"/>
            <a:ext cx="10668000" cy="276999"/>
          </a:xfrm>
          <a:prstGeom prst="rect">
            <a:avLst/>
          </a:prstGeom>
          <a:noFill/>
        </p:spPr>
        <p:txBody>
          <a:bodyPr vert="horz" wrap="square" lIns="0" tIns="0" rIns="0" bIns="0" rtlCol="0">
            <a:spAutoFit/>
          </a:bodyPr>
          <a:lstStyle/>
          <a:p>
            <a:r>
              <a:rPr lang="en-US" altLang="zh-CN" b="1" dirty="0">
                <a:solidFill>
                  <a:srgbClr val="174A79"/>
                </a:solidFill>
                <a:latin typeface="Candara" panose="020E0502030303020204" pitchFamily="34" charset="0"/>
              </a:rPr>
              <a:t>◆  Compressed size and throughput are measured under each scheme's intended configuration.</a:t>
            </a:r>
            <a:endParaRPr lang="zh-CN" altLang="en-US" b="1" dirty="0">
              <a:solidFill>
                <a:srgbClr val="174A79"/>
              </a:solidFill>
              <a:latin typeface="Candara" panose="020E0502030303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灯片编号占位符 3"/>
          <p:cNvSpPr>
            <a:spLocks noGrp="1"/>
          </p:cNvSpPr>
          <p:nvPr>
            <p:ph type="sldNum" idx="12"/>
          </p:nvPr>
        </p:nvSpPr>
        <p:spPr/>
        <p:txBody>
          <a:bodyPr/>
          <a:lstStyle/>
          <a:p>
            <a:pPr>
              <a:buNone/>
              <a:defRPr>
                <a:latin typeface="Candara" panose="020E0502030303020204"/>
                <a:ea typeface="Candara" panose="020E0502030303020204"/>
                <a:cs typeface="Candara" panose="020E0502030303020204"/>
              </a:defRPr>
            </a:pPr>
            <a:r>
              <a:rPr lang="en-US" altLang="zh-CN">
                <a:latin typeface="Candara" panose="020E0502030303020204"/>
                <a:ea typeface="Candara" panose="020E0502030303020204"/>
                <a:cs typeface="Candara" panose="020E0502030303020204"/>
              </a:rPr>
              <a:t>20</a:t>
            </a:r>
            <a:endParaRPr>
              <a:latin typeface="Candara" panose="020E0502030303020204"/>
              <a:ea typeface="Candara" panose="020E0502030303020204"/>
              <a:cs typeface="Candara" panose="020E0502030303020204"/>
            </a:endParaRPr>
          </a:p>
        </p:txBody>
      </p:sp>
      <p:sp>
        <p:nvSpPr>
          <p:cNvPr id="6" name="文本框 5"/>
          <p:cNvSpPr>
            <a:spLocks noGrp="1"/>
          </p:cNvSpPr>
          <p:nvPr/>
        </p:nvSpPr>
        <p:spPr>
          <a:xfrm>
            <a:off x="1351981" y="6311900"/>
            <a:ext cx="9144000" cy="431800"/>
          </a:xfrm>
          <a:prstGeom prst="roundRect">
            <a:avLst/>
          </a:prstGeom>
          <a:solidFill>
            <a:srgbClr val="E2EFF9"/>
          </a:solidFill>
          <a:ln w="0">
            <a:noFill/>
            <a:prstDash val="solid"/>
          </a:ln>
        </p:spPr>
        <p:style>
          <a:lnRef idx="2">
            <a:schemeClr val="accent1"/>
          </a:lnRef>
          <a:fillRef idx="1">
            <a:schemeClr val="lt1"/>
          </a:fillRef>
          <a:effectRef idx="0">
            <a:schemeClr val="accent1"/>
          </a:effectRef>
          <a:fontRef idx="minor">
            <a:schemeClr val="dk1"/>
          </a:fontRef>
        </p:style>
        <p:txBody>
          <a:bodyPr wrap="square" lIns="0" tIns="0" rIns="0" bIns="0" anchor="ctr">
            <a:normAutofit/>
          </a:bodyPr>
          <a:lstStyle>
            <a:lvl1pPr algn="ctr">
              <a:buNone/>
              <a:defRPr sz="2400" b="1">
                <a:solidFill>
                  <a:schemeClr val="bg1"/>
                </a:solidFill>
                <a:latin typeface="Candara" panose="020E0502030303020204"/>
                <a:ea typeface="Candara" panose="020E0502030303020204"/>
                <a:cs typeface="Candara" panose="020E0502030303020204"/>
              </a:defRPr>
            </a:lvl1pPr>
            <a:lvl2pPr>
              <a:buNone/>
              <a:defRPr>
                <a:solidFill>
                  <a:schemeClr val="dk1"/>
                </a:solidFill>
              </a:defRPr>
            </a:lvl2pPr>
            <a:lvl3pPr>
              <a:buNone/>
              <a:defRPr>
                <a:solidFill>
                  <a:schemeClr val="dk1"/>
                </a:solidFill>
              </a:defRPr>
            </a:lvl3pPr>
            <a:lvl4pPr>
              <a:buNone/>
              <a:defRPr>
                <a:solidFill>
                  <a:schemeClr val="dk1"/>
                </a:solidFill>
              </a:defRPr>
            </a:lvl4pPr>
            <a:lvl5pPr>
              <a:buNone/>
              <a:defRPr>
                <a:solidFill>
                  <a:schemeClr val="dk1"/>
                </a:solidFill>
              </a:defRPr>
            </a:lvl5pPr>
            <a:lvl6pPr>
              <a:buNone/>
              <a:defRPr>
                <a:solidFill>
                  <a:schemeClr val="dk1"/>
                </a:solidFill>
              </a:defRPr>
            </a:lvl6pPr>
            <a:lvl7pPr>
              <a:buNone/>
              <a:defRPr>
                <a:solidFill>
                  <a:schemeClr val="dk1"/>
                </a:solidFill>
              </a:defRPr>
            </a:lvl7pPr>
            <a:lvl8pPr>
              <a:buNone/>
              <a:defRPr>
                <a:solidFill>
                  <a:schemeClr val="dk1"/>
                </a:solidFill>
              </a:defRPr>
            </a:lvl8pPr>
            <a:lvl9pPr>
              <a:buNone/>
              <a:defRPr>
                <a:solidFill>
                  <a:schemeClr val="dk1"/>
                </a:solidFill>
              </a:defRPr>
            </a:lvl9pPr>
          </a:lstStyle>
          <a:p>
            <a:pPr>
              <a:buNone/>
              <a:defRPr sz="1650" b="1">
                <a:solidFill>
                  <a:srgbClr val="2F6FA5"/>
                </a:solidFill>
                <a:latin typeface="Candara" panose="020E0502030303020204"/>
                <a:ea typeface="Candara" panose="020E0502030303020204"/>
                <a:cs typeface="Candara" panose="020E0502030303020204"/>
              </a:defRPr>
            </a:pPr>
            <a:r>
              <a:rPr lang="en-US" sz="1800" dirty="0" err="1">
                <a:solidFill>
                  <a:srgbClr val="174A79"/>
                </a:solidFill>
                <a:latin typeface="Candara" panose="020E0502030303020204" pitchFamily="34" charset="0"/>
                <a:ea typeface="Candara" panose="020E0502030303020204"/>
                <a:cs typeface="Candara" panose="020E0502030303020204"/>
              </a:rPr>
              <a:t>DeXOR</a:t>
            </a:r>
            <a:r>
              <a:rPr lang="en-US" sz="1800" dirty="0">
                <a:solidFill>
                  <a:srgbClr val="174A79"/>
                </a:solidFill>
                <a:latin typeface="Candara" panose="020E0502030303020204" pitchFamily="34" charset="0"/>
                <a:ea typeface="Candara" panose="020E0502030303020204"/>
                <a:cs typeface="Candara" panose="020E0502030303020204"/>
              </a:rPr>
              <a:t> improves compression ratio by 15% and decompression speed by 20%.</a:t>
            </a:r>
            <a:endParaRPr sz="1800" dirty="0">
              <a:solidFill>
                <a:srgbClr val="174A79"/>
              </a:solidFill>
              <a:latin typeface="Candara" panose="020E0502030303020204" pitchFamily="34" charset="0"/>
            </a:endParaRPr>
          </a:p>
        </p:txBody>
      </p:sp>
      <p:pic>
        <p:nvPicPr>
          <p:cNvPr id="14" name="图片 12"/>
          <p:cNvPicPr>
            <a:picLocks noChangeAspect="1"/>
          </p:cNvPicPr>
          <p:nvPr/>
        </p:nvPicPr>
        <p:blipFill>
          <a:blip r:embed="rId4"/>
          <a:srcRect/>
          <a:stretch>
            <a:fillRect/>
          </a:stretch>
        </p:blipFill>
        <p:spPr>
          <a:xfrm>
            <a:off x="0" y="0"/>
            <a:ext cx="12192000" cy="1143000"/>
          </a:xfrm>
          <a:prstGeom prst="rect">
            <a:avLst/>
          </a:prstGeom>
        </p:spPr>
      </p:pic>
      <p:sp>
        <p:nvSpPr>
          <p:cNvPr id="9" name="矩形 8"/>
          <p:cNvSpPr>
            <a:spLocks noGrp="1"/>
          </p:cNvSpPr>
          <p:nvPr/>
        </p:nvSpPr>
        <p:spPr>
          <a:xfrm>
            <a:off x="590550" y="114300"/>
            <a:ext cx="11010900" cy="914400"/>
          </a:xfrm>
          <a:prstGeom prst="rect">
            <a:avLst/>
          </a:prstGeom>
          <a:noFill/>
          <a:ln w="0">
            <a:noFill/>
            <a:prstDash val="solid"/>
          </a:ln>
        </p:spPr>
        <p:txBody>
          <a:bodyPr lIns="0" tIns="0" rIns="0" bIns="0" anchor="ctr">
            <a:normAutofit/>
          </a:bodyPr>
          <a:lstStyle/>
          <a:p>
            <a:pPr algn="l">
              <a:buNone/>
              <a:defRPr sz="2700" b="1">
                <a:solidFill>
                  <a:srgbClr val="000000"/>
                </a:solidFill>
                <a:latin typeface="Candara" panose="020E0502030303020204"/>
                <a:ea typeface="Candara" panose="020E0502030303020204"/>
                <a:cs typeface="Candara" panose="020E0502030303020204"/>
              </a:defRPr>
            </a:pPr>
            <a:r>
              <a:rPr sz="3200" b="1" dirty="0" err="1">
                <a:solidFill>
                  <a:srgbClr val="174A79"/>
                </a:solidFill>
                <a:latin typeface="Candara" panose="020E0502030303020204" pitchFamily="34" charset="0"/>
                <a:ea typeface="Candara" panose="020E0502030303020204"/>
                <a:cs typeface="Candara" panose="020E0502030303020204"/>
              </a:rPr>
              <a:t>DeXOR</a:t>
            </a:r>
            <a:r>
              <a:rPr sz="3200" b="1" dirty="0">
                <a:solidFill>
                  <a:srgbClr val="174A79"/>
                </a:solidFill>
                <a:latin typeface="Candara" panose="020E0502030303020204" pitchFamily="34" charset="0"/>
                <a:ea typeface="Candara" panose="020E0502030303020204"/>
                <a:cs typeface="Candara" panose="020E0502030303020204"/>
              </a:rPr>
              <a:t> Improves Compression and Decompression</a:t>
            </a:r>
            <a:endParaRPr sz="3200" b="1" dirty="0">
              <a:solidFill>
                <a:srgbClr val="174A79"/>
              </a:solidFill>
              <a:latin typeface="Candara" panose="020E0502030303020204" pitchFamily="34" charset="0"/>
            </a:endParaRPr>
          </a:p>
        </p:txBody>
      </p:sp>
      <p:pic>
        <p:nvPicPr>
          <p:cNvPr id="16" name="图片 14"/>
          <p:cNvPicPr>
            <a:picLocks noChangeAspect="1"/>
          </p:cNvPicPr>
          <p:nvPr/>
        </p:nvPicPr>
        <p:blipFill>
          <a:blip>
            <a:extLst>
              <a:ext uri="{96DAC541-7B7A-43D3-8B79-37D633B846F1}">
                <asvg:svgBlip xmlns:asvg="http://schemas.microsoft.com/office/drawing/2016/SVG/main" r:embed="rId5"/>
              </a:ext>
            </a:extLst>
          </a:blip>
          <a:srcRect/>
          <a:stretch>
            <a:fillRect/>
          </a:stretch>
        </p:blipFill>
        <p:spPr>
          <a:xfrm>
            <a:off x="2170516" y="2235949"/>
            <a:ext cx="7167716" cy="3901414"/>
          </a:xfrm>
          <a:prstGeom prst="rect">
            <a:avLst/>
          </a:prstGeom>
        </p:spPr>
      </p:pic>
      <p:sp>
        <p:nvSpPr>
          <p:cNvPr id="3" name="文本框 2">
            <a:extLst>
              <a:ext uri="{FF2B5EF4-FFF2-40B4-BE49-F238E27FC236}">
                <a16:creationId xmlns:a16="http://schemas.microsoft.com/office/drawing/2014/main" id="{18793F8D-6EE5-5C85-CA06-9DD7270629B9}"/>
              </a:ext>
            </a:extLst>
          </p:cNvPr>
          <p:cNvSpPr txBox="1"/>
          <p:nvPr/>
        </p:nvSpPr>
        <p:spPr>
          <a:xfrm>
            <a:off x="609600" y="1282700"/>
            <a:ext cx="10972800" cy="307777"/>
          </a:xfrm>
          <a:prstGeom prst="rect">
            <a:avLst/>
          </a:prstGeom>
          <a:noFill/>
        </p:spPr>
        <p:txBody>
          <a:bodyPr vert="horz" wrap="square" lIns="0" tIns="0" rIns="0" bIns="0" rtlCol="0">
            <a:spAutoFit/>
          </a:bodyPr>
          <a:lstStyle/>
          <a:p>
            <a:pPr marL="342900" indent="-342900">
              <a:buFont typeface="Wingdings" panose="05000000000000000000" pitchFamily="2" charset="2"/>
              <a:buChar char="p"/>
            </a:pPr>
            <a:r>
              <a:rPr lang="en-US" altLang="zh-CN" sz="2000" b="1" dirty="0">
                <a:solidFill>
                  <a:srgbClr val="D97821"/>
                </a:solidFill>
                <a:latin typeface="Candara" panose="020E0502030303020204" pitchFamily="34" charset="0"/>
              </a:rPr>
              <a:t>Main Results:</a:t>
            </a:r>
            <a:r>
              <a:rPr lang="en-US" altLang="zh-CN" sz="2000" b="1" dirty="0">
                <a:solidFill>
                  <a:srgbClr val="174A79"/>
                </a:solidFill>
                <a:latin typeface="Candara" panose="020E0502030303020204" pitchFamily="34" charset="0"/>
              </a:rPr>
              <a:t> </a:t>
            </a:r>
            <a:r>
              <a:rPr lang="en-US" altLang="zh-CN" sz="2000" b="1" dirty="0" err="1">
                <a:solidFill>
                  <a:srgbClr val="174A79"/>
                </a:solidFill>
                <a:latin typeface="Candara" panose="020E0502030303020204" pitchFamily="34" charset="0"/>
              </a:rPr>
              <a:t>DeXOR</a:t>
            </a:r>
            <a:r>
              <a:rPr lang="en-US" altLang="zh-CN" sz="2000" b="1" dirty="0">
                <a:solidFill>
                  <a:srgbClr val="174A79"/>
                </a:solidFill>
                <a:latin typeface="Candara" panose="020E0502030303020204" pitchFamily="34" charset="0"/>
              </a:rPr>
              <a:t> improves compression and decompression across the benchmark.</a:t>
            </a:r>
            <a:endParaRPr lang="zh-CN" altLang="en-US" sz="2000" b="1" dirty="0">
              <a:solidFill>
                <a:srgbClr val="174A79"/>
              </a:solidFill>
              <a:latin typeface="Candara" panose="020E0502030303020204" pitchFamily="34" charset="0"/>
            </a:endParaRPr>
          </a:p>
        </p:txBody>
      </p:sp>
      <p:sp>
        <p:nvSpPr>
          <p:cNvPr id="5" name="文本框 4">
            <a:extLst>
              <a:ext uri="{FF2B5EF4-FFF2-40B4-BE49-F238E27FC236}">
                <a16:creationId xmlns:a16="http://schemas.microsoft.com/office/drawing/2014/main" id="{3B3DF6C5-376A-576C-0A93-875DE9B425FE}"/>
              </a:ext>
            </a:extLst>
          </p:cNvPr>
          <p:cNvSpPr txBox="1"/>
          <p:nvPr/>
        </p:nvSpPr>
        <p:spPr>
          <a:xfrm>
            <a:off x="889000" y="1841500"/>
            <a:ext cx="10668000" cy="276999"/>
          </a:xfrm>
          <a:prstGeom prst="rect">
            <a:avLst/>
          </a:prstGeom>
          <a:noFill/>
        </p:spPr>
        <p:txBody>
          <a:bodyPr vert="horz" wrap="square" lIns="0" tIns="0" rIns="0" bIns="0" rtlCol="0">
            <a:spAutoFit/>
          </a:bodyPr>
          <a:lstStyle/>
          <a:p>
            <a:r>
              <a:rPr lang="en-US" altLang="zh-CN" b="1">
                <a:solidFill>
                  <a:srgbClr val="174A79"/>
                </a:solidFill>
                <a:latin typeface="Candara" panose="020E0502030303020204" pitchFamily="34" charset="0"/>
              </a:rPr>
              <a:t>◆  We compare compressed size, compression throughput, and decompression throughput.</a:t>
            </a:r>
            <a:endParaRPr lang="zh-CN" altLang="en-US" b="1">
              <a:solidFill>
                <a:srgbClr val="174A79"/>
              </a:solidFill>
              <a:latin typeface="Candara" panose="020E0502030303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灯片编号占位符 3"/>
          <p:cNvSpPr>
            <a:spLocks noGrp="1"/>
          </p:cNvSpPr>
          <p:nvPr>
            <p:ph type="sldNum" idx="12"/>
          </p:nvPr>
        </p:nvSpPr>
        <p:spPr/>
        <p:txBody>
          <a:bodyPr/>
          <a:lstStyle/>
          <a:p>
            <a:pPr>
              <a:buNone/>
              <a:defRPr>
                <a:latin typeface="Candara" panose="020E0502030303020204"/>
                <a:ea typeface="Candara" panose="020E0502030303020204"/>
                <a:cs typeface="Candara" panose="020E0502030303020204"/>
              </a:defRPr>
            </a:pPr>
            <a:r>
              <a:rPr lang="en-US" altLang="zh-CN" dirty="0">
                <a:latin typeface="Candara" panose="020E0502030303020204"/>
                <a:ea typeface="Candara" panose="020E0502030303020204"/>
                <a:cs typeface="Candara" panose="020E0502030303020204"/>
              </a:rPr>
              <a:t>21</a:t>
            </a:r>
            <a:endParaRPr dirty="0">
              <a:latin typeface="Candara" panose="020E0502030303020204"/>
              <a:ea typeface="Candara" panose="020E0502030303020204"/>
              <a:cs typeface="Candara" panose="020E0502030303020204"/>
            </a:endParaRPr>
          </a:p>
        </p:txBody>
      </p:sp>
      <p:pic>
        <p:nvPicPr>
          <p:cNvPr id="25" name="图片 17"/>
          <p:cNvPicPr>
            <a:picLocks noChangeAspect="1"/>
          </p:cNvPicPr>
          <p:nvPr/>
        </p:nvPicPr>
        <p:blipFill>
          <a:blip r:embed="rId4"/>
          <a:srcRect/>
          <a:stretch>
            <a:fillRect/>
          </a:stretch>
        </p:blipFill>
        <p:spPr>
          <a:xfrm>
            <a:off x="0" y="0"/>
            <a:ext cx="12192000" cy="1143000"/>
          </a:xfrm>
          <a:prstGeom prst="rect">
            <a:avLst/>
          </a:prstGeom>
        </p:spPr>
      </p:pic>
      <p:sp>
        <p:nvSpPr>
          <p:cNvPr id="9" name="矩形 8"/>
          <p:cNvSpPr>
            <a:spLocks noGrp="1"/>
          </p:cNvSpPr>
          <p:nvPr/>
        </p:nvSpPr>
        <p:spPr>
          <a:xfrm>
            <a:off x="590550" y="114300"/>
            <a:ext cx="11010900" cy="914400"/>
          </a:xfrm>
          <a:prstGeom prst="rect">
            <a:avLst/>
          </a:prstGeom>
          <a:noFill/>
          <a:ln w="0">
            <a:noFill/>
            <a:prstDash val="solid"/>
          </a:ln>
        </p:spPr>
        <p:txBody>
          <a:bodyPr lIns="0" tIns="0" rIns="0" bIns="0" anchor="ctr">
            <a:normAutofit/>
          </a:bodyPr>
          <a:lstStyle/>
          <a:p>
            <a:pPr algn="l">
              <a:buNone/>
              <a:defRPr sz="2700" b="1">
                <a:solidFill>
                  <a:srgbClr val="000000"/>
                </a:solidFill>
                <a:latin typeface="Candara" panose="020E0502030303020204"/>
                <a:ea typeface="Candara" panose="020E0502030303020204"/>
                <a:cs typeface="Candara" panose="020E0502030303020204"/>
              </a:defRPr>
            </a:pPr>
            <a:r>
              <a:rPr sz="3200" b="1" dirty="0">
                <a:solidFill>
                  <a:srgbClr val="174A79"/>
                </a:solidFill>
                <a:latin typeface="Candara" panose="020E0502030303020204" pitchFamily="34" charset="0"/>
                <a:ea typeface="Candara" panose="020E0502030303020204"/>
                <a:cs typeface="Candara" panose="020E0502030303020204"/>
              </a:rPr>
              <a:t>Robust Across Precision and Stream Order</a:t>
            </a:r>
            <a:endParaRPr sz="3200" b="1" dirty="0">
              <a:solidFill>
                <a:srgbClr val="174A79"/>
              </a:solidFill>
              <a:latin typeface="Candara" panose="020E0502030303020204" pitchFamily="34" charset="0"/>
            </a:endParaRPr>
          </a:p>
        </p:txBody>
      </p:sp>
      <p:pic>
        <p:nvPicPr>
          <p:cNvPr id="27" name="图片 19"/>
          <p:cNvPicPr>
            <a:picLocks noChangeAspect="1"/>
          </p:cNvPicPr>
          <p:nvPr/>
        </p:nvPicPr>
        <p:blipFill>
          <a:blip>
            <a:extLst>
              <a:ext uri="{96DAC541-7B7A-43D3-8B79-37D633B846F1}">
                <asvg:svgBlip xmlns:asvg="http://schemas.microsoft.com/office/drawing/2016/SVG/main" r:embed="rId5"/>
              </a:ext>
            </a:extLst>
          </a:blip>
          <a:srcRect/>
          <a:stretch>
            <a:fillRect/>
          </a:stretch>
        </p:blipFill>
        <p:spPr>
          <a:xfrm>
            <a:off x="321391" y="3517491"/>
            <a:ext cx="5429250" cy="1790700"/>
          </a:xfrm>
          <a:prstGeom prst="rect">
            <a:avLst/>
          </a:prstGeom>
        </p:spPr>
      </p:pic>
      <p:pic>
        <p:nvPicPr>
          <p:cNvPr id="28" name="图片 20"/>
          <p:cNvPicPr>
            <a:picLocks noChangeAspect="1"/>
          </p:cNvPicPr>
          <p:nvPr/>
        </p:nvPicPr>
        <p:blipFill>
          <a:blip>
            <a:extLst>
              <a:ext uri="{96DAC541-7B7A-43D3-8B79-37D633B846F1}">
                <asvg:svgBlip xmlns:asvg="http://schemas.microsoft.com/office/drawing/2016/SVG/main" r:embed="rId6"/>
              </a:ext>
            </a:extLst>
          </a:blip>
          <a:srcRect/>
          <a:stretch>
            <a:fillRect/>
          </a:stretch>
        </p:blipFill>
        <p:spPr>
          <a:xfrm>
            <a:off x="5824691" y="3549221"/>
            <a:ext cx="6367309" cy="1594596"/>
          </a:xfrm>
          <a:prstGeom prst="rect">
            <a:avLst/>
          </a:prstGeom>
        </p:spPr>
      </p:pic>
      <p:sp>
        <p:nvSpPr>
          <p:cNvPr id="12" name="矩形 11"/>
          <p:cNvSpPr>
            <a:spLocks noGrp="1"/>
          </p:cNvSpPr>
          <p:nvPr/>
        </p:nvSpPr>
        <p:spPr>
          <a:xfrm>
            <a:off x="395441" y="2752622"/>
            <a:ext cx="5429250" cy="323850"/>
          </a:xfrm>
          <a:prstGeom prst="rect">
            <a:avLst/>
          </a:prstGeom>
          <a:noFill/>
          <a:ln w="0">
            <a:noFill/>
            <a:prstDash val="solid"/>
          </a:ln>
        </p:spPr>
        <p:txBody>
          <a:bodyPr lIns="19050" tIns="0" rIns="19050" bIns="0" anchor="ctr">
            <a:normAutofit/>
          </a:bodyPr>
          <a:lstStyle/>
          <a:p>
            <a:pPr algn="ctr">
              <a:buNone/>
              <a:defRPr sz="1650" b="1">
                <a:solidFill>
                  <a:srgbClr val="D97821"/>
                </a:solidFill>
                <a:latin typeface="Candara" panose="020E0502030303020204"/>
                <a:ea typeface="Candara" panose="020E0502030303020204"/>
                <a:cs typeface="Candara" panose="020E0502030303020204"/>
              </a:defRPr>
            </a:pPr>
            <a:r>
              <a:rPr sz="2000" b="1" dirty="0">
                <a:solidFill>
                  <a:srgbClr val="D97821"/>
                </a:solidFill>
                <a:latin typeface="Candara" panose="020E0502030303020204"/>
                <a:ea typeface="Candara" panose="020E0502030303020204"/>
                <a:cs typeface="Candara" panose="020E0502030303020204"/>
              </a:rPr>
              <a:t>High precision can expand the main path</a:t>
            </a:r>
            <a:endParaRPr sz="2000" b="1" dirty="0">
              <a:solidFill>
                <a:srgbClr val="D97821"/>
              </a:solidFill>
            </a:endParaRPr>
          </a:p>
        </p:txBody>
      </p:sp>
      <p:sp>
        <p:nvSpPr>
          <p:cNvPr id="14" name="矩形 13"/>
          <p:cNvSpPr>
            <a:spLocks noGrp="1"/>
          </p:cNvSpPr>
          <p:nvPr/>
        </p:nvSpPr>
        <p:spPr>
          <a:xfrm>
            <a:off x="6191250" y="2752622"/>
            <a:ext cx="5476875" cy="323850"/>
          </a:xfrm>
          <a:prstGeom prst="rect">
            <a:avLst/>
          </a:prstGeom>
          <a:noFill/>
          <a:ln w="0">
            <a:noFill/>
            <a:prstDash val="solid"/>
          </a:ln>
        </p:spPr>
        <p:txBody>
          <a:bodyPr lIns="19050" tIns="0" rIns="19050" bIns="0" anchor="ctr">
            <a:normAutofit/>
          </a:bodyPr>
          <a:lstStyle/>
          <a:p>
            <a:pPr algn="ctr">
              <a:buNone/>
              <a:defRPr sz="1650" b="1">
                <a:solidFill>
                  <a:srgbClr val="2F6FA5"/>
                </a:solidFill>
                <a:latin typeface="Candara" panose="020E0502030303020204"/>
                <a:ea typeface="Candara" panose="020E0502030303020204"/>
                <a:cs typeface="Candara" panose="020E0502030303020204"/>
              </a:defRPr>
            </a:pPr>
            <a:r>
              <a:rPr sz="2000" b="1" dirty="0">
                <a:solidFill>
                  <a:srgbClr val="2F6FA5"/>
                </a:solidFill>
                <a:latin typeface="Candara" panose="020E0502030303020204"/>
                <a:ea typeface="Candara" panose="020E0502030303020204"/>
                <a:cs typeface="Candara" panose="020E0502030303020204"/>
              </a:rPr>
              <a:t>Random sampling does not remove the gain</a:t>
            </a:r>
            <a:endParaRPr sz="2000" b="1" dirty="0">
              <a:solidFill>
                <a:srgbClr val="2F6FA5"/>
              </a:solidFill>
            </a:endParaRPr>
          </a:p>
        </p:txBody>
      </p:sp>
      <p:sp>
        <p:nvSpPr>
          <p:cNvPr id="15" name="矩形 14"/>
          <p:cNvSpPr>
            <a:spLocks noGrp="1"/>
          </p:cNvSpPr>
          <p:nvPr/>
        </p:nvSpPr>
        <p:spPr>
          <a:xfrm>
            <a:off x="6191250" y="3122970"/>
            <a:ext cx="5476875" cy="571500"/>
          </a:xfrm>
          <a:prstGeom prst="rect">
            <a:avLst/>
          </a:prstGeom>
          <a:noFill/>
          <a:ln w="0">
            <a:noFill/>
            <a:prstDash val="solid"/>
          </a:ln>
        </p:spPr>
        <p:txBody>
          <a:bodyPr lIns="19050" tIns="0" rIns="19050" bIns="0" anchor="ctr">
            <a:normAutofit/>
          </a:bodyPr>
          <a:lstStyle/>
          <a:p>
            <a:pPr algn="ctr">
              <a:buNone/>
              <a:defRPr sz="1425" b="0">
                <a:solidFill>
                  <a:srgbClr val="405B73"/>
                </a:solidFill>
                <a:latin typeface="Candara" panose="020E0502030303020204"/>
                <a:ea typeface="Candara" panose="020E0502030303020204"/>
                <a:cs typeface="Candara" panose="020E0502030303020204"/>
              </a:defRPr>
            </a:pPr>
            <a:endParaRPr b="0" dirty="0">
              <a:solidFill>
                <a:srgbClr val="405B73"/>
              </a:solidFill>
            </a:endParaRPr>
          </a:p>
        </p:txBody>
      </p:sp>
      <p:sp>
        <p:nvSpPr>
          <p:cNvPr id="3" name="文本框 2">
            <a:extLst>
              <a:ext uri="{FF2B5EF4-FFF2-40B4-BE49-F238E27FC236}">
                <a16:creationId xmlns:a16="http://schemas.microsoft.com/office/drawing/2014/main" id="{2609402B-928D-FE81-A2E0-3C0E9E513FE6}"/>
              </a:ext>
            </a:extLst>
          </p:cNvPr>
          <p:cNvSpPr txBox="1"/>
          <p:nvPr/>
        </p:nvSpPr>
        <p:spPr>
          <a:xfrm>
            <a:off x="609600" y="1282700"/>
            <a:ext cx="10972800" cy="307777"/>
          </a:xfrm>
          <a:prstGeom prst="rect">
            <a:avLst/>
          </a:prstGeom>
          <a:noFill/>
        </p:spPr>
        <p:txBody>
          <a:bodyPr vert="horz" wrap="square" lIns="0" tIns="0" rIns="0" bIns="0" rtlCol="0">
            <a:spAutoFit/>
          </a:bodyPr>
          <a:lstStyle/>
          <a:p>
            <a:pPr marL="342900" indent="-342900">
              <a:buFont typeface="Wingdings" panose="05000000000000000000" pitchFamily="2" charset="2"/>
              <a:buChar char="p"/>
            </a:pPr>
            <a:r>
              <a:rPr lang="en-US" altLang="zh-CN" sz="2000" b="1" dirty="0">
                <a:solidFill>
                  <a:srgbClr val="D97821"/>
                </a:solidFill>
                <a:latin typeface="Candara" panose="020E0502030303020204" pitchFamily="34" charset="0"/>
              </a:rPr>
              <a:t>Robustness:</a:t>
            </a:r>
            <a:r>
              <a:rPr lang="en-US" altLang="zh-CN" sz="2000" b="1" dirty="0">
                <a:solidFill>
                  <a:srgbClr val="174A79"/>
                </a:solidFill>
                <a:latin typeface="Candara" panose="020E0502030303020204" pitchFamily="34" charset="0"/>
              </a:rPr>
              <a:t> </a:t>
            </a:r>
            <a:r>
              <a:rPr lang="en-US" altLang="zh-CN" sz="2000" b="1" dirty="0" err="1">
                <a:solidFill>
                  <a:srgbClr val="174A79"/>
                </a:solidFill>
                <a:latin typeface="Candara" panose="020E0502030303020204" pitchFamily="34" charset="0"/>
              </a:rPr>
              <a:t>DeXOR</a:t>
            </a:r>
            <a:r>
              <a:rPr lang="en-US" altLang="zh-CN" sz="2000" b="1" dirty="0">
                <a:solidFill>
                  <a:srgbClr val="174A79"/>
                </a:solidFill>
                <a:latin typeface="Candara" panose="020E0502030303020204" pitchFamily="34" charset="0"/>
              </a:rPr>
              <a:t> remains effective under high precision and disrupted stream order.</a:t>
            </a:r>
            <a:endParaRPr lang="zh-CN" altLang="en-US" sz="2000" b="1" dirty="0">
              <a:solidFill>
                <a:srgbClr val="174A79"/>
              </a:solidFill>
              <a:latin typeface="Candara" panose="020E0502030303020204" pitchFamily="34" charset="0"/>
            </a:endParaRPr>
          </a:p>
        </p:txBody>
      </p:sp>
      <p:sp>
        <p:nvSpPr>
          <p:cNvPr id="5" name="文本框 4">
            <a:extLst>
              <a:ext uri="{FF2B5EF4-FFF2-40B4-BE49-F238E27FC236}">
                <a16:creationId xmlns:a16="http://schemas.microsoft.com/office/drawing/2014/main" id="{06BC0085-E42C-C375-5F63-416F8E643D78}"/>
              </a:ext>
            </a:extLst>
          </p:cNvPr>
          <p:cNvSpPr txBox="1"/>
          <p:nvPr/>
        </p:nvSpPr>
        <p:spPr>
          <a:xfrm>
            <a:off x="889000" y="1841500"/>
            <a:ext cx="10668000" cy="276999"/>
          </a:xfrm>
          <a:prstGeom prst="rect">
            <a:avLst/>
          </a:prstGeom>
          <a:noFill/>
        </p:spPr>
        <p:txBody>
          <a:bodyPr vert="horz" wrap="square" lIns="0" tIns="0" rIns="0" bIns="0" rtlCol="0">
            <a:spAutoFit/>
          </a:bodyPr>
          <a:lstStyle/>
          <a:p>
            <a:r>
              <a:rPr lang="en-US" altLang="zh-CN" b="1" dirty="0">
                <a:solidFill>
                  <a:srgbClr val="174A79"/>
                </a:solidFill>
                <a:latin typeface="Candara" panose="020E0502030303020204" pitchFamily="34" charset="0"/>
              </a:rPr>
              <a:t>◆  The experiments isolate expansion-prone values and weakened temporal smoothness.</a:t>
            </a:r>
            <a:endParaRPr lang="zh-CN" altLang="en-US" b="1" dirty="0">
              <a:solidFill>
                <a:srgbClr val="174A79"/>
              </a:solidFill>
              <a:latin typeface="Candara" panose="020E0502030303020204" pitchFamily="34" charset="0"/>
            </a:endParaRPr>
          </a:p>
        </p:txBody>
      </p:sp>
      <p:sp>
        <p:nvSpPr>
          <p:cNvPr id="7" name="文本框 5">
            <a:extLst>
              <a:ext uri="{FF2B5EF4-FFF2-40B4-BE49-F238E27FC236}">
                <a16:creationId xmlns:a16="http://schemas.microsoft.com/office/drawing/2014/main" id="{6B6A1AE1-2DB4-161B-A4CD-75F393613323}"/>
              </a:ext>
            </a:extLst>
          </p:cNvPr>
          <p:cNvSpPr>
            <a:spLocks noGrp="1"/>
          </p:cNvSpPr>
          <p:nvPr/>
        </p:nvSpPr>
        <p:spPr>
          <a:xfrm>
            <a:off x="163666" y="5847262"/>
            <a:ext cx="5892800" cy="431800"/>
          </a:xfrm>
          <a:prstGeom prst="roundRect">
            <a:avLst/>
          </a:prstGeom>
          <a:solidFill>
            <a:srgbClr val="E2EFF9"/>
          </a:solidFill>
          <a:ln w="0">
            <a:noFill/>
            <a:prstDash val="solid"/>
          </a:ln>
        </p:spPr>
        <p:style>
          <a:lnRef idx="2">
            <a:schemeClr val="accent1"/>
          </a:lnRef>
          <a:fillRef idx="1">
            <a:schemeClr val="lt1"/>
          </a:fillRef>
          <a:effectRef idx="0">
            <a:schemeClr val="accent1"/>
          </a:effectRef>
          <a:fontRef idx="minor">
            <a:schemeClr val="dk1"/>
          </a:fontRef>
        </p:style>
        <p:txBody>
          <a:bodyPr wrap="square" lIns="0" tIns="0" rIns="0" bIns="0" anchor="ctr">
            <a:noAutofit/>
          </a:bodyPr>
          <a:lstStyle>
            <a:lvl1pPr algn="ctr">
              <a:buNone/>
              <a:defRPr sz="2400" b="1">
                <a:solidFill>
                  <a:schemeClr val="bg1"/>
                </a:solidFill>
                <a:latin typeface="Candara" panose="020E0502030303020204"/>
                <a:ea typeface="Candara" panose="020E0502030303020204"/>
                <a:cs typeface="Candara" panose="020E0502030303020204"/>
              </a:defRPr>
            </a:lvl1pPr>
            <a:lvl2pPr>
              <a:buNone/>
              <a:defRPr>
                <a:solidFill>
                  <a:schemeClr val="dk1"/>
                </a:solidFill>
              </a:defRPr>
            </a:lvl2pPr>
            <a:lvl3pPr>
              <a:buNone/>
              <a:defRPr>
                <a:solidFill>
                  <a:schemeClr val="dk1"/>
                </a:solidFill>
              </a:defRPr>
            </a:lvl3pPr>
            <a:lvl4pPr>
              <a:buNone/>
              <a:defRPr>
                <a:solidFill>
                  <a:schemeClr val="dk1"/>
                </a:solidFill>
              </a:defRPr>
            </a:lvl4pPr>
            <a:lvl5pPr>
              <a:buNone/>
              <a:defRPr>
                <a:solidFill>
                  <a:schemeClr val="dk1"/>
                </a:solidFill>
              </a:defRPr>
            </a:lvl5pPr>
            <a:lvl6pPr>
              <a:buNone/>
              <a:defRPr>
                <a:solidFill>
                  <a:schemeClr val="dk1"/>
                </a:solidFill>
              </a:defRPr>
            </a:lvl6pPr>
            <a:lvl7pPr>
              <a:buNone/>
              <a:defRPr>
                <a:solidFill>
                  <a:schemeClr val="dk1"/>
                </a:solidFill>
              </a:defRPr>
            </a:lvl7pPr>
            <a:lvl8pPr>
              <a:buNone/>
              <a:defRPr>
                <a:solidFill>
                  <a:schemeClr val="dk1"/>
                </a:solidFill>
              </a:defRPr>
            </a:lvl8pPr>
            <a:lvl9pPr>
              <a:buNone/>
              <a:defRPr>
                <a:solidFill>
                  <a:schemeClr val="dk1"/>
                </a:solidFill>
              </a:defRPr>
            </a:lvl9pPr>
          </a:lstStyle>
          <a:p>
            <a:pPr>
              <a:buNone/>
              <a:defRPr sz="1650" b="1">
                <a:solidFill>
                  <a:srgbClr val="2F6FA5"/>
                </a:solidFill>
                <a:latin typeface="Candara" panose="020E0502030303020204"/>
                <a:ea typeface="Candara" panose="020E0502030303020204"/>
                <a:cs typeface="Candara" panose="020E0502030303020204"/>
              </a:defRPr>
            </a:pPr>
            <a:r>
              <a:rPr lang="en-US" sz="1800">
                <a:solidFill>
                  <a:srgbClr val="174A79"/>
                </a:solidFill>
                <a:latin typeface="Candara" panose="020E0502030303020204" pitchFamily="34" charset="0"/>
              </a:rPr>
              <a:t>The Exception Handler keeps every result below the 64-bit baseline.</a:t>
            </a:r>
            <a:endParaRPr lang="en-US" sz="1800" dirty="0">
              <a:solidFill>
                <a:srgbClr val="174A79"/>
              </a:solidFill>
              <a:latin typeface="Candara" panose="020E0502030303020204" pitchFamily="34" charset="0"/>
            </a:endParaRPr>
          </a:p>
        </p:txBody>
      </p:sp>
      <p:sp>
        <p:nvSpPr>
          <p:cNvPr id="10" name="文本框 5">
            <a:extLst>
              <a:ext uri="{FF2B5EF4-FFF2-40B4-BE49-F238E27FC236}">
                <a16:creationId xmlns:a16="http://schemas.microsoft.com/office/drawing/2014/main" id="{242FA4EC-C225-7DF4-E393-A023A3021DAA}"/>
              </a:ext>
            </a:extLst>
          </p:cNvPr>
          <p:cNvSpPr>
            <a:spLocks noGrp="1"/>
          </p:cNvSpPr>
          <p:nvPr/>
        </p:nvSpPr>
        <p:spPr>
          <a:xfrm>
            <a:off x="6627350" y="5847262"/>
            <a:ext cx="4929650" cy="431800"/>
          </a:xfrm>
          <a:prstGeom prst="roundRect">
            <a:avLst/>
          </a:prstGeom>
          <a:solidFill>
            <a:srgbClr val="E2EFF9"/>
          </a:solidFill>
          <a:ln w="0">
            <a:noFill/>
            <a:prstDash val="solid"/>
          </a:ln>
        </p:spPr>
        <p:style>
          <a:lnRef idx="2">
            <a:schemeClr val="accent1"/>
          </a:lnRef>
          <a:fillRef idx="1">
            <a:schemeClr val="lt1"/>
          </a:fillRef>
          <a:effectRef idx="0">
            <a:schemeClr val="accent1"/>
          </a:effectRef>
          <a:fontRef idx="minor">
            <a:schemeClr val="dk1"/>
          </a:fontRef>
        </p:style>
        <p:txBody>
          <a:bodyPr wrap="square" lIns="0" tIns="0" rIns="0" bIns="0" anchor="ctr">
            <a:noAutofit/>
          </a:bodyPr>
          <a:lstStyle>
            <a:lvl1pPr algn="ctr">
              <a:buNone/>
              <a:defRPr sz="2400" b="1">
                <a:solidFill>
                  <a:schemeClr val="bg1"/>
                </a:solidFill>
                <a:latin typeface="Candara" panose="020E0502030303020204"/>
                <a:ea typeface="Candara" panose="020E0502030303020204"/>
                <a:cs typeface="Candara" panose="020E0502030303020204"/>
              </a:defRPr>
            </a:lvl1pPr>
            <a:lvl2pPr>
              <a:buNone/>
              <a:defRPr>
                <a:solidFill>
                  <a:schemeClr val="dk1"/>
                </a:solidFill>
              </a:defRPr>
            </a:lvl2pPr>
            <a:lvl3pPr>
              <a:buNone/>
              <a:defRPr>
                <a:solidFill>
                  <a:schemeClr val="dk1"/>
                </a:solidFill>
              </a:defRPr>
            </a:lvl3pPr>
            <a:lvl4pPr>
              <a:buNone/>
              <a:defRPr>
                <a:solidFill>
                  <a:schemeClr val="dk1"/>
                </a:solidFill>
              </a:defRPr>
            </a:lvl4pPr>
            <a:lvl5pPr>
              <a:buNone/>
              <a:defRPr>
                <a:solidFill>
                  <a:schemeClr val="dk1"/>
                </a:solidFill>
              </a:defRPr>
            </a:lvl5pPr>
            <a:lvl6pPr>
              <a:buNone/>
              <a:defRPr>
                <a:solidFill>
                  <a:schemeClr val="dk1"/>
                </a:solidFill>
              </a:defRPr>
            </a:lvl6pPr>
            <a:lvl7pPr>
              <a:buNone/>
              <a:defRPr>
                <a:solidFill>
                  <a:schemeClr val="dk1"/>
                </a:solidFill>
              </a:defRPr>
            </a:lvl7pPr>
            <a:lvl8pPr>
              <a:buNone/>
              <a:defRPr>
                <a:solidFill>
                  <a:schemeClr val="dk1"/>
                </a:solidFill>
              </a:defRPr>
            </a:lvl8pPr>
            <a:lvl9pPr>
              <a:buNone/>
              <a:defRPr>
                <a:solidFill>
                  <a:schemeClr val="dk1"/>
                </a:solidFill>
              </a:defRPr>
            </a:lvl9pPr>
          </a:lstStyle>
          <a:p>
            <a:pPr>
              <a:defRPr sz="1650" b="1">
                <a:solidFill>
                  <a:srgbClr val="2F6FA5"/>
                </a:solidFill>
                <a:latin typeface="Candara" panose="020E0502030303020204"/>
                <a:ea typeface="Candara" panose="020E0502030303020204"/>
                <a:cs typeface="Candara" panose="020E0502030303020204"/>
              </a:defRPr>
            </a:pPr>
            <a:r>
              <a:rPr lang="en-US" altLang="zh-CN" sz="1800">
                <a:solidFill>
                  <a:srgbClr val="174A79"/>
                </a:solidFill>
                <a:latin typeface="Candara" panose="020E0502030303020204" pitchFamily="34" charset="0"/>
              </a:rPr>
              <a:t>DeXOR remains robust after random sampling.</a:t>
            </a:r>
            <a:endParaRPr lang="en-US" sz="1800" dirty="0">
              <a:solidFill>
                <a:srgbClr val="174A79"/>
              </a:solidFill>
              <a:latin typeface="Candara" panose="020E0502030303020204" pitchFamily="34" charset="0"/>
            </a:endParaRPr>
          </a:p>
        </p:txBody>
      </p:sp>
      <p:sp>
        <p:nvSpPr>
          <p:cNvPr id="6" name="文本框 5">
            <a:extLst>
              <a:ext uri="{FF2B5EF4-FFF2-40B4-BE49-F238E27FC236}">
                <a16:creationId xmlns:a16="http://schemas.microsoft.com/office/drawing/2014/main" id="{AEA9DE99-4D97-8DA7-A229-3C0BB75D0567}"/>
              </a:ext>
            </a:extLst>
          </p:cNvPr>
          <p:cNvSpPr txBox="1"/>
          <p:nvPr/>
        </p:nvSpPr>
        <p:spPr>
          <a:xfrm>
            <a:off x="889000" y="2200509"/>
            <a:ext cx="10668000" cy="276999"/>
          </a:xfrm>
          <a:prstGeom prst="rect">
            <a:avLst/>
          </a:prstGeom>
          <a:noFill/>
        </p:spPr>
        <p:txBody>
          <a:bodyPr vert="horz" wrap="square" lIns="0" tIns="0" rIns="0" bIns="0" rtlCol="0">
            <a:spAutoFit/>
          </a:bodyPr>
          <a:lstStyle/>
          <a:p>
            <a:r>
              <a:rPr lang="en-US" altLang="zh-CN" b="1" dirty="0">
                <a:solidFill>
                  <a:srgbClr val="174A79"/>
                </a:solidFill>
                <a:latin typeface="Candara" panose="020E0502030303020204" pitchFamily="34" charset="0"/>
              </a:rPr>
              <a:t>◆  Please refer to our paper for the complete experimental results.</a:t>
            </a:r>
            <a:endParaRPr lang="zh-CN" altLang="en-US" b="1" dirty="0">
              <a:solidFill>
                <a:srgbClr val="174A79"/>
              </a:solidFill>
              <a:latin typeface="Candara" panose="020E0502030303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灯片编号占位符 3"/>
          <p:cNvSpPr>
            <a:spLocks noGrp="1"/>
          </p:cNvSpPr>
          <p:nvPr>
            <p:ph type="sldNum" idx="12"/>
          </p:nvPr>
        </p:nvSpPr>
        <p:spPr/>
        <p:txBody>
          <a:bodyPr/>
          <a:lstStyle/>
          <a:p>
            <a:pPr>
              <a:buNone/>
              <a:defRPr>
                <a:latin typeface="Candara" panose="020E0502030303020204"/>
                <a:ea typeface="Candara" panose="020E0502030303020204"/>
                <a:cs typeface="Candara" panose="020E0502030303020204"/>
              </a:defRPr>
            </a:pPr>
            <a:r>
              <a:rPr lang="en-US" altLang="zh-CN">
                <a:latin typeface="Candara" panose="020E0502030303020204"/>
                <a:ea typeface="Candara" panose="020E0502030303020204"/>
                <a:cs typeface="Candara" panose="020E0502030303020204"/>
              </a:rPr>
              <a:t>22</a:t>
            </a:r>
            <a:endParaRPr>
              <a:latin typeface="Candara" panose="020E0502030303020204"/>
              <a:ea typeface="Candara" panose="020E0502030303020204"/>
              <a:cs typeface="Candara" panose="020E0502030303020204"/>
            </a:endParaRPr>
          </a:p>
        </p:txBody>
      </p:sp>
      <p:pic>
        <p:nvPicPr>
          <p:cNvPr id="14" name="图片 12"/>
          <p:cNvPicPr>
            <a:picLocks noChangeAspect="1"/>
          </p:cNvPicPr>
          <p:nvPr/>
        </p:nvPicPr>
        <p:blipFill>
          <a:blip r:embed="rId4"/>
          <a:srcRect/>
          <a:stretch>
            <a:fillRect/>
          </a:stretch>
        </p:blipFill>
        <p:spPr>
          <a:xfrm>
            <a:off x="0" y="0"/>
            <a:ext cx="12192000" cy="1143000"/>
          </a:xfrm>
          <a:prstGeom prst="rect">
            <a:avLst/>
          </a:prstGeom>
        </p:spPr>
      </p:pic>
      <p:sp>
        <p:nvSpPr>
          <p:cNvPr id="9" name="矩形 8"/>
          <p:cNvSpPr>
            <a:spLocks noGrp="1"/>
          </p:cNvSpPr>
          <p:nvPr/>
        </p:nvSpPr>
        <p:spPr>
          <a:xfrm>
            <a:off x="590550" y="114300"/>
            <a:ext cx="11010900" cy="914400"/>
          </a:xfrm>
          <a:prstGeom prst="rect">
            <a:avLst/>
          </a:prstGeom>
          <a:noFill/>
          <a:ln w="0">
            <a:noFill/>
            <a:prstDash val="solid"/>
          </a:ln>
        </p:spPr>
        <p:txBody>
          <a:bodyPr lIns="0" tIns="0" rIns="0" bIns="0" anchor="ctr">
            <a:normAutofit/>
          </a:bodyPr>
          <a:lstStyle/>
          <a:p>
            <a:pPr>
              <a:buNone/>
              <a:defRPr sz="2700" b="1">
                <a:solidFill>
                  <a:srgbClr val="000000"/>
                </a:solidFill>
                <a:latin typeface="Candara" panose="020E0502030303020204"/>
                <a:ea typeface="Candara" panose="020E0502030303020204"/>
                <a:cs typeface="Candara" panose="020E0502030303020204"/>
              </a:defRPr>
            </a:pPr>
            <a:r>
              <a:rPr lang="en-US" sz="3200" b="1" dirty="0">
                <a:solidFill>
                  <a:srgbClr val="174A79"/>
                </a:solidFill>
                <a:latin typeface="Candara" panose="020E0502030303020204" pitchFamily="34" charset="0"/>
                <a:ea typeface="Candara" panose="020E0502030303020204"/>
                <a:cs typeface="Candara" panose="020E0502030303020204"/>
              </a:rPr>
              <a:t>Outline</a:t>
            </a:r>
            <a:endParaRPr sz="3200" b="1" dirty="0">
              <a:solidFill>
                <a:srgbClr val="174A79"/>
              </a:solidFill>
              <a:latin typeface="Candara" panose="020E0502030303020204" pitchFamily="34" charset="0"/>
            </a:endParaRPr>
          </a:p>
        </p:txBody>
      </p:sp>
      <p:sp>
        <p:nvSpPr>
          <p:cNvPr id="3" name="文本框 2">
            <a:extLst>
              <a:ext uri="{FF2B5EF4-FFF2-40B4-BE49-F238E27FC236}">
                <a16:creationId xmlns:a16="http://schemas.microsoft.com/office/drawing/2014/main" id="{B0FB7869-5E08-2A8B-0118-79EDC387FA25}"/>
              </a:ext>
            </a:extLst>
          </p:cNvPr>
          <p:cNvSpPr txBox="1"/>
          <p:nvPr/>
        </p:nvSpPr>
        <p:spPr>
          <a:xfrm>
            <a:off x="1905000" y="1676399"/>
            <a:ext cx="8890000" cy="384721"/>
          </a:xfrm>
          <a:prstGeom prst="rect">
            <a:avLst/>
          </a:prstGeom>
          <a:noFill/>
        </p:spPr>
        <p:txBody>
          <a:bodyPr vert="horz" lIns="0" tIns="0" rIns="0" bIns="0" rtlCol="0">
            <a:spAutoFit/>
          </a:bodyPr>
          <a:lstStyle/>
          <a:p>
            <a:pPr marL="342900" indent="-342900">
              <a:buFont typeface="Wingdings" panose="05000000000000000000" pitchFamily="2" charset="2"/>
              <a:buChar char="l"/>
            </a:pPr>
            <a:r>
              <a:rPr lang="en-US" altLang="zh-CN" sz="2500" dirty="0">
                <a:solidFill>
                  <a:srgbClr val="A5AEB6"/>
                </a:solidFill>
                <a:latin typeface="Candara" panose="020E0502030303020204" pitchFamily="34" charset="0"/>
              </a:rPr>
              <a:t>Background and Observation</a:t>
            </a:r>
            <a:endParaRPr lang="zh-CN" altLang="en-US" sz="2500" dirty="0">
              <a:solidFill>
                <a:srgbClr val="A5AEB6"/>
              </a:solidFill>
              <a:latin typeface="Candara" panose="020E0502030303020204" pitchFamily="34" charset="0"/>
            </a:endParaRPr>
          </a:p>
        </p:txBody>
      </p:sp>
      <p:sp>
        <p:nvSpPr>
          <p:cNvPr id="7" name="文本框 6">
            <a:extLst>
              <a:ext uri="{FF2B5EF4-FFF2-40B4-BE49-F238E27FC236}">
                <a16:creationId xmlns:a16="http://schemas.microsoft.com/office/drawing/2014/main" id="{50859430-1388-A2D4-AAC3-A2FD9454F378}"/>
              </a:ext>
            </a:extLst>
          </p:cNvPr>
          <p:cNvSpPr txBox="1"/>
          <p:nvPr/>
        </p:nvSpPr>
        <p:spPr>
          <a:xfrm>
            <a:off x="1905000" y="2832099"/>
            <a:ext cx="8890000" cy="384721"/>
          </a:xfrm>
          <a:prstGeom prst="rect">
            <a:avLst/>
          </a:prstGeom>
          <a:noFill/>
        </p:spPr>
        <p:txBody>
          <a:bodyPr vert="horz" lIns="0" tIns="0" rIns="0" bIns="0" rtlCol="0">
            <a:spAutoFit/>
          </a:bodyPr>
          <a:lstStyle/>
          <a:p>
            <a:pPr marL="342900" indent="-342900">
              <a:buFont typeface="Wingdings" panose="05000000000000000000" pitchFamily="2" charset="2"/>
              <a:buChar char="l"/>
            </a:pPr>
            <a:r>
              <a:rPr lang="en-US" altLang="zh-CN" sz="2500" dirty="0">
                <a:solidFill>
                  <a:srgbClr val="A5AEB6"/>
                </a:solidFill>
                <a:latin typeface="Candara" panose="020E0502030303020204" pitchFamily="34" charset="0"/>
              </a:rPr>
              <a:t>Decimal XOR and </a:t>
            </a:r>
            <a:r>
              <a:rPr lang="en-US" altLang="zh-CN" sz="2500" dirty="0" err="1">
                <a:solidFill>
                  <a:srgbClr val="A5AEB6"/>
                </a:solidFill>
                <a:latin typeface="Candara" panose="020E0502030303020204" pitchFamily="34" charset="0"/>
              </a:rPr>
              <a:t>DeXOR</a:t>
            </a:r>
            <a:r>
              <a:rPr lang="en-US" altLang="zh-CN" sz="2500" dirty="0">
                <a:solidFill>
                  <a:srgbClr val="A5AEB6"/>
                </a:solidFill>
                <a:latin typeface="Candara" panose="020E0502030303020204" pitchFamily="34" charset="0"/>
              </a:rPr>
              <a:t> Design</a:t>
            </a:r>
            <a:endParaRPr lang="zh-CN" altLang="en-US" sz="2500" dirty="0">
              <a:solidFill>
                <a:srgbClr val="A5AEB6"/>
              </a:solidFill>
              <a:latin typeface="Candara" panose="020E0502030303020204" pitchFamily="34" charset="0"/>
            </a:endParaRPr>
          </a:p>
        </p:txBody>
      </p:sp>
      <p:sp>
        <p:nvSpPr>
          <p:cNvPr id="10" name="文本框 9">
            <a:extLst>
              <a:ext uri="{FF2B5EF4-FFF2-40B4-BE49-F238E27FC236}">
                <a16:creationId xmlns:a16="http://schemas.microsoft.com/office/drawing/2014/main" id="{6A3703A3-0A65-793E-D935-EC56BDF7487C}"/>
              </a:ext>
            </a:extLst>
          </p:cNvPr>
          <p:cNvSpPr txBox="1"/>
          <p:nvPr/>
        </p:nvSpPr>
        <p:spPr>
          <a:xfrm>
            <a:off x="1905000" y="3987799"/>
            <a:ext cx="8890000" cy="384721"/>
          </a:xfrm>
          <a:prstGeom prst="rect">
            <a:avLst/>
          </a:prstGeom>
          <a:noFill/>
        </p:spPr>
        <p:txBody>
          <a:bodyPr vert="horz" lIns="0" tIns="0" rIns="0" bIns="0" rtlCol="0">
            <a:spAutoFit/>
          </a:bodyPr>
          <a:lstStyle/>
          <a:p>
            <a:pPr marL="342900" indent="-342900">
              <a:buFont typeface="Wingdings" panose="05000000000000000000" pitchFamily="2" charset="2"/>
              <a:buChar char="l"/>
            </a:pPr>
            <a:r>
              <a:rPr lang="en-US" altLang="zh-CN" sz="2500">
                <a:solidFill>
                  <a:srgbClr val="A5AEB6"/>
                </a:solidFill>
                <a:latin typeface="Candara" panose="020E0502030303020204" pitchFamily="34" charset="0"/>
              </a:rPr>
              <a:t>Experimental Evaluation</a:t>
            </a:r>
            <a:endParaRPr lang="zh-CN" altLang="en-US" sz="2500">
              <a:solidFill>
                <a:srgbClr val="A5AEB6"/>
              </a:solidFill>
              <a:latin typeface="Candara" panose="020E0502030303020204" pitchFamily="34" charset="0"/>
            </a:endParaRPr>
          </a:p>
        </p:txBody>
      </p:sp>
      <p:sp>
        <p:nvSpPr>
          <p:cNvPr id="13" name="文本框 12">
            <a:extLst>
              <a:ext uri="{FF2B5EF4-FFF2-40B4-BE49-F238E27FC236}">
                <a16:creationId xmlns:a16="http://schemas.microsoft.com/office/drawing/2014/main" id="{EBD084F7-ED62-4676-3AD3-4E2B64DDB8F5}"/>
              </a:ext>
            </a:extLst>
          </p:cNvPr>
          <p:cNvSpPr txBox="1"/>
          <p:nvPr/>
        </p:nvSpPr>
        <p:spPr>
          <a:xfrm>
            <a:off x="1905000" y="5143499"/>
            <a:ext cx="8890000" cy="384721"/>
          </a:xfrm>
          <a:prstGeom prst="rect">
            <a:avLst/>
          </a:prstGeom>
          <a:noFill/>
        </p:spPr>
        <p:txBody>
          <a:bodyPr vert="horz" lIns="0" tIns="0" rIns="0" bIns="0" rtlCol="0">
            <a:spAutoFit/>
          </a:bodyPr>
          <a:lstStyle/>
          <a:p>
            <a:pPr marL="342900" indent="-342900">
              <a:buFont typeface="Wingdings" panose="05000000000000000000" pitchFamily="2" charset="2"/>
              <a:buChar char="l"/>
            </a:pPr>
            <a:r>
              <a:rPr lang="en-US" altLang="zh-CN" sz="2500" b="1">
                <a:solidFill>
                  <a:srgbClr val="174A79"/>
                </a:solidFill>
                <a:latin typeface="Candara" panose="020E0502030303020204" pitchFamily="34" charset="0"/>
              </a:rPr>
              <a:t>DeXOR Family Extension</a:t>
            </a:r>
            <a:endParaRPr lang="zh-CN" altLang="en-US" sz="2500" b="1">
              <a:solidFill>
                <a:srgbClr val="174A79"/>
              </a:solidFill>
              <a:latin typeface="Candara" panose="020E0502030303020204" pitchFamily="34" charset="0"/>
            </a:endParaRPr>
          </a:p>
        </p:txBody>
      </p:sp>
    </p:spTree>
    <p:extLst>
      <p:ext uri="{BB962C8B-B14F-4D97-AF65-F5344CB8AC3E}">
        <p14:creationId xmlns:p14="http://schemas.microsoft.com/office/powerpoint/2010/main" val="32573183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灯片编号占位符 3"/>
          <p:cNvSpPr>
            <a:spLocks noGrp="1"/>
          </p:cNvSpPr>
          <p:nvPr>
            <p:ph type="sldNum" idx="12"/>
          </p:nvPr>
        </p:nvSpPr>
        <p:spPr/>
        <p:txBody>
          <a:bodyPr/>
          <a:lstStyle/>
          <a:p>
            <a:pPr>
              <a:buNone/>
              <a:defRPr>
                <a:latin typeface="Candara" panose="020E0502030303020204"/>
                <a:ea typeface="Candara" panose="020E0502030303020204"/>
                <a:cs typeface="Candara" panose="020E0502030303020204"/>
              </a:defRPr>
            </a:pPr>
            <a:r>
              <a:rPr lang="en-US" altLang="zh-CN">
                <a:latin typeface="Candara" panose="020E0502030303020204"/>
                <a:ea typeface="Candara" panose="020E0502030303020204"/>
                <a:cs typeface="Candara" panose="020E0502030303020204"/>
              </a:rPr>
              <a:t>23</a:t>
            </a:r>
            <a:endParaRPr>
              <a:latin typeface="Candara" panose="020E0502030303020204"/>
              <a:ea typeface="Candara" panose="020E0502030303020204"/>
              <a:cs typeface="Candara" panose="020E0502030303020204"/>
            </a:endParaRPr>
          </a:p>
        </p:txBody>
      </p:sp>
      <p:pic>
        <p:nvPicPr>
          <p:cNvPr id="18" name="图片 15"/>
          <p:cNvPicPr>
            <a:picLocks noChangeAspect="1"/>
          </p:cNvPicPr>
          <p:nvPr/>
        </p:nvPicPr>
        <p:blipFill>
          <a:blip r:embed="rId4"/>
          <a:srcRect/>
          <a:stretch>
            <a:fillRect/>
          </a:stretch>
        </p:blipFill>
        <p:spPr>
          <a:xfrm>
            <a:off x="0" y="0"/>
            <a:ext cx="12192000" cy="1143000"/>
          </a:xfrm>
          <a:prstGeom prst="rect">
            <a:avLst/>
          </a:prstGeom>
        </p:spPr>
      </p:pic>
      <p:sp>
        <p:nvSpPr>
          <p:cNvPr id="9" name="矩形 8"/>
          <p:cNvSpPr>
            <a:spLocks noGrp="1"/>
          </p:cNvSpPr>
          <p:nvPr/>
        </p:nvSpPr>
        <p:spPr>
          <a:xfrm>
            <a:off x="590550" y="114300"/>
            <a:ext cx="11010900" cy="914400"/>
          </a:xfrm>
          <a:prstGeom prst="rect">
            <a:avLst/>
          </a:prstGeom>
          <a:noFill/>
          <a:ln w="0">
            <a:noFill/>
            <a:prstDash val="solid"/>
          </a:ln>
        </p:spPr>
        <p:txBody>
          <a:bodyPr lIns="0" tIns="0" rIns="0" bIns="0" anchor="ctr">
            <a:normAutofit/>
          </a:bodyPr>
          <a:lstStyle/>
          <a:p>
            <a:pPr algn="l">
              <a:buNone/>
              <a:defRPr sz="2700" b="1">
                <a:solidFill>
                  <a:srgbClr val="000000"/>
                </a:solidFill>
                <a:latin typeface="Candara" panose="020E0502030303020204"/>
                <a:ea typeface="Candara" panose="020E0502030303020204"/>
                <a:cs typeface="Candara" panose="020E0502030303020204"/>
              </a:defRPr>
            </a:pPr>
            <a:r>
              <a:rPr sz="3200" b="1" dirty="0">
                <a:solidFill>
                  <a:srgbClr val="174A79"/>
                </a:solidFill>
                <a:latin typeface="Candara" panose="020E0502030303020204" pitchFamily="34" charset="0"/>
                <a:ea typeface="Candara" panose="020E0502030303020204"/>
                <a:cs typeface="Candara" panose="020E0502030303020204"/>
              </a:rPr>
              <a:t>E-</a:t>
            </a:r>
            <a:r>
              <a:rPr sz="3200" b="1" dirty="0" err="1">
                <a:solidFill>
                  <a:srgbClr val="174A79"/>
                </a:solidFill>
                <a:latin typeface="Candara" panose="020E0502030303020204" pitchFamily="34" charset="0"/>
                <a:ea typeface="Candara" panose="020E0502030303020204"/>
                <a:cs typeface="Candara" panose="020E0502030303020204"/>
              </a:rPr>
              <a:t>DeXOR</a:t>
            </a:r>
            <a:r>
              <a:rPr sz="3200" b="1" dirty="0">
                <a:solidFill>
                  <a:srgbClr val="174A79"/>
                </a:solidFill>
                <a:latin typeface="Candara" panose="020E0502030303020204" pitchFamily="34" charset="0"/>
                <a:ea typeface="Candara" panose="020E0502030303020204"/>
                <a:cs typeface="Candara" panose="020E0502030303020204"/>
              </a:rPr>
              <a:t> Extends the Family to Error-Bounded Streams</a:t>
            </a:r>
            <a:endParaRPr sz="3200" b="1" dirty="0">
              <a:solidFill>
                <a:srgbClr val="174A79"/>
              </a:solidFill>
              <a:latin typeface="Candara" panose="020E0502030303020204" pitchFamily="34" charset="0"/>
            </a:endParaRPr>
          </a:p>
        </p:txBody>
      </p:sp>
      <p:pic>
        <p:nvPicPr>
          <p:cNvPr id="20" name="图片 17"/>
          <p:cNvPicPr>
            <a:picLocks noChangeAspect="1"/>
          </p:cNvPicPr>
          <p:nvPr/>
        </p:nvPicPr>
        <p:blipFill>
          <a:blip>
            <a:extLst>
              <a:ext uri="{96DAC541-7B7A-43D3-8B79-37D633B846F1}">
                <asvg:svgBlip xmlns:asvg="http://schemas.microsoft.com/office/drawing/2016/SVG/main" r:embed="rId5"/>
              </a:ext>
            </a:extLst>
          </a:blip>
          <a:srcRect/>
          <a:stretch>
            <a:fillRect/>
          </a:stretch>
        </p:blipFill>
        <p:spPr>
          <a:xfrm>
            <a:off x="1235794" y="2466708"/>
            <a:ext cx="10392695" cy="2911056"/>
          </a:xfrm>
          <a:prstGeom prst="rect">
            <a:avLst/>
          </a:prstGeom>
        </p:spPr>
      </p:pic>
      <p:sp>
        <p:nvSpPr>
          <p:cNvPr id="3" name="文本框 2">
            <a:extLst>
              <a:ext uri="{FF2B5EF4-FFF2-40B4-BE49-F238E27FC236}">
                <a16:creationId xmlns:a16="http://schemas.microsoft.com/office/drawing/2014/main" id="{E01BB854-8C35-1C8E-D448-9783ABC61F97}"/>
              </a:ext>
            </a:extLst>
          </p:cNvPr>
          <p:cNvSpPr txBox="1"/>
          <p:nvPr/>
        </p:nvSpPr>
        <p:spPr>
          <a:xfrm>
            <a:off x="609600" y="1282700"/>
            <a:ext cx="10972800" cy="307777"/>
          </a:xfrm>
          <a:prstGeom prst="rect">
            <a:avLst/>
          </a:prstGeom>
          <a:noFill/>
        </p:spPr>
        <p:txBody>
          <a:bodyPr vert="horz" wrap="square" lIns="0" tIns="0" rIns="0" bIns="0" rtlCol="0">
            <a:spAutoFit/>
          </a:bodyPr>
          <a:lstStyle/>
          <a:p>
            <a:pPr marL="342900" indent="-342900">
              <a:buFont typeface="Wingdings" panose="05000000000000000000" pitchFamily="2" charset="2"/>
              <a:buChar char="p"/>
            </a:pPr>
            <a:r>
              <a:rPr lang="en-US" altLang="zh-CN" sz="2000" b="1" dirty="0">
                <a:solidFill>
                  <a:srgbClr val="D97821"/>
                </a:solidFill>
                <a:latin typeface="Candara" panose="020E0502030303020204" pitchFamily="34" charset="0"/>
              </a:rPr>
              <a:t>Error-Bounded Extension:</a:t>
            </a:r>
            <a:r>
              <a:rPr lang="en-US" altLang="zh-CN" sz="2000" b="1" dirty="0">
                <a:solidFill>
                  <a:srgbClr val="174A79"/>
                </a:solidFill>
                <a:latin typeface="Candara" panose="020E0502030303020204" pitchFamily="34" charset="0"/>
              </a:rPr>
              <a:t> E-</a:t>
            </a:r>
            <a:r>
              <a:rPr lang="en-US" altLang="zh-CN" sz="2000" b="1" dirty="0" err="1">
                <a:solidFill>
                  <a:srgbClr val="174A79"/>
                </a:solidFill>
                <a:latin typeface="Candara" panose="020E0502030303020204" pitchFamily="34" charset="0"/>
              </a:rPr>
              <a:t>DeXOR</a:t>
            </a:r>
            <a:r>
              <a:rPr lang="en-US" altLang="zh-CN" sz="2000" b="1" dirty="0">
                <a:solidFill>
                  <a:srgbClr val="174A79"/>
                </a:solidFill>
                <a:latin typeface="Candara" panose="020E0502030303020204" pitchFamily="34" charset="0"/>
              </a:rPr>
              <a:t> extends Decimal XOR to error-bounded compression.</a:t>
            </a:r>
            <a:endParaRPr lang="zh-CN" altLang="en-US" sz="2000" b="1" dirty="0">
              <a:solidFill>
                <a:srgbClr val="174A79"/>
              </a:solidFill>
              <a:latin typeface="Candara" panose="020E0502030303020204" pitchFamily="34" charset="0"/>
            </a:endParaRPr>
          </a:p>
        </p:txBody>
      </p:sp>
      <p:sp>
        <p:nvSpPr>
          <p:cNvPr id="5" name="文本框 4">
            <a:extLst>
              <a:ext uri="{FF2B5EF4-FFF2-40B4-BE49-F238E27FC236}">
                <a16:creationId xmlns:a16="http://schemas.microsoft.com/office/drawing/2014/main" id="{5AEA1857-BAC5-6F96-2912-56EE652F6851}"/>
              </a:ext>
            </a:extLst>
          </p:cNvPr>
          <p:cNvSpPr txBox="1"/>
          <p:nvPr/>
        </p:nvSpPr>
        <p:spPr>
          <a:xfrm>
            <a:off x="889000" y="1841500"/>
            <a:ext cx="10668000" cy="276999"/>
          </a:xfrm>
          <a:prstGeom prst="rect">
            <a:avLst/>
          </a:prstGeom>
          <a:noFill/>
        </p:spPr>
        <p:txBody>
          <a:bodyPr vert="horz" wrap="square" lIns="0" tIns="0" rIns="0" bIns="0" rtlCol="0">
            <a:spAutoFit/>
          </a:bodyPr>
          <a:lstStyle/>
          <a:p>
            <a:r>
              <a:rPr lang="en-US" altLang="zh-CN" b="1" dirty="0">
                <a:solidFill>
                  <a:srgbClr val="174A79"/>
                </a:solidFill>
                <a:latin typeface="Candara" panose="020E0502030303020204" pitchFamily="34" charset="0"/>
              </a:rPr>
              <a:t>◆  It anchors metadata at the error bound, removes low-order digits, and allows optional prediction.</a:t>
            </a:r>
            <a:endParaRPr lang="zh-CN" altLang="en-US" b="1" dirty="0">
              <a:solidFill>
                <a:srgbClr val="174A79"/>
              </a:solidFill>
              <a:latin typeface="Candara" panose="020E0502030303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86BE2-093C-08C8-E4AE-5893F3B883A9}"/>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83E013DC-9F88-5FF9-C2C1-34C4EF1D7E27}"/>
              </a:ext>
            </a:extLst>
          </p:cNvPr>
          <p:cNvSpPr>
            <a:spLocks noGrp="1"/>
          </p:cNvSpPr>
          <p:nvPr>
            <p:ph type="sldNum" idx="12"/>
          </p:nvPr>
        </p:nvSpPr>
        <p:spPr/>
        <p:txBody>
          <a:bodyPr/>
          <a:lstStyle/>
          <a:p>
            <a:pPr>
              <a:buNone/>
              <a:defRPr>
                <a:latin typeface="Candara" panose="020E0502030303020204"/>
                <a:ea typeface="Candara" panose="020E0502030303020204"/>
                <a:cs typeface="Candara" panose="020E0502030303020204"/>
              </a:defRPr>
            </a:pPr>
            <a:r>
              <a:rPr lang="en-US" altLang="zh-CN">
                <a:latin typeface="Candara" panose="020E0502030303020204"/>
                <a:ea typeface="Candara" panose="020E0502030303020204"/>
                <a:cs typeface="Candara" panose="020E0502030303020204"/>
              </a:rPr>
              <a:t>24</a:t>
            </a:r>
            <a:endParaRPr>
              <a:latin typeface="Candara" panose="020E0502030303020204"/>
              <a:ea typeface="Candara" panose="020E0502030303020204"/>
              <a:cs typeface="Candara" panose="020E0502030303020204"/>
            </a:endParaRPr>
          </a:p>
        </p:txBody>
      </p:sp>
      <p:pic>
        <p:nvPicPr>
          <p:cNvPr id="14" name="图片 12">
            <a:extLst>
              <a:ext uri="{FF2B5EF4-FFF2-40B4-BE49-F238E27FC236}">
                <a16:creationId xmlns:a16="http://schemas.microsoft.com/office/drawing/2014/main" id="{962C7AF0-3A42-2121-A57F-93469F68570B}"/>
              </a:ext>
            </a:extLst>
          </p:cNvPr>
          <p:cNvPicPr>
            <a:picLocks noChangeAspect="1"/>
          </p:cNvPicPr>
          <p:nvPr/>
        </p:nvPicPr>
        <p:blipFill>
          <a:blip r:embed="rId3"/>
          <a:srcRect/>
          <a:stretch>
            <a:fillRect/>
          </a:stretch>
        </p:blipFill>
        <p:spPr>
          <a:xfrm>
            <a:off x="0" y="0"/>
            <a:ext cx="12192000" cy="1143000"/>
          </a:xfrm>
          <a:prstGeom prst="rect">
            <a:avLst/>
          </a:prstGeom>
        </p:spPr>
      </p:pic>
      <p:sp>
        <p:nvSpPr>
          <p:cNvPr id="9" name="矩形 8">
            <a:extLst>
              <a:ext uri="{FF2B5EF4-FFF2-40B4-BE49-F238E27FC236}">
                <a16:creationId xmlns:a16="http://schemas.microsoft.com/office/drawing/2014/main" id="{CC2DED15-B978-AA16-3A17-EE9B0DE061BD}"/>
              </a:ext>
            </a:extLst>
          </p:cNvPr>
          <p:cNvSpPr>
            <a:spLocks noGrp="1"/>
          </p:cNvSpPr>
          <p:nvPr/>
        </p:nvSpPr>
        <p:spPr>
          <a:xfrm>
            <a:off x="590550" y="114300"/>
            <a:ext cx="11010900" cy="914400"/>
          </a:xfrm>
          <a:prstGeom prst="rect">
            <a:avLst/>
          </a:prstGeom>
          <a:noFill/>
          <a:ln w="0">
            <a:noFill/>
            <a:prstDash val="solid"/>
          </a:ln>
        </p:spPr>
        <p:txBody>
          <a:bodyPr lIns="0" tIns="0" rIns="0" bIns="0" anchor="ctr">
            <a:normAutofit/>
          </a:bodyPr>
          <a:lstStyle/>
          <a:p>
            <a:pPr>
              <a:buNone/>
              <a:defRPr sz="2700" b="1">
                <a:solidFill>
                  <a:srgbClr val="000000"/>
                </a:solidFill>
                <a:latin typeface="Candara" panose="020E0502030303020204"/>
                <a:ea typeface="Candara" panose="020E0502030303020204"/>
                <a:cs typeface="Candara" panose="020E0502030303020204"/>
              </a:defRPr>
            </a:pPr>
            <a:r>
              <a:rPr lang="en-US" sz="3200" b="1" dirty="0">
                <a:solidFill>
                  <a:srgbClr val="174A79"/>
                </a:solidFill>
                <a:latin typeface="Candara" panose="020E0502030303020204" pitchFamily="34" charset="0"/>
                <a:ea typeface="Candara" panose="020E0502030303020204"/>
                <a:cs typeface="Candara" panose="020E0502030303020204"/>
              </a:rPr>
              <a:t>Summary</a:t>
            </a:r>
            <a:endParaRPr sz="3200" b="1" dirty="0">
              <a:solidFill>
                <a:srgbClr val="174A79"/>
              </a:solidFill>
              <a:latin typeface="Candara" panose="020E0502030303020204" pitchFamily="34" charset="0"/>
            </a:endParaRPr>
          </a:p>
        </p:txBody>
      </p:sp>
      <p:sp>
        <p:nvSpPr>
          <p:cNvPr id="16" name="Narrative Lead">
            <a:extLst>
              <a:ext uri="{FF2B5EF4-FFF2-40B4-BE49-F238E27FC236}">
                <a16:creationId xmlns:a16="http://schemas.microsoft.com/office/drawing/2014/main" id="{2DFEDD9F-E43A-50BF-E9BA-69BA2F3A43F4}"/>
              </a:ext>
            </a:extLst>
          </p:cNvPr>
          <p:cNvSpPr txBox="1"/>
          <p:nvPr/>
        </p:nvSpPr>
        <p:spPr>
          <a:xfrm>
            <a:off x="590550" y="1301735"/>
            <a:ext cx="10972800" cy="307777"/>
          </a:xfrm>
          <a:prstGeom prst="rect">
            <a:avLst/>
          </a:prstGeom>
          <a:noFill/>
        </p:spPr>
        <p:txBody>
          <a:bodyPr vert="horz" lIns="0" tIns="0" rIns="0" bIns="0" rtlCol="0">
            <a:spAutoFit/>
          </a:bodyPr>
          <a:lstStyle/>
          <a:p>
            <a:pPr marL="285750" indent="-285750">
              <a:spcAft>
                <a:spcPts val="500"/>
              </a:spcAft>
              <a:buFont typeface="Wingdings" panose="05000000000000000000" pitchFamily="2" charset="2"/>
              <a:buChar char="p"/>
            </a:pPr>
            <a:r>
              <a:rPr lang="en-US" altLang="zh-CN" sz="2000" b="1" dirty="0">
                <a:solidFill>
                  <a:srgbClr val="C4530D"/>
                </a:solidFill>
                <a:latin typeface="Candara" panose="020E0502030303020204" pitchFamily="34" charset="0"/>
              </a:rPr>
              <a:t>Problem:</a:t>
            </a:r>
            <a:r>
              <a:rPr lang="en-US" altLang="zh-CN" sz="2000" b="1" dirty="0">
                <a:solidFill>
                  <a:srgbClr val="174A79"/>
                </a:solidFill>
                <a:latin typeface="Candara" panose="020E0502030303020204" pitchFamily="34" charset="0"/>
              </a:rPr>
              <a:t> Streaming Lossless Compression.</a:t>
            </a:r>
          </a:p>
        </p:txBody>
      </p:sp>
      <p:sp>
        <p:nvSpPr>
          <p:cNvPr id="25" name="Narrative Lead">
            <a:extLst>
              <a:ext uri="{FF2B5EF4-FFF2-40B4-BE49-F238E27FC236}">
                <a16:creationId xmlns:a16="http://schemas.microsoft.com/office/drawing/2014/main" id="{3713620C-6607-AACB-B6FD-3987AC832E72}"/>
              </a:ext>
            </a:extLst>
          </p:cNvPr>
          <p:cNvSpPr txBox="1"/>
          <p:nvPr/>
        </p:nvSpPr>
        <p:spPr>
          <a:xfrm>
            <a:off x="878143" y="1736716"/>
            <a:ext cx="11131959" cy="276999"/>
          </a:xfrm>
          <a:prstGeom prst="rect">
            <a:avLst/>
          </a:prstGeom>
          <a:noFill/>
        </p:spPr>
        <p:txBody>
          <a:bodyPr vert="horz" wrap="square" lIns="0" tIns="0" rIns="0" bIns="0" rtlCol="0">
            <a:spAutoFit/>
          </a:bodyPr>
          <a:lstStyle/>
          <a:p>
            <a:pPr marL="342900" indent="-342900">
              <a:spcAft>
                <a:spcPts val="500"/>
              </a:spcAft>
              <a:buFont typeface="Wingdings" panose="05000000000000000000" pitchFamily="2" charset="2"/>
              <a:buChar char="u"/>
            </a:pPr>
            <a:r>
              <a:rPr lang="en-US" altLang="zh-CN" b="1" dirty="0">
                <a:solidFill>
                  <a:srgbClr val="174A79"/>
                </a:solidFill>
                <a:latin typeface="Candara" panose="020E0502030303020204" pitchFamily="34" charset="0"/>
              </a:rPr>
              <a:t>Existing converters exploit smoothness or representation redundancy, but conversion disrupts their joint use.</a:t>
            </a:r>
          </a:p>
        </p:txBody>
      </p:sp>
      <p:sp>
        <p:nvSpPr>
          <p:cNvPr id="26" name="Narrative Lead">
            <a:extLst>
              <a:ext uri="{FF2B5EF4-FFF2-40B4-BE49-F238E27FC236}">
                <a16:creationId xmlns:a16="http://schemas.microsoft.com/office/drawing/2014/main" id="{1D4A1E2A-6E47-4520-3CB3-87CB3398E2DA}"/>
              </a:ext>
            </a:extLst>
          </p:cNvPr>
          <p:cNvSpPr txBox="1"/>
          <p:nvPr/>
        </p:nvSpPr>
        <p:spPr>
          <a:xfrm>
            <a:off x="590550" y="2203289"/>
            <a:ext cx="10972800" cy="307777"/>
          </a:xfrm>
          <a:prstGeom prst="rect">
            <a:avLst/>
          </a:prstGeom>
          <a:noFill/>
        </p:spPr>
        <p:txBody>
          <a:bodyPr vert="horz" lIns="0" tIns="0" rIns="0" bIns="0" rtlCol="0">
            <a:spAutoFit/>
          </a:bodyPr>
          <a:lstStyle/>
          <a:p>
            <a:pPr marL="285750" indent="-285750">
              <a:spcAft>
                <a:spcPts val="500"/>
              </a:spcAft>
              <a:buFont typeface="Wingdings" panose="05000000000000000000" pitchFamily="2" charset="2"/>
              <a:buChar char="p"/>
            </a:pPr>
            <a:r>
              <a:rPr lang="en-US" altLang="zh-CN" sz="2000" b="1" dirty="0">
                <a:solidFill>
                  <a:srgbClr val="C4530D"/>
                </a:solidFill>
                <a:latin typeface="Candara" panose="020E0502030303020204" pitchFamily="34" charset="0"/>
              </a:rPr>
              <a:t>Key observation:</a:t>
            </a:r>
            <a:endParaRPr lang="en-US" altLang="zh-CN" sz="2000" b="1" dirty="0">
              <a:solidFill>
                <a:srgbClr val="174A79"/>
              </a:solidFill>
              <a:latin typeface="Candara" panose="020E0502030303020204" pitchFamily="34" charset="0"/>
            </a:endParaRPr>
          </a:p>
        </p:txBody>
      </p:sp>
      <p:sp>
        <p:nvSpPr>
          <p:cNvPr id="27" name="Narrative Lead">
            <a:extLst>
              <a:ext uri="{FF2B5EF4-FFF2-40B4-BE49-F238E27FC236}">
                <a16:creationId xmlns:a16="http://schemas.microsoft.com/office/drawing/2014/main" id="{1BAE6919-0565-C496-7944-F14B164C3106}"/>
              </a:ext>
            </a:extLst>
          </p:cNvPr>
          <p:cNvSpPr txBox="1"/>
          <p:nvPr/>
        </p:nvSpPr>
        <p:spPr>
          <a:xfrm>
            <a:off x="878143" y="2638270"/>
            <a:ext cx="11131959" cy="276999"/>
          </a:xfrm>
          <a:prstGeom prst="rect">
            <a:avLst/>
          </a:prstGeom>
          <a:noFill/>
        </p:spPr>
        <p:txBody>
          <a:bodyPr vert="horz" wrap="square" lIns="0" tIns="0" rIns="0" bIns="0" rtlCol="0">
            <a:spAutoFit/>
          </a:bodyPr>
          <a:lstStyle/>
          <a:p>
            <a:pPr marL="342900" indent="-342900">
              <a:spcAft>
                <a:spcPts val="500"/>
              </a:spcAft>
              <a:buFont typeface="Wingdings" panose="05000000000000000000" pitchFamily="2" charset="2"/>
              <a:buChar char="u"/>
            </a:pPr>
            <a:r>
              <a:rPr lang="en-US" altLang="zh-CN" b="1" dirty="0">
                <a:solidFill>
                  <a:srgbClr val="174A79"/>
                </a:solidFill>
                <a:latin typeface="Candara" panose="020E0502030303020204" pitchFamily="34" charset="0"/>
              </a:rPr>
              <a:t>Decimal coordinates preserve the shared prefix and expose a shorter decimal suffix.</a:t>
            </a:r>
          </a:p>
        </p:txBody>
      </p:sp>
      <p:sp>
        <p:nvSpPr>
          <p:cNvPr id="28" name="Narrative Lead">
            <a:extLst>
              <a:ext uri="{FF2B5EF4-FFF2-40B4-BE49-F238E27FC236}">
                <a16:creationId xmlns:a16="http://schemas.microsoft.com/office/drawing/2014/main" id="{B848D01D-821D-80B7-E9AF-8D19C8282173}"/>
              </a:ext>
            </a:extLst>
          </p:cNvPr>
          <p:cNvSpPr txBox="1"/>
          <p:nvPr/>
        </p:nvSpPr>
        <p:spPr>
          <a:xfrm>
            <a:off x="593008" y="3099003"/>
            <a:ext cx="10972800" cy="307777"/>
          </a:xfrm>
          <a:prstGeom prst="rect">
            <a:avLst/>
          </a:prstGeom>
          <a:noFill/>
        </p:spPr>
        <p:txBody>
          <a:bodyPr vert="horz" lIns="0" tIns="0" rIns="0" bIns="0" rtlCol="0">
            <a:spAutoFit/>
          </a:bodyPr>
          <a:lstStyle/>
          <a:p>
            <a:pPr marL="285750" indent="-285750">
              <a:spcAft>
                <a:spcPts val="500"/>
              </a:spcAft>
              <a:buFont typeface="Wingdings" panose="05000000000000000000" pitchFamily="2" charset="2"/>
              <a:buChar char="p"/>
            </a:pPr>
            <a:r>
              <a:rPr lang="en-US" altLang="zh-CN" sz="2000" b="1" dirty="0">
                <a:solidFill>
                  <a:srgbClr val="C4530D"/>
                </a:solidFill>
                <a:latin typeface="Candara" panose="020E0502030303020204" pitchFamily="34" charset="0"/>
              </a:rPr>
              <a:t>Challenges:</a:t>
            </a:r>
            <a:endParaRPr lang="en-US" altLang="zh-CN" sz="2000" b="1" dirty="0">
              <a:solidFill>
                <a:srgbClr val="174A79"/>
              </a:solidFill>
              <a:latin typeface="Candara" panose="020E0502030303020204" pitchFamily="34" charset="0"/>
            </a:endParaRPr>
          </a:p>
        </p:txBody>
      </p:sp>
      <p:sp>
        <p:nvSpPr>
          <p:cNvPr id="30" name="Narrative Lead">
            <a:extLst>
              <a:ext uri="{FF2B5EF4-FFF2-40B4-BE49-F238E27FC236}">
                <a16:creationId xmlns:a16="http://schemas.microsoft.com/office/drawing/2014/main" id="{373875BD-BC01-CC8C-5766-3258C12534B8}"/>
              </a:ext>
            </a:extLst>
          </p:cNvPr>
          <p:cNvSpPr txBox="1"/>
          <p:nvPr/>
        </p:nvSpPr>
        <p:spPr>
          <a:xfrm>
            <a:off x="878143" y="3529918"/>
            <a:ext cx="10972800" cy="276999"/>
          </a:xfrm>
          <a:prstGeom prst="rect">
            <a:avLst/>
          </a:prstGeom>
          <a:noFill/>
        </p:spPr>
        <p:txBody>
          <a:bodyPr vert="horz" lIns="0" tIns="0" rIns="0" bIns="0" rtlCol="0">
            <a:spAutoFit/>
          </a:bodyPr>
          <a:lstStyle/>
          <a:p>
            <a:pPr marL="342900" indent="-342900">
              <a:spcAft>
                <a:spcPts val="500"/>
              </a:spcAft>
              <a:buFont typeface="Wingdings" panose="05000000000000000000" pitchFamily="2" charset="2"/>
              <a:buChar char="u"/>
            </a:pPr>
            <a:r>
              <a:rPr lang="en-US" altLang="zh-CN" b="1" dirty="0">
                <a:solidFill>
                  <a:srgbClr val="C4530D"/>
                </a:solidFill>
                <a:latin typeface="Candara" panose="020E0502030303020204" pitchFamily="34" charset="0"/>
              </a:rPr>
              <a:t>C1: </a:t>
            </a:r>
            <a:r>
              <a:rPr lang="en-US" altLang="zh-CN" b="1" dirty="0">
                <a:solidFill>
                  <a:srgbClr val="174A79"/>
                </a:solidFill>
                <a:latin typeface="Candara" panose="020E0502030303020204" pitchFamily="34" charset="0"/>
              </a:rPr>
              <a:t>exact reconstruction under binary-decimal conversion</a:t>
            </a:r>
          </a:p>
        </p:txBody>
      </p:sp>
      <p:sp>
        <p:nvSpPr>
          <p:cNvPr id="31" name="Narrative Lead">
            <a:extLst>
              <a:ext uri="{FF2B5EF4-FFF2-40B4-BE49-F238E27FC236}">
                <a16:creationId xmlns:a16="http://schemas.microsoft.com/office/drawing/2014/main" id="{BD5949EC-7D42-5BFC-FCA5-72DDE9CD43FE}"/>
              </a:ext>
            </a:extLst>
          </p:cNvPr>
          <p:cNvSpPr txBox="1"/>
          <p:nvPr/>
        </p:nvSpPr>
        <p:spPr>
          <a:xfrm>
            <a:off x="878143" y="3844265"/>
            <a:ext cx="10972800" cy="276999"/>
          </a:xfrm>
          <a:prstGeom prst="rect">
            <a:avLst/>
          </a:prstGeom>
          <a:noFill/>
        </p:spPr>
        <p:txBody>
          <a:bodyPr vert="horz" lIns="0" tIns="0" rIns="0" bIns="0" rtlCol="0">
            <a:spAutoFit/>
          </a:bodyPr>
          <a:lstStyle/>
          <a:p>
            <a:pPr marL="342900" indent="-342900">
              <a:spcAft>
                <a:spcPts val="500"/>
              </a:spcAft>
              <a:buFont typeface="Wingdings" panose="05000000000000000000" pitchFamily="2" charset="2"/>
              <a:buChar char="u"/>
            </a:pPr>
            <a:r>
              <a:rPr lang="en-US" altLang="zh-CN" b="1">
                <a:solidFill>
                  <a:srgbClr val="D97821"/>
                </a:solidFill>
                <a:latin typeface="Candara" panose="020E0502030303020204" pitchFamily="34" charset="0"/>
              </a:rPr>
              <a:t>C2:</a:t>
            </a:r>
            <a:r>
              <a:rPr lang="en-US" altLang="zh-CN" b="1">
                <a:solidFill>
                  <a:srgbClr val="174A79"/>
                </a:solidFill>
                <a:latin typeface="Candara" panose="020E0502030303020204" pitchFamily="34" charset="0"/>
              </a:rPr>
              <a:t> computational and metadata overhead in prefix and suffix processing</a:t>
            </a:r>
            <a:endParaRPr lang="en-US" altLang="zh-CN" b="1" dirty="0">
              <a:solidFill>
                <a:srgbClr val="174A79"/>
              </a:solidFill>
              <a:latin typeface="Candara" panose="020E0502030303020204" pitchFamily="34" charset="0"/>
            </a:endParaRPr>
          </a:p>
        </p:txBody>
      </p:sp>
      <p:sp>
        <p:nvSpPr>
          <p:cNvPr id="32" name="Narrative Lead">
            <a:extLst>
              <a:ext uri="{FF2B5EF4-FFF2-40B4-BE49-F238E27FC236}">
                <a16:creationId xmlns:a16="http://schemas.microsoft.com/office/drawing/2014/main" id="{F7526C9A-450F-A69A-1B8B-91A72279EDD0}"/>
              </a:ext>
            </a:extLst>
          </p:cNvPr>
          <p:cNvSpPr txBox="1"/>
          <p:nvPr/>
        </p:nvSpPr>
        <p:spPr>
          <a:xfrm>
            <a:off x="878143" y="4158612"/>
            <a:ext cx="10972800" cy="276999"/>
          </a:xfrm>
          <a:prstGeom prst="rect">
            <a:avLst/>
          </a:prstGeom>
          <a:noFill/>
        </p:spPr>
        <p:txBody>
          <a:bodyPr vert="horz" lIns="0" tIns="0" rIns="0" bIns="0" rtlCol="0">
            <a:spAutoFit/>
          </a:bodyPr>
          <a:lstStyle/>
          <a:p>
            <a:pPr marL="342900" indent="-342900">
              <a:spcAft>
                <a:spcPts val="500"/>
              </a:spcAft>
              <a:buFont typeface="Wingdings" panose="05000000000000000000" pitchFamily="2" charset="2"/>
              <a:buChar char="u"/>
            </a:pPr>
            <a:r>
              <a:rPr lang="en-US" altLang="zh-CN" b="1" dirty="0">
                <a:solidFill>
                  <a:srgbClr val="C4530D"/>
                </a:solidFill>
                <a:latin typeface="Candara" panose="020E0502030303020204" pitchFamily="34" charset="0"/>
              </a:rPr>
              <a:t>C3: </a:t>
            </a:r>
            <a:r>
              <a:rPr lang="en-US" altLang="zh-CN" b="1" dirty="0">
                <a:solidFill>
                  <a:srgbClr val="174A79"/>
                </a:solidFill>
                <a:latin typeface="Candara" panose="020E0502030303020204" pitchFamily="34" charset="0"/>
              </a:rPr>
              <a:t>robustness when high-precision values provide little compressible redundancy</a:t>
            </a:r>
          </a:p>
        </p:txBody>
      </p:sp>
      <p:sp>
        <p:nvSpPr>
          <p:cNvPr id="33" name="Narrative Lead">
            <a:extLst>
              <a:ext uri="{FF2B5EF4-FFF2-40B4-BE49-F238E27FC236}">
                <a16:creationId xmlns:a16="http://schemas.microsoft.com/office/drawing/2014/main" id="{99C8CE61-0A23-DD4F-4662-5AC7E5FB7824}"/>
              </a:ext>
            </a:extLst>
          </p:cNvPr>
          <p:cNvSpPr txBox="1"/>
          <p:nvPr/>
        </p:nvSpPr>
        <p:spPr>
          <a:xfrm>
            <a:off x="590550" y="4564031"/>
            <a:ext cx="10972800" cy="307777"/>
          </a:xfrm>
          <a:prstGeom prst="rect">
            <a:avLst/>
          </a:prstGeom>
          <a:noFill/>
        </p:spPr>
        <p:txBody>
          <a:bodyPr vert="horz" lIns="0" tIns="0" rIns="0" bIns="0" rtlCol="0">
            <a:spAutoFit/>
          </a:bodyPr>
          <a:lstStyle/>
          <a:p>
            <a:pPr marL="285750" indent="-285750">
              <a:spcAft>
                <a:spcPts val="500"/>
              </a:spcAft>
              <a:buFont typeface="Wingdings" panose="05000000000000000000" pitchFamily="2" charset="2"/>
              <a:buChar char="p"/>
            </a:pPr>
            <a:r>
              <a:rPr lang="en-US" altLang="zh-CN" sz="2000" b="1" dirty="0" err="1">
                <a:solidFill>
                  <a:srgbClr val="C4530D"/>
                </a:solidFill>
                <a:latin typeface="Candara" panose="020E0502030303020204" pitchFamily="34" charset="0"/>
              </a:rPr>
              <a:t>DeXOR</a:t>
            </a:r>
            <a:r>
              <a:rPr lang="en-US" altLang="zh-CN" sz="2000" b="1" dirty="0">
                <a:solidFill>
                  <a:srgbClr val="C4530D"/>
                </a:solidFill>
                <a:latin typeface="Candara" panose="020E0502030303020204" pitchFamily="34" charset="0"/>
              </a:rPr>
              <a:t>:</a:t>
            </a:r>
            <a:endParaRPr lang="en-US" altLang="zh-CN" sz="2000" b="1" dirty="0">
              <a:solidFill>
                <a:srgbClr val="174A79"/>
              </a:solidFill>
              <a:latin typeface="Candara" panose="020E0502030303020204" pitchFamily="34" charset="0"/>
            </a:endParaRPr>
          </a:p>
        </p:txBody>
      </p:sp>
      <p:sp>
        <p:nvSpPr>
          <p:cNvPr id="35" name="Narrative Lead">
            <a:extLst>
              <a:ext uri="{FF2B5EF4-FFF2-40B4-BE49-F238E27FC236}">
                <a16:creationId xmlns:a16="http://schemas.microsoft.com/office/drawing/2014/main" id="{3A237F61-B40D-7246-4678-80B66BC0AFF1}"/>
              </a:ext>
            </a:extLst>
          </p:cNvPr>
          <p:cNvSpPr txBox="1"/>
          <p:nvPr/>
        </p:nvSpPr>
        <p:spPr>
          <a:xfrm>
            <a:off x="873227" y="5005586"/>
            <a:ext cx="10972800" cy="276999"/>
          </a:xfrm>
          <a:prstGeom prst="rect">
            <a:avLst/>
          </a:prstGeom>
          <a:noFill/>
        </p:spPr>
        <p:txBody>
          <a:bodyPr vert="horz" lIns="0" tIns="0" rIns="0" bIns="0" rtlCol="0">
            <a:spAutoFit/>
          </a:bodyPr>
          <a:lstStyle/>
          <a:p>
            <a:pPr marL="342900" indent="-342900">
              <a:spcAft>
                <a:spcPts val="500"/>
              </a:spcAft>
              <a:buFont typeface="Wingdings" panose="05000000000000000000" pitchFamily="2" charset="2"/>
              <a:buChar char="u"/>
            </a:pPr>
            <a:r>
              <a:rPr lang="en-US" altLang="zh-CN" b="1">
                <a:solidFill>
                  <a:srgbClr val="D97821"/>
                </a:solidFill>
                <a:latin typeface="Candara" panose="020E0502030303020204" pitchFamily="34" charset="0"/>
              </a:rPr>
              <a:t>C1:</a:t>
            </a:r>
            <a:r>
              <a:rPr lang="en-US" altLang="zh-CN" b="1">
                <a:solidFill>
                  <a:srgbClr val="174A79"/>
                </a:solidFill>
                <a:latin typeface="Candara" panose="020E0502030303020204" pitchFamily="34" charset="0"/>
              </a:rPr>
              <a:t> scaled truncation with error-tolerant rounding enables exact reconstruction</a:t>
            </a:r>
            <a:endParaRPr lang="en-US" altLang="zh-CN" b="1" dirty="0">
              <a:solidFill>
                <a:srgbClr val="174A79"/>
              </a:solidFill>
              <a:latin typeface="Candara" panose="020E0502030303020204" pitchFamily="34" charset="0"/>
            </a:endParaRPr>
          </a:p>
        </p:txBody>
      </p:sp>
      <p:sp>
        <p:nvSpPr>
          <p:cNvPr id="36" name="Narrative Lead">
            <a:extLst>
              <a:ext uri="{FF2B5EF4-FFF2-40B4-BE49-F238E27FC236}">
                <a16:creationId xmlns:a16="http://schemas.microsoft.com/office/drawing/2014/main" id="{22DA668D-0B27-6D3B-8D31-BE808BBFC7C8}"/>
              </a:ext>
            </a:extLst>
          </p:cNvPr>
          <p:cNvSpPr txBox="1"/>
          <p:nvPr/>
        </p:nvSpPr>
        <p:spPr>
          <a:xfrm>
            <a:off x="873227" y="5319933"/>
            <a:ext cx="10972800" cy="276999"/>
          </a:xfrm>
          <a:prstGeom prst="rect">
            <a:avLst/>
          </a:prstGeom>
          <a:noFill/>
        </p:spPr>
        <p:txBody>
          <a:bodyPr vert="horz" lIns="0" tIns="0" rIns="0" bIns="0" rtlCol="0">
            <a:spAutoFit/>
          </a:bodyPr>
          <a:lstStyle/>
          <a:p>
            <a:pPr marL="342900" indent="-342900">
              <a:spcAft>
                <a:spcPts val="500"/>
              </a:spcAft>
              <a:buFont typeface="Wingdings" panose="05000000000000000000" pitchFamily="2" charset="2"/>
              <a:buChar char="u"/>
            </a:pPr>
            <a:r>
              <a:rPr lang="en-US" altLang="zh-CN" b="1">
                <a:solidFill>
                  <a:srgbClr val="D97821"/>
                </a:solidFill>
                <a:latin typeface="Candara" panose="020E0502030303020204" pitchFamily="34" charset="0"/>
              </a:rPr>
              <a:t>C2:</a:t>
            </a:r>
            <a:r>
              <a:rPr lang="en-US" altLang="zh-CN" b="1">
                <a:solidFill>
                  <a:srgbClr val="174A79"/>
                </a:solidFill>
                <a:latin typeface="Candara" panose="020E0502030303020204" pitchFamily="34" charset="0"/>
              </a:rPr>
              <a:t> coordinate reuse and tailored suffix encoding reduce computation and metadata</a:t>
            </a:r>
            <a:endParaRPr lang="en-US" altLang="zh-CN" b="1" dirty="0">
              <a:solidFill>
                <a:srgbClr val="174A79"/>
              </a:solidFill>
              <a:latin typeface="Candara" panose="020E0502030303020204" pitchFamily="34" charset="0"/>
            </a:endParaRPr>
          </a:p>
        </p:txBody>
      </p:sp>
      <p:sp>
        <p:nvSpPr>
          <p:cNvPr id="37" name="Narrative Lead">
            <a:extLst>
              <a:ext uri="{FF2B5EF4-FFF2-40B4-BE49-F238E27FC236}">
                <a16:creationId xmlns:a16="http://schemas.microsoft.com/office/drawing/2014/main" id="{AC3A2D3F-EB75-49B1-1ECC-855F77C2EB20}"/>
              </a:ext>
            </a:extLst>
          </p:cNvPr>
          <p:cNvSpPr txBox="1"/>
          <p:nvPr/>
        </p:nvSpPr>
        <p:spPr>
          <a:xfrm>
            <a:off x="873227" y="5634280"/>
            <a:ext cx="10972800" cy="276999"/>
          </a:xfrm>
          <a:prstGeom prst="rect">
            <a:avLst/>
          </a:prstGeom>
          <a:noFill/>
        </p:spPr>
        <p:txBody>
          <a:bodyPr vert="horz" lIns="0" tIns="0" rIns="0" bIns="0" rtlCol="0">
            <a:spAutoFit/>
          </a:bodyPr>
          <a:lstStyle/>
          <a:p>
            <a:pPr marL="342900" indent="-342900">
              <a:spcAft>
                <a:spcPts val="500"/>
              </a:spcAft>
              <a:buFont typeface="Wingdings" panose="05000000000000000000" pitchFamily="2" charset="2"/>
              <a:buChar char="u"/>
            </a:pPr>
            <a:r>
              <a:rPr lang="en-US" altLang="zh-CN" b="1">
                <a:solidFill>
                  <a:srgbClr val="D97821"/>
                </a:solidFill>
                <a:latin typeface="Candara" panose="020E0502030303020204" pitchFamily="34" charset="0"/>
              </a:rPr>
              <a:t>C3:</a:t>
            </a:r>
            <a:r>
              <a:rPr lang="en-US" altLang="zh-CN" b="1">
                <a:solidFill>
                  <a:srgbClr val="174A79"/>
                </a:solidFill>
                <a:latin typeface="Candara" panose="020E0502030303020204" pitchFamily="34" charset="0"/>
              </a:rPr>
              <a:t> a binary Exception Handler handles high-precision and non-smooth values</a:t>
            </a:r>
            <a:endParaRPr lang="en-US" altLang="zh-CN" b="1" dirty="0">
              <a:solidFill>
                <a:srgbClr val="174A79"/>
              </a:solidFill>
              <a:latin typeface="Candara" panose="020E0502030303020204" pitchFamily="34" charset="0"/>
            </a:endParaRPr>
          </a:p>
        </p:txBody>
      </p:sp>
      <p:sp>
        <p:nvSpPr>
          <p:cNvPr id="38" name="Narrative Lead">
            <a:extLst>
              <a:ext uri="{FF2B5EF4-FFF2-40B4-BE49-F238E27FC236}">
                <a16:creationId xmlns:a16="http://schemas.microsoft.com/office/drawing/2014/main" id="{4C4D3947-0432-C4B7-F1FF-B7CD2E5B2B30}"/>
              </a:ext>
            </a:extLst>
          </p:cNvPr>
          <p:cNvSpPr txBox="1"/>
          <p:nvPr/>
        </p:nvSpPr>
        <p:spPr>
          <a:xfrm>
            <a:off x="590550" y="6020340"/>
            <a:ext cx="10972800" cy="307777"/>
          </a:xfrm>
          <a:prstGeom prst="rect">
            <a:avLst/>
          </a:prstGeom>
          <a:noFill/>
        </p:spPr>
        <p:txBody>
          <a:bodyPr vert="horz" lIns="0" tIns="0" rIns="0" bIns="0" rtlCol="0">
            <a:spAutoFit/>
          </a:bodyPr>
          <a:lstStyle/>
          <a:p>
            <a:pPr marL="285750" indent="-285750">
              <a:spcAft>
                <a:spcPts val="500"/>
              </a:spcAft>
              <a:buFont typeface="Wingdings" panose="05000000000000000000" pitchFamily="2" charset="2"/>
              <a:buChar char="p"/>
            </a:pPr>
            <a:r>
              <a:rPr lang="en-US" altLang="zh-CN" sz="2000" b="1" dirty="0">
                <a:solidFill>
                  <a:srgbClr val="C4530D"/>
                </a:solidFill>
                <a:latin typeface="Candara" panose="020E0502030303020204" pitchFamily="34" charset="0"/>
              </a:rPr>
              <a:t>Experimental Result:</a:t>
            </a:r>
          </a:p>
        </p:txBody>
      </p:sp>
      <p:sp>
        <p:nvSpPr>
          <p:cNvPr id="39" name="Narrative Lead">
            <a:extLst>
              <a:ext uri="{FF2B5EF4-FFF2-40B4-BE49-F238E27FC236}">
                <a16:creationId xmlns:a16="http://schemas.microsoft.com/office/drawing/2014/main" id="{1BED7DD5-6864-989B-7A6B-9911592E514C}"/>
              </a:ext>
            </a:extLst>
          </p:cNvPr>
          <p:cNvSpPr txBox="1"/>
          <p:nvPr/>
        </p:nvSpPr>
        <p:spPr>
          <a:xfrm>
            <a:off x="873227" y="6431117"/>
            <a:ext cx="11131959" cy="276999"/>
          </a:xfrm>
          <a:prstGeom prst="rect">
            <a:avLst/>
          </a:prstGeom>
          <a:noFill/>
        </p:spPr>
        <p:txBody>
          <a:bodyPr vert="horz" wrap="square" lIns="0" tIns="0" rIns="0" bIns="0" rtlCol="0">
            <a:spAutoFit/>
          </a:bodyPr>
          <a:lstStyle/>
          <a:p>
            <a:pPr marL="342900" indent="-342900">
              <a:spcAft>
                <a:spcPts val="500"/>
              </a:spcAft>
              <a:buFont typeface="Wingdings" panose="05000000000000000000" pitchFamily="2" charset="2"/>
              <a:buChar char="u"/>
            </a:pPr>
            <a:r>
              <a:rPr lang="en-US" altLang="zh-CN" b="1">
                <a:solidFill>
                  <a:srgbClr val="174A79"/>
                </a:solidFill>
                <a:latin typeface="Candara" panose="020E0502030303020204" pitchFamily="34" charset="0"/>
              </a:rPr>
              <a:t>DeXOR improves compression ratio by 15% and decompression speed by 20% over state-of-the-art schemes.</a:t>
            </a:r>
            <a:endParaRPr lang="en-US" altLang="zh-CN" b="1" dirty="0">
              <a:solidFill>
                <a:srgbClr val="174A79"/>
              </a:solidFill>
              <a:latin typeface="Candara" panose="020E0502030303020204" pitchFamily="34" charset="0"/>
            </a:endParaRPr>
          </a:p>
        </p:txBody>
      </p:sp>
    </p:spTree>
    <p:extLst>
      <p:ext uri="{BB962C8B-B14F-4D97-AF65-F5344CB8AC3E}">
        <p14:creationId xmlns:p14="http://schemas.microsoft.com/office/powerpoint/2010/main" val="499472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500"/>
                                        <p:tgtEl>
                                          <p:spTgt spid="2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00"/>
                                        <p:tgtEl>
                                          <p:spTgt spid="2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fade">
                                      <p:cBhvr>
                                        <p:cTn id="18" dur="500"/>
                                        <p:tgtEl>
                                          <p:spTgt spid="2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500"/>
                                        <p:tgtEl>
                                          <p:spTgt spid="2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500"/>
                                        <p:tgtEl>
                                          <p:spTgt spid="3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500"/>
                                        <p:tgtEl>
                                          <p:spTgt spid="3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500"/>
                                        <p:tgtEl>
                                          <p:spTgt spid="3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fade">
                                      <p:cBhvr>
                                        <p:cTn id="37" dur="500"/>
                                        <p:tgtEl>
                                          <p:spTgt spid="3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5"/>
                                        </p:tgtEl>
                                        <p:attrNameLst>
                                          <p:attrName>style.visibility</p:attrName>
                                        </p:attrNameLst>
                                      </p:cBhvr>
                                      <p:to>
                                        <p:strVal val="visible"/>
                                      </p:to>
                                    </p:set>
                                    <p:animEffect transition="in" filter="fade">
                                      <p:cBhvr>
                                        <p:cTn id="40" dur="500"/>
                                        <p:tgtEl>
                                          <p:spTgt spid="3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6"/>
                                        </p:tgtEl>
                                        <p:attrNameLst>
                                          <p:attrName>style.visibility</p:attrName>
                                        </p:attrNameLst>
                                      </p:cBhvr>
                                      <p:to>
                                        <p:strVal val="visible"/>
                                      </p:to>
                                    </p:set>
                                    <p:animEffect transition="in" filter="fade">
                                      <p:cBhvr>
                                        <p:cTn id="43" dur="500"/>
                                        <p:tgtEl>
                                          <p:spTgt spid="3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7"/>
                                        </p:tgtEl>
                                        <p:attrNameLst>
                                          <p:attrName>style.visibility</p:attrName>
                                        </p:attrNameLst>
                                      </p:cBhvr>
                                      <p:to>
                                        <p:strVal val="visible"/>
                                      </p:to>
                                    </p:set>
                                    <p:animEffect transition="in" filter="fade">
                                      <p:cBhvr>
                                        <p:cTn id="46" dur="500"/>
                                        <p:tgtEl>
                                          <p:spTgt spid="37"/>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38"/>
                                        </p:tgtEl>
                                        <p:attrNameLst>
                                          <p:attrName>style.visibility</p:attrName>
                                        </p:attrNameLst>
                                      </p:cBhvr>
                                      <p:to>
                                        <p:strVal val="visible"/>
                                      </p:to>
                                    </p:set>
                                    <p:animEffect transition="in" filter="fade">
                                      <p:cBhvr>
                                        <p:cTn id="51" dur="500"/>
                                        <p:tgtEl>
                                          <p:spTgt spid="3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9"/>
                                        </p:tgtEl>
                                        <p:attrNameLst>
                                          <p:attrName>style.visibility</p:attrName>
                                        </p:attrNameLst>
                                      </p:cBhvr>
                                      <p:to>
                                        <p:strVal val="visible"/>
                                      </p:to>
                                    </p:set>
                                    <p:animEffect transition="in" filter="fade">
                                      <p:cBhvr>
                                        <p:cTn id="54"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5" grpId="0"/>
      <p:bldP spid="26" grpId="0"/>
      <p:bldP spid="27" grpId="0"/>
      <p:bldP spid="28" grpId="0"/>
      <p:bldP spid="30" grpId="0"/>
      <p:bldP spid="31" grpId="0"/>
      <p:bldP spid="32" grpId="0"/>
      <p:bldP spid="33" grpId="0"/>
      <p:bldP spid="35" grpId="0"/>
      <p:bldP spid="36" grpId="0"/>
      <p:bldP spid="37" grpId="0"/>
      <p:bldP spid="38" grpId="0"/>
      <p:bldP spid="39"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6" name="副标题 2"/>
          <p:cNvSpPr>
            <a:spLocks noGrp="1"/>
          </p:cNvSpPr>
          <p:nvPr>
            <p:ph type="subTitle" idx="1"/>
          </p:nvPr>
        </p:nvSpPr>
        <p:spPr>
          <a:xfrm>
            <a:off x="1397000" y="2870200"/>
            <a:ext cx="9398000" cy="609600"/>
          </a:xfrm>
        </p:spPr>
        <p:txBody>
          <a:bodyPr lIns="0" tIns="0" rIns="0" bIns="0" anchor="ctr">
            <a:noAutofit/>
          </a:bodyPr>
          <a:lstStyle/>
          <a:p>
            <a:pPr>
              <a:buNone/>
              <a:defRPr>
                <a:latin typeface="Candara" panose="020E0502030303020204"/>
                <a:ea typeface="Candara" panose="020E0502030303020204"/>
                <a:cs typeface="Candara" panose="020E0502030303020204"/>
              </a:defRPr>
            </a:pPr>
            <a:r>
              <a:rPr lang="en-US" sz="1800" b="1">
                <a:solidFill>
                  <a:srgbClr val="174A79"/>
                </a:solidFill>
                <a:latin typeface="Candara" panose="020E0502030303020204" pitchFamily="34" charset="0"/>
                <a:ea typeface="Candara" panose="020E0502030303020204"/>
                <a:cs typeface="Candara" panose="020E0502030303020204"/>
              </a:rPr>
              <a:t>DeXOR: Enabling XOR in Decimal Space for Streaming Lossless Compression</a:t>
            </a:r>
          </a:p>
          <a:p>
            <a:pPr>
              <a:buNone/>
              <a:defRPr>
                <a:latin typeface="Candara" panose="020E0502030303020204"/>
                <a:ea typeface="Candara" panose="020E0502030303020204"/>
                <a:cs typeface="Candara" panose="020E0502030303020204"/>
              </a:defRPr>
            </a:pPr>
            <a:r>
              <a:rPr lang="en-US" sz="1800" b="1">
                <a:solidFill>
                  <a:srgbClr val="174A79"/>
                </a:solidFill>
                <a:latin typeface="Candara" panose="020E0502030303020204" pitchFamily="34" charset="0"/>
                <a:ea typeface="Candara" panose="020E0502030303020204"/>
                <a:cs typeface="Candara" panose="020E0502030303020204"/>
              </a:rPr>
              <a:t>Of Floating-point Data</a:t>
            </a:r>
            <a:endParaRPr sz="1800" b="1">
              <a:solidFill>
                <a:srgbClr val="174A79"/>
              </a:solidFill>
              <a:latin typeface="Candara" panose="020E0502030303020204" pitchFamily="34" charset="0"/>
              <a:ea typeface="Candara" panose="020E0502030303020204"/>
              <a:cs typeface="Candara" panose="020E0502030303020204"/>
            </a:endParaRPr>
          </a:p>
        </p:txBody>
      </p:sp>
      <p:sp>
        <p:nvSpPr>
          <p:cNvPr id="7" name="标题 1"/>
          <p:cNvSpPr>
            <a:spLocks noGrp="1"/>
          </p:cNvSpPr>
          <p:nvPr/>
        </p:nvSpPr>
        <p:spPr>
          <a:xfrm>
            <a:off x="0" y="2870200"/>
            <a:ext cx="12192000" cy="609600"/>
          </a:xfrm>
          <a:prstGeom prst="rect">
            <a:avLst/>
          </a:prstGeom>
        </p:spPr>
        <p:txBody>
          <a:bodyPr vert="horz" lIns="0" tIns="0" rIns="0" bIns="0" anchor="b">
            <a:normAutofit/>
          </a:bodyPr>
          <a:lstStyle>
            <a:lvl1pPr algn="ctr" defTabSz="914400">
              <a:lnSpc>
                <a:spcPct val="90000"/>
              </a:lnSpc>
              <a:spcBef>
                <a:spcPct val="0"/>
              </a:spcBef>
              <a:buNone/>
              <a:defRPr sz="6000" kern="1200">
                <a:solidFill>
                  <a:schemeClr val="tx1"/>
                </a:solidFill>
                <a:latin typeface="+mj-lt"/>
                <a:ea typeface="+mj-lt"/>
                <a:cs typeface="+mj-lt"/>
              </a:defRPr>
            </a:lvl1pPr>
          </a:lstStyle>
          <a:p>
            <a:endParaRPr sz="1800" b="1">
              <a:solidFill>
                <a:srgbClr val="174A79"/>
              </a:solidFill>
              <a:latin typeface="Candara" panose="020E0502030303020204" pitchFamily="34" charset="0"/>
            </a:endParaRPr>
          </a:p>
        </p:txBody>
      </p:sp>
      <p:pic>
        <p:nvPicPr>
          <p:cNvPr id="21" name="图片 11"/>
          <p:cNvPicPr>
            <a:picLocks noChangeAspect="1"/>
          </p:cNvPicPr>
          <p:nvPr/>
        </p:nvPicPr>
        <p:blipFill>
          <a:blip r:embed="rId4"/>
          <a:srcRect l="29253" r="29253"/>
          <a:stretch>
            <a:fillRect/>
          </a:stretch>
        </p:blipFill>
        <p:spPr>
          <a:xfrm>
            <a:off x="0" y="0"/>
            <a:ext cx="12192000" cy="2754630"/>
          </a:xfrm>
          <a:prstGeom prst="rect">
            <a:avLst/>
          </a:prstGeom>
        </p:spPr>
      </p:pic>
      <p:sp>
        <p:nvSpPr>
          <p:cNvPr id="9" name="矩形 8"/>
          <p:cNvSpPr>
            <a:spLocks noGrp="1"/>
          </p:cNvSpPr>
          <p:nvPr/>
        </p:nvSpPr>
        <p:spPr>
          <a:xfrm>
            <a:off x="0" y="304800"/>
            <a:ext cx="12192000" cy="1143000"/>
          </a:xfrm>
          <a:prstGeom prst="rect">
            <a:avLst/>
          </a:prstGeom>
          <a:noFill/>
          <a:ln w="0">
            <a:noFill/>
            <a:prstDash val="solid"/>
          </a:ln>
        </p:spPr>
        <p:txBody>
          <a:bodyPr lIns="0" tIns="0" rIns="0" bIns="0" anchor="ctr">
            <a:normAutofit/>
          </a:bodyPr>
          <a:lstStyle/>
          <a:p>
            <a:pPr algn="ctr">
              <a:buNone/>
              <a:defRPr sz="2700" b="1">
                <a:solidFill>
                  <a:srgbClr val="000000"/>
                </a:solidFill>
                <a:latin typeface="Candara" panose="020E0502030303020204"/>
                <a:ea typeface="Candara" panose="020E0502030303020204"/>
                <a:cs typeface="Candara" panose="020E0502030303020204"/>
              </a:defRPr>
            </a:pPr>
            <a:r>
              <a:rPr lang="en-US" sz="3000" b="1">
                <a:solidFill>
                  <a:srgbClr val="174A79"/>
                </a:solidFill>
                <a:latin typeface="Candara" panose="020E0502030303020204" pitchFamily="34" charset="0"/>
                <a:ea typeface="Candara" panose="020E0502030303020204"/>
                <a:cs typeface="Candara" panose="020E0502030303020204"/>
              </a:rPr>
              <a:t>Thanks &amp; Q&amp;A</a:t>
            </a:r>
            <a:endParaRPr sz="3000" b="1">
              <a:solidFill>
                <a:srgbClr val="174A79"/>
              </a:solidFill>
              <a:latin typeface="Candara" panose="020E0502030303020204" pitchFamily="34" charset="0"/>
            </a:endParaRPr>
          </a:p>
        </p:txBody>
      </p:sp>
      <p:pic>
        <p:nvPicPr>
          <p:cNvPr id="23" name="Picture 6"/>
          <p:cNvPicPr>
            <a:picLocks noChangeAspect="1"/>
          </p:cNvPicPr>
          <p:nvPr/>
        </p:nvPicPr>
        <p:blipFill>
          <a:blip r:embed="rId5"/>
          <a:srcRect/>
          <a:stretch>
            <a:fillRect/>
          </a:stretch>
        </p:blipFill>
        <p:spPr>
          <a:xfrm>
            <a:off x="2476500" y="4508500"/>
            <a:ext cx="2857500" cy="990600"/>
          </a:xfrm>
          <a:prstGeom prst="rect">
            <a:avLst/>
          </a:prstGeom>
        </p:spPr>
      </p:pic>
      <p:pic>
        <p:nvPicPr>
          <p:cNvPr id="24" name="图形 23"/>
          <p:cNvPicPr>
            <a:picLocks noChangeAspect="1"/>
          </p:cNvPicPr>
          <p:nvPr/>
        </p:nvPicPr>
        <p:blipFill>
          <a:blip>
            <a:extLst>
              <a:ext uri="{96DAC541-7B7A-43D3-8B79-37D633B846F1}">
                <asvg:svgBlip xmlns:asvg="http://schemas.microsoft.com/office/drawing/2016/SVG/main" r:embed="rId6"/>
              </a:ext>
            </a:extLst>
          </a:blip>
          <a:srcRect/>
          <a:stretch>
            <a:fillRect/>
          </a:stretch>
        </p:blipFill>
        <p:spPr>
          <a:xfrm>
            <a:off x="6071939" y="4508500"/>
            <a:ext cx="3668412" cy="904875"/>
          </a:xfrm>
          <a:prstGeom prst="rect">
            <a:avLst/>
          </a:prstGeom>
        </p:spPr>
      </p:pic>
      <p:sp>
        <p:nvSpPr>
          <p:cNvPr id="2" name="QA Contact Email"/>
          <p:cNvSpPr txBox="1"/>
          <p:nvPr/>
        </p:nvSpPr>
        <p:spPr>
          <a:xfrm>
            <a:off x="3124200" y="3627567"/>
            <a:ext cx="5943600" cy="215444"/>
          </a:xfrm>
          <a:prstGeom prst="rect">
            <a:avLst/>
          </a:prstGeom>
          <a:noFill/>
        </p:spPr>
        <p:txBody>
          <a:bodyPr vert="horz" lIns="0" tIns="0" rIns="0" bIns="0" rtlCol="0" anchor="ctr">
            <a:spAutoFit/>
          </a:bodyPr>
          <a:lstStyle/>
          <a:p>
            <a:pPr algn="ctr"/>
            <a:r>
              <a:rPr lang="fr-FR" altLang="zh-CN" sz="1400">
                <a:solidFill>
                  <a:srgbClr val="607488"/>
                </a:solidFill>
                <a:latin typeface="Candara" panose="020E0502030303020204" pitchFamily="34" charset="0"/>
              </a:rPr>
              <a:t>Contact Email: chaunyi.lv@zju.edu.cn</a:t>
            </a:r>
            <a:endParaRPr lang="zh-CN" altLang="en-US" sz="1400" u="sng">
              <a:solidFill>
                <a:srgbClr val="607488"/>
              </a:solidFill>
              <a:latin typeface="Candara" panose="020E0502030303020204" pitchFamily="34" charset="0"/>
            </a:endParaRPr>
          </a:p>
        </p:txBody>
      </p:sp>
      <p:sp>
        <p:nvSpPr>
          <p:cNvPr id="3" name="QA Repository"/>
          <p:cNvSpPr txBox="1"/>
          <p:nvPr/>
        </p:nvSpPr>
        <p:spPr>
          <a:xfrm>
            <a:off x="3124200" y="3970467"/>
            <a:ext cx="5943600" cy="215444"/>
          </a:xfrm>
          <a:prstGeom prst="rect">
            <a:avLst/>
          </a:prstGeom>
          <a:noFill/>
        </p:spPr>
        <p:txBody>
          <a:bodyPr vert="horz" lIns="0" tIns="0" rIns="0" bIns="0" rtlCol="0" anchor="ctr">
            <a:spAutoFit/>
          </a:bodyPr>
          <a:lstStyle/>
          <a:p>
            <a:pPr algn="ctr"/>
            <a:r>
              <a:rPr lang="en-US" altLang="zh-CN" sz="1400">
                <a:solidFill>
                  <a:srgbClr val="607488"/>
                </a:solidFill>
                <a:latin typeface="Candara" panose="020E0502030303020204" pitchFamily="34" charset="0"/>
              </a:rPr>
              <a:t>Repository: https://github.com/SuDIS-ZJU/DeXOR</a:t>
            </a:r>
            <a:endParaRPr lang="zh-CN" altLang="en-US" sz="1400" u="sng">
              <a:solidFill>
                <a:srgbClr val="607488"/>
              </a:solidFill>
              <a:latin typeface="Candara" panose="020E0502030303020204" pitchFamily="34" charset="0"/>
            </a:endParaRPr>
          </a:p>
        </p:txBody>
      </p:sp>
      <p:sp>
        <p:nvSpPr>
          <p:cNvPr id="4" name="QA Slide Number"/>
          <p:cNvSpPr txBox="1"/>
          <p:nvPr/>
        </p:nvSpPr>
        <p:spPr>
          <a:xfrm>
            <a:off x="11709400" y="6614755"/>
            <a:ext cx="304800" cy="153888"/>
          </a:xfrm>
          <a:prstGeom prst="rect">
            <a:avLst/>
          </a:prstGeom>
          <a:noFill/>
        </p:spPr>
        <p:txBody>
          <a:bodyPr vert="horz" lIns="0" tIns="0" rIns="0" bIns="0" rtlCol="0" anchor="ctr">
            <a:spAutoFit/>
          </a:bodyPr>
          <a:lstStyle/>
          <a:p>
            <a:pPr algn="ctr"/>
            <a:r>
              <a:rPr lang="en-US" altLang="zh-CN" sz="1000">
                <a:solidFill>
                  <a:srgbClr val="7F7F7F"/>
                </a:solidFill>
                <a:latin typeface="Candara" panose="020E0502030303020204" pitchFamily="34" charset="0"/>
              </a:rPr>
              <a:t>25</a:t>
            </a:r>
            <a:endParaRPr lang="zh-CN" altLang="en-US" sz="1000">
              <a:solidFill>
                <a:srgbClr val="7F7F7F"/>
              </a:solidFill>
              <a:latin typeface="Candara" panose="020E0502030303020204" pitchFamily="34" charset="0"/>
            </a:endParaRPr>
          </a:p>
        </p:txBody>
      </p:sp>
      <p:pic>
        <p:nvPicPr>
          <p:cNvPr id="8" name="图形 7">
            <a:extLst>
              <a:ext uri="{FF2B5EF4-FFF2-40B4-BE49-F238E27FC236}">
                <a16:creationId xmlns:a16="http://schemas.microsoft.com/office/drawing/2014/main" id="{BEAFC9DD-CAB3-7902-99D3-618C33B4F445}"/>
              </a:ext>
            </a:extLst>
          </p:cNvPr>
          <p:cNvPicPr>
            <a:picLocks/>
          </p:cNvPicPr>
          <p:nvPr/>
        </p:nvPicPr>
        <p:blipFill>
          <a:blip>
            <a:extLst>
              <a:ext uri="{96DAC541-7B7A-43D3-8B79-37D633B846F1}">
                <asvg:svgBlip xmlns:asvg="http://schemas.microsoft.com/office/drawing/2016/SVG/main" r:embed="rId7"/>
              </a:ext>
            </a:extLst>
          </a:blip>
          <a:stretch>
            <a:fillRect/>
          </a:stretch>
        </p:blipFill>
        <p:spPr>
          <a:xfrm>
            <a:off x="495300" y="3714750"/>
            <a:ext cx="1524000" cy="1524000"/>
          </a:xfrm>
          <a:prstGeom prst="rect">
            <a:avLst/>
          </a:prstGeom>
        </p:spPr>
      </p:pic>
      <p:pic>
        <p:nvPicPr>
          <p:cNvPr id="11" name="图形 10">
            <a:extLst>
              <a:ext uri="{FF2B5EF4-FFF2-40B4-BE49-F238E27FC236}">
                <a16:creationId xmlns:a16="http://schemas.microsoft.com/office/drawing/2014/main" id="{70F8DD6C-8B97-50CD-7842-280D55740455}"/>
              </a:ext>
            </a:extLst>
          </p:cNvPr>
          <p:cNvPicPr>
            <a:picLocks/>
          </p:cNvPicPr>
          <p:nvPr/>
        </p:nvPicPr>
        <p:blipFill>
          <a:blip>
            <a:extLst>
              <a:ext uri="{96DAC541-7B7A-43D3-8B79-37D633B846F1}">
                <asvg:svgBlip xmlns:asvg="http://schemas.microsoft.com/office/drawing/2016/SVG/main" r:embed="rId8"/>
              </a:ext>
            </a:extLst>
          </a:blip>
          <a:stretch>
            <a:fillRect/>
          </a:stretch>
        </p:blipFill>
        <p:spPr>
          <a:xfrm>
            <a:off x="10172700" y="3714750"/>
            <a:ext cx="1524000" cy="1524000"/>
          </a:xfrm>
          <a:prstGeom prst="rect">
            <a:avLst/>
          </a:prstGeom>
        </p:spPr>
      </p:pic>
      <p:sp>
        <p:nvSpPr>
          <p:cNvPr id="12" name="Poster QR label">
            <a:extLst>
              <a:ext uri="{FF2B5EF4-FFF2-40B4-BE49-F238E27FC236}">
                <a16:creationId xmlns:a16="http://schemas.microsoft.com/office/drawing/2014/main" id="{25257350-3534-6DF0-3C01-B4222E1B322E}"/>
              </a:ext>
            </a:extLst>
          </p:cNvPr>
          <p:cNvSpPr txBox="1"/>
          <p:nvPr/>
        </p:nvSpPr>
        <p:spPr>
          <a:xfrm>
            <a:off x="495300" y="5273375"/>
            <a:ext cx="1524000" cy="207749"/>
          </a:xfrm>
          <a:prstGeom prst="rect">
            <a:avLst/>
          </a:prstGeom>
          <a:noFill/>
        </p:spPr>
        <p:txBody>
          <a:bodyPr vert="horz" lIns="0" tIns="0" rIns="0" bIns="0" rtlCol="0" anchor="ctr">
            <a:spAutoFit/>
          </a:bodyPr>
          <a:lstStyle/>
          <a:p>
            <a:pPr algn="ctr"/>
            <a:r>
              <a:rPr lang="en-US" altLang="zh-CN" sz="1350" b="1">
                <a:solidFill>
                  <a:srgbClr val="1F4E79"/>
                </a:solidFill>
                <a:latin typeface="Candara" panose="020E0502030303020204" pitchFamily="34" charset="0"/>
              </a:rPr>
              <a:t>Poster</a:t>
            </a:r>
            <a:endParaRPr lang="zh-CN" altLang="en-US" sz="1350" b="1">
              <a:solidFill>
                <a:srgbClr val="1F4E79"/>
              </a:solidFill>
              <a:latin typeface="Candara" panose="020E0502030303020204" pitchFamily="34" charset="0"/>
            </a:endParaRPr>
          </a:p>
        </p:txBody>
      </p:sp>
      <p:sp>
        <p:nvSpPr>
          <p:cNvPr id="13" name="Slides QR label">
            <a:extLst>
              <a:ext uri="{FF2B5EF4-FFF2-40B4-BE49-F238E27FC236}">
                <a16:creationId xmlns:a16="http://schemas.microsoft.com/office/drawing/2014/main" id="{92872518-B2F4-216B-C90C-9684E97510FD}"/>
              </a:ext>
            </a:extLst>
          </p:cNvPr>
          <p:cNvSpPr txBox="1"/>
          <p:nvPr/>
        </p:nvSpPr>
        <p:spPr>
          <a:xfrm>
            <a:off x="10172700" y="5273375"/>
            <a:ext cx="1524000" cy="207749"/>
          </a:xfrm>
          <a:prstGeom prst="rect">
            <a:avLst/>
          </a:prstGeom>
          <a:noFill/>
        </p:spPr>
        <p:txBody>
          <a:bodyPr vert="horz" lIns="0" tIns="0" rIns="0" bIns="0" rtlCol="0" anchor="ctr">
            <a:spAutoFit/>
          </a:bodyPr>
          <a:lstStyle/>
          <a:p>
            <a:pPr algn="ctr"/>
            <a:r>
              <a:rPr lang="en-US" altLang="zh-CN" sz="1350" b="1">
                <a:solidFill>
                  <a:srgbClr val="1F4E79"/>
                </a:solidFill>
                <a:latin typeface="Candara" panose="020E0502030303020204" pitchFamily="34" charset="0"/>
              </a:rPr>
              <a:t>Slides</a:t>
            </a:r>
            <a:endParaRPr lang="zh-CN" altLang="en-US" sz="1350" b="1">
              <a:solidFill>
                <a:srgbClr val="1F4E79"/>
              </a:solidFill>
              <a:latin typeface="Candara" panose="020E0502030303020204" pitchFamily="34" charset="0"/>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129</TotalTime>
  <Words>2277</Words>
  <Application>Microsoft Office PowerPoint</Application>
  <PresentationFormat>宽屏</PresentationFormat>
  <Paragraphs>174</Paragraphs>
  <Slides>25</Slides>
  <Notes>25</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25</vt:i4>
      </vt:variant>
    </vt:vector>
  </HeadingPairs>
  <TitlesOfParts>
    <vt:vector size="33" baseType="lpstr">
      <vt:lpstr>-apple-system</vt:lpstr>
      <vt:lpstr>等线</vt:lpstr>
      <vt:lpstr>等线 Light</vt:lpstr>
      <vt:lpstr>Arial</vt:lpstr>
      <vt:lpstr>Cambria Math</vt:lpstr>
      <vt:lpstr>Candara</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川一 吕</cp:lastModifiedBy>
  <cp:revision>46</cp:revision>
  <dcterms:created xsi:type="dcterms:W3CDTF">2026-08-25T10:48:00Z</dcterms:created>
  <dcterms:modified xsi:type="dcterms:W3CDTF">2026-09-01T08:35:35Z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50F3066E8046405EA366322CABDC4ECC_12</vt:lpwstr>
  </property>
</Properties>
</file>